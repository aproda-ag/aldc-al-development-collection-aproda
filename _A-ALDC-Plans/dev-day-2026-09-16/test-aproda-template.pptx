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5.svg" ContentType="image/svg+xml"/>
  <Override PartName="/ppt/media/image17.svg" ContentType="image/svg+xml"/>
  <Override PartName="/ppt/media/image18.svg" ContentType="image/svg+xml"/>
  <Override PartName="/ppt/media/image19.svg" ContentType="image/svg+xml"/>
  <Override PartName="/ppt/media/image20.svg" ContentType="image/svg+xml"/>
  <Override PartName="/ppt/media/image21.svg" ContentType="image/svg+xml"/>
  <Override PartName="/ppt/media/image22.svg" ContentType="image/svg+xml"/>
  <Override PartName="/ppt/media/image23.svg" ContentType="image/svg+xml"/>
  <Override PartName="/ppt/media/image25.svg" ContentType="image/svg+xml"/>
  <Override PartName="/ppt/media/image26.svg" ContentType="image/svg+xml"/>
  <Override PartName="/ppt/media/image27.svg" ContentType="image/svg+xml"/>
  <Override PartName="/ppt/media/image28.svg" ContentType="image/svg+xml"/>
  <Override PartName="/ppt/media/image29.svg" ContentType="image/svg+xml"/>
  <Override PartName="/ppt/media/image30.svg" ContentType="image/svg+xml"/>
  <Override PartName="/ppt/media/image31.svg" ContentType="image/svg+xml"/>
  <Override PartName="/ppt/media/image3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5"/>
  </p:sldMasterIdLst>
  <p:notesMasterIdLst>
    <p:notesMasterId r:id="rId14"/>
  </p:notesMasterIdLst>
  <p:sldIdLst>
    <p:sldId id="256" r:id="rId12"/>
    <p:sldId id="257" r:id="rId13"/>
    <p:sldId id="258" r:id="rId11"/>
    <p:sldId id="259" r:id="rId1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C6CE8"/>
    <a:srgbClr val="5B9BD5"/>
    <a:srgbClr val="3880E0"/>
    <a:srgbClr val="3C7FE2"/>
    <a:srgbClr val="3F70F2"/>
    <a:srgbClr val="5C84EC"/>
    <a:srgbClr val="417DE4"/>
    <a:srgbClr val="FFFFFF"/>
    <a:srgbClr val="4197DB"/>
    <a:srgbClr val="3E7D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ED6BCB-EBD4-4633-9530-688FB74DBCAC}" v="4" dt="2026-03-12T07:46:41.273"/>
    <p1510:client id="{A782FB05-1755-43D4-80D4-F679F3F5093F}" v="1" dt="2026-03-12T15:26:19.3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12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3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FCEC9B-F224-F64C-92FC-7035C38D5865}" type="datetimeFigureOut">
              <a:rPr lang="de-DE" smtClean="0"/>
              <a:t>14.09.2026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25FDF5-DD4A-4F42-99FA-1C1D6036EC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95524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Test-Slide 1/4 - Pipeline-Check (Aproda-Template)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microsoft.com/office/2007/relationships/hdphoto" Target="../media/hdphoto1.wdp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image" Target="../media/image14.png"/><Relationship Id="rId11" Type="http://schemas.openxmlformats.org/officeDocument/2006/relationships/image" Target="../media/image15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7.svg"/><Relationship Id="rId4" Type="http://schemas.openxmlformats.org/officeDocument/2006/relationships/image" Target="../media/image18.svg"/><Relationship Id="rId5" Type="http://schemas.openxmlformats.org/officeDocument/2006/relationships/image" Target="../media/image19.svg"/><Relationship Id="rId6" Type="http://schemas.openxmlformats.org/officeDocument/2006/relationships/image" Target="../media/image20.svg"/><Relationship Id="rId7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svg"/><Relationship Id="rId3" Type="http://schemas.openxmlformats.org/officeDocument/2006/relationships/image" Target="../media/image22.svg"/><Relationship Id="rId4" Type="http://schemas.openxmlformats.org/officeDocument/2006/relationships/image" Target="../media/image23.svg"/><Relationship Id="rId5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24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25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26.svg"/><Relationship Id="rId4" Type="http://schemas.openxmlformats.org/officeDocument/2006/relationships/image" Target="../media/image27.svg"/><Relationship Id="rId5" Type="http://schemas.openxmlformats.org/officeDocument/2006/relationships/image" Target="../media/image28.svg"/><Relationship Id="rId6" Type="http://schemas.openxmlformats.org/officeDocument/2006/relationships/image" Target="../media/image29.svg"/><Relationship Id="rId7" Type="http://schemas.openxmlformats.org/officeDocument/2006/relationships/image" Target="../media/image30.svg"/><Relationship Id="rId8" Type="http://schemas.openxmlformats.org/officeDocument/2006/relationships/image" Target="../media/image31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sv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nhaltsplatzhalter 8" descr="Ein Bild, das Text, drinnen, Person, schließen enthält.&#10;&#10;Automatisch generierte Beschreibung">
            <a:extLst>
              <a:ext uri="{FF2B5EF4-FFF2-40B4-BE49-F238E27FC236}">
                <a16:creationId xmlns:a16="http://schemas.microsoft.com/office/drawing/2014/main" id="{95893750-5EFF-4CC0-9960-D5EB5569557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1474"/>
          <a:stretch/>
        </p:blipFill>
        <p:spPr>
          <a:xfrm>
            <a:off x="-5540" y="0"/>
            <a:ext cx="12192000" cy="6863542"/>
          </a:xfrm>
          <a:prstGeom prst="rect">
            <a:avLst/>
          </a:prstGeom>
        </p:spPr>
      </p:pic>
      <p:sp>
        <p:nvSpPr>
          <p:cNvPr id="14" name="Rechteck 13">
            <a:extLst>
              <a:ext uri="{FF2B5EF4-FFF2-40B4-BE49-F238E27FC236}">
                <a16:creationId xmlns:a16="http://schemas.microsoft.com/office/drawing/2014/main" id="{8038EB23-AEFB-47FA-A846-3538CF2C7784}"/>
              </a:ext>
            </a:extLst>
          </p:cNvPr>
          <p:cNvSpPr/>
          <p:nvPr userDrawn="1"/>
        </p:nvSpPr>
        <p:spPr>
          <a:xfrm>
            <a:off x="-15630" y="-14068"/>
            <a:ext cx="12207630" cy="6886136"/>
          </a:xfrm>
          <a:prstGeom prst="rect">
            <a:avLst/>
          </a:prstGeom>
          <a:gradFill>
            <a:gsLst>
              <a:gs pos="42000">
                <a:srgbClr val="3C6CE8">
                  <a:alpha val="85000"/>
                </a:srgbClr>
              </a:gs>
              <a:gs pos="69000">
                <a:srgbClr val="3C6CE8">
                  <a:alpha val="20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2" name="Titel 16"/>
          <p:cNvSpPr>
            <a:spLocks noGrp="1"/>
          </p:cNvSpPr>
          <p:nvPr>
            <p:ph type="title"/>
          </p:nvPr>
        </p:nvSpPr>
        <p:spPr>
          <a:xfrm>
            <a:off x="822570" y="4682326"/>
            <a:ext cx="10515600" cy="618385"/>
          </a:xfrm>
        </p:spPr>
        <p:txBody>
          <a:bodyPr>
            <a:noAutofit/>
          </a:bodyPr>
          <a:lstStyle>
            <a:lvl1pPr algn="l">
              <a:defRPr sz="3500" b="1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13" name="Inhaltsplatzhalter 18"/>
          <p:cNvSpPr>
            <a:spLocks noGrp="1"/>
          </p:cNvSpPr>
          <p:nvPr>
            <p:ph sz="quarter" idx="10"/>
          </p:nvPr>
        </p:nvSpPr>
        <p:spPr>
          <a:xfrm>
            <a:off x="843330" y="5255551"/>
            <a:ext cx="10515600" cy="618385"/>
          </a:xfrm>
        </p:spPr>
        <p:txBody>
          <a:bodyPr>
            <a:noAutofit/>
          </a:bodyPr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800" b="1" i="0">
                <a:solidFill>
                  <a:schemeClr val="bg1"/>
                </a:solidFill>
                <a:latin typeface="Source Sans Pro Semibold" charset="0"/>
                <a:ea typeface="Source Sans Pro Semibold" charset="0"/>
                <a:cs typeface="Source Sans Pro Semibold" charset="0"/>
              </a:defRPr>
            </a:lvl2pPr>
            <a:lvl3pPr marL="914400" indent="0" algn="ctr">
              <a:buNone/>
              <a:defRPr sz="2800" b="1" i="0">
                <a:solidFill>
                  <a:schemeClr val="bg1"/>
                </a:solidFill>
                <a:latin typeface="Source Sans Pro Semibold" charset="0"/>
                <a:ea typeface="Source Sans Pro Semibold" charset="0"/>
                <a:cs typeface="Source Sans Pro Semibold" charset="0"/>
              </a:defRPr>
            </a:lvl3pPr>
            <a:lvl4pPr marL="1371600" indent="0" algn="ctr">
              <a:buNone/>
              <a:defRPr sz="2800" b="1" i="0">
                <a:solidFill>
                  <a:schemeClr val="bg1"/>
                </a:solidFill>
                <a:latin typeface="Source Sans Pro Semibold" charset="0"/>
                <a:ea typeface="Source Sans Pro Semibold" charset="0"/>
                <a:cs typeface="Source Sans Pro Semibold" charset="0"/>
              </a:defRPr>
            </a:lvl4pPr>
            <a:lvl5pPr marL="1828800" indent="0" algn="ctr">
              <a:buNone/>
              <a:defRPr sz="2800" b="1" i="0">
                <a:solidFill>
                  <a:schemeClr val="bg1"/>
                </a:solidFill>
                <a:latin typeface="Source Sans Pro Semibold" charset="0"/>
                <a:ea typeface="Source Sans Pro Semibold" charset="0"/>
                <a:cs typeface="Source Sans Pro Semibold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8F10C16B-3E01-4198-9976-3AFBAB400FC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71812" y="457566"/>
            <a:ext cx="2553778" cy="648000"/>
          </a:xfrm>
          <a:prstGeom prst="rect">
            <a:avLst/>
          </a:prstGeom>
        </p:spPr>
      </p:pic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2E7B73FA-5D48-4BC0-AA4F-35518997B995}"/>
              </a:ext>
            </a:extLst>
          </p:cNvPr>
          <p:cNvCxnSpPr>
            <a:cxnSpLocks/>
          </p:cNvCxnSpPr>
          <p:nvPr userDrawn="1"/>
        </p:nvCxnSpPr>
        <p:spPr>
          <a:xfrm>
            <a:off x="922215" y="5736923"/>
            <a:ext cx="10703375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42798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9723783" cy="1325563"/>
          </a:xfrm>
        </p:spPr>
        <p:txBody>
          <a:bodyPr/>
          <a:lstStyle>
            <a:lvl1pPr>
              <a:defRPr b="1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Folientitel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200" y="2005012"/>
            <a:ext cx="10515600" cy="4351338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8" name="Inhaltsplatzhalter 8">
            <a:extLst>
              <a:ext uri="{FF2B5EF4-FFF2-40B4-BE49-F238E27FC236}">
                <a16:creationId xmlns:a16="http://schemas.microsoft.com/office/drawing/2014/main" id="{87ED5425-D056-4283-ADE8-FC31B150DE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1D07F7FA-0E22-4F8E-97D6-AE392A5040EC}"/>
              </a:ext>
            </a:extLst>
          </p:cNvPr>
          <p:cNvSpPr/>
          <p:nvPr userDrawn="1"/>
        </p:nvSpPr>
        <p:spPr>
          <a:xfrm>
            <a:off x="0" y="6680100"/>
            <a:ext cx="12192000" cy="180000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37675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fik 11" descr="Ein Bild, das Text, Person, Mann, drinnen enthält.&#10;&#10;Automatisch generierte Beschreibung">
            <a:extLst>
              <a:ext uri="{FF2B5EF4-FFF2-40B4-BE49-F238E27FC236}">
                <a16:creationId xmlns:a16="http://schemas.microsoft.com/office/drawing/2014/main" id="{84A1AEE4-AD5A-5823-B478-8F01551555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844" r="559"/>
          <a:stretch/>
        </p:blipFill>
        <p:spPr>
          <a:xfrm>
            <a:off x="-11157" y="-5504"/>
            <a:ext cx="12211683" cy="6858939"/>
          </a:xfrm>
          <a:prstGeom prst="rect">
            <a:avLst/>
          </a:prstGeom>
        </p:spPr>
      </p:pic>
      <p:pic>
        <p:nvPicPr>
          <p:cNvPr id="10" name="Grafik 9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726"/>
          <a:stretch/>
        </p:blipFill>
        <p:spPr>
          <a:xfrm>
            <a:off x="-11157" y="3306349"/>
            <a:ext cx="12201614" cy="3584961"/>
          </a:xfrm>
          <a:prstGeom prst="rect">
            <a:avLst/>
          </a:prstGeom>
        </p:spPr>
      </p:pic>
      <p:sp>
        <p:nvSpPr>
          <p:cNvPr id="8" name="Rechteck 7">
            <a:extLst>
              <a:ext uri="{FF2B5EF4-FFF2-40B4-BE49-F238E27FC236}">
                <a16:creationId xmlns:a16="http://schemas.microsoft.com/office/drawing/2014/main" id="{B3FF59AD-8A3C-4F71-B6D3-AA43A0C93D49}"/>
              </a:ext>
            </a:extLst>
          </p:cNvPr>
          <p:cNvSpPr/>
          <p:nvPr userDrawn="1"/>
        </p:nvSpPr>
        <p:spPr>
          <a:xfrm>
            <a:off x="-9476" y="-10069"/>
            <a:ext cx="12222840" cy="6857999"/>
          </a:xfrm>
          <a:prstGeom prst="rect">
            <a:avLst/>
          </a:prstGeom>
          <a:gradFill>
            <a:gsLst>
              <a:gs pos="87611">
                <a:srgbClr val="3C6CE8">
                  <a:alpha val="20000"/>
                </a:srgbClr>
              </a:gs>
              <a:gs pos="15000">
                <a:srgbClr val="3C6CE8">
                  <a:alpha val="62000"/>
                </a:srgbClr>
              </a:gs>
              <a:gs pos="53000">
                <a:srgbClr val="3C6CE8">
                  <a:alpha val="20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59040CFB-404B-4911-B13D-9F30BB19BB05}"/>
              </a:ext>
            </a:extLst>
          </p:cNvPr>
          <p:cNvSpPr/>
          <p:nvPr userDrawn="1"/>
        </p:nvSpPr>
        <p:spPr>
          <a:xfrm>
            <a:off x="1138141" y="4878908"/>
            <a:ext cx="11062386" cy="1979092"/>
          </a:xfrm>
          <a:prstGeom prst="rect">
            <a:avLst/>
          </a:prstGeom>
          <a:solidFill>
            <a:schemeClr val="bg1">
              <a:alpha val="4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5949901"/>
            <a:ext cx="10515600" cy="1500187"/>
          </a:xfrm>
        </p:spPr>
        <p:txBody>
          <a:bodyPr>
            <a:normAutofit/>
          </a:bodyPr>
          <a:lstStyle>
            <a:lvl1pPr marL="0" indent="0" algn="r"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3070176"/>
            <a:ext cx="10515600" cy="2852737"/>
          </a:xfrm>
        </p:spPr>
        <p:txBody>
          <a:bodyPr anchor="b">
            <a:normAutofit/>
          </a:bodyPr>
          <a:lstStyle>
            <a:lvl1pPr algn="r">
              <a:defRPr sz="4000" b="1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pic>
        <p:nvPicPr>
          <p:cNvPr id="6" name="Grafik 5" descr="Ein Bild, das Text, ClipArt enthält.&#10;&#10;Automatisch generierte Beschreibung">
            <a:extLst>
              <a:ext uri="{FF2B5EF4-FFF2-40B4-BE49-F238E27FC236}">
                <a16:creationId xmlns:a16="http://schemas.microsoft.com/office/drawing/2014/main" id="{4B02E24D-6C29-4242-9EA8-792E80F7DAF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738253" y="358070"/>
            <a:ext cx="1986274" cy="5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69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Ein Bild, das Person, Mann, drinnen enthält.&#10;&#10;Automatisch generierte Beschreibung">
            <a:extLst>
              <a:ext uri="{FF2B5EF4-FFF2-40B4-BE49-F238E27FC236}">
                <a16:creationId xmlns:a16="http://schemas.microsoft.com/office/drawing/2014/main" id="{13FEF0A5-7E69-4E85-99C3-12B2403FF20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8706" b="16061"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Rechteck 12">
            <a:extLst>
              <a:ext uri="{FF2B5EF4-FFF2-40B4-BE49-F238E27FC236}">
                <a16:creationId xmlns:a16="http://schemas.microsoft.com/office/drawing/2014/main" id="{59412744-06BB-40B2-A6DD-0AA045356BBA}"/>
              </a:ext>
            </a:extLst>
          </p:cNvPr>
          <p:cNvSpPr/>
          <p:nvPr userDrawn="1"/>
        </p:nvSpPr>
        <p:spPr>
          <a:xfrm>
            <a:off x="-12822" y="-6016"/>
            <a:ext cx="12204822" cy="6858000"/>
          </a:xfrm>
          <a:prstGeom prst="rect">
            <a:avLst/>
          </a:prstGeom>
          <a:gradFill>
            <a:gsLst>
              <a:gs pos="87611">
                <a:srgbClr val="3C6CE8">
                  <a:alpha val="20000"/>
                </a:srgbClr>
              </a:gs>
              <a:gs pos="15000">
                <a:srgbClr val="3C6CE8">
                  <a:alpha val="62000"/>
                </a:srgbClr>
              </a:gs>
              <a:gs pos="53000">
                <a:srgbClr val="3C6CE8">
                  <a:alpha val="20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11" name="Grafik 10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726"/>
          <a:stretch/>
        </p:blipFill>
        <p:spPr>
          <a:xfrm>
            <a:off x="-12822" y="4486275"/>
            <a:ext cx="12192000" cy="2377741"/>
          </a:xfrm>
          <a:prstGeom prst="rect">
            <a:avLst/>
          </a:prstGeom>
        </p:spPr>
      </p:pic>
      <p:sp>
        <p:nvSpPr>
          <p:cNvPr id="15" name="Rechteck 14">
            <a:extLst>
              <a:ext uri="{FF2B5EF4-FFF2-40B4-BE49-F238E27FC236}">
                <a16:creationId xmlns:a16="http://schemas.microsoft.com/office/drawing/2014/main" id="{EC0467F9-DA1D-4F3B-B84B-E82D45C09D90}"/>
              </a:ext>
            </a:extLst>
          </p:cNvPr>
          <p:cNvSpPr/>
          <p:nvPr userDrawn="1"/>
        </p:nvSpPr>
        <p:spPr>
          <a:xfrm>
            <a:off x="1138140" y="4878908"/>
            <a:ext cx="11087291" cy="1979092"/>
          </a:xfrm>
          <a:prstGeom prst="rect">
            <a:avLst/>
          </a:prstGeom>
          <a:solidFill>
            <a:schemeClr val="bg1">
              <a:alpha val="4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5949901"/>
            <a:ext cx="10515600" cy="1500187"/>
          </a:xfrm>
        </p:spPr>
        <p:txBody>
          <a:bodyPr>
            <a:normAutofit/>
          </a:bodyPr>
          <a:lstStyle>
            <a:lvl1pPr marL="0" indent="0" algn="r"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3070176"/>
            <a:ext cx="10515600" cy="2852737"/>
          </a:xfrm>
        </p:spPr>
        <p:txBody>
          <a:bodyPr anchor="b">
            <a:normAutofit/>
          </a:bodyPr>
          <a:lstStyle>
            <a:lvl1pPr algn="r">
              <a:defRPr sz="4000" b="1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pic>
        <p:nvPicPr>
          <p:cNvPr id="9" name="Grafik 8" descr="Ein Bild, das Text, ClipArt enthält.&#10;&#10;Automatisch generierte Beschreibung">
            <a:extLst>
              <a:ext uri="{FF2B5EF4-FFF2-40B4-BE49-F238E27FC236}">
                <a16:creationId xmlns:a16="http://schemas.microsoft.com/office/drawing/2014/main" id="{34B01D47-5373-BA49-AF6C-0E7CD95F31D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738253" y="358070"/>
            <a:ext cx="1986274" cy="5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120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Abschnit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 descr="Ein Bild, das Person, Mann, stehend, Anzug enthält.&#10;&#10;Automatisch generierte Beschreibung">
            <a:extLst>
              <a:ext uri="{FF2B5EF4-FFF2-40B4-BE49-F238E27FC236}">
                <a16:creationId xmlns:a16="http://schemas.microsoft.com/office/drawing/2014/main" id="{D5CA5F0F-A69F-416A-ADA1-A614367C37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5213" b="2511"/>
          <a:stretch/>
        </p:blipFill>
        <p:spPr>
          <a:xfrm>
            <a:off x="-9526" y="-1348"/>
            <a:ext cx="12198155" cy="6865364"/>
          </a:xfrm>
          <a:prstGeom prst="rect">
            <a:avLst/>
          </a:prstGeom>
        </p:spPr>
      </p:pic>
      <p:sp>
        <p:nvSpPr>
          <p:cNvPr id="13" name="Rechteck 12">
            <a:extLst>
              <a:ext uri="{FF2B5EF4-FFF2-40B4-BE49-F238E27FC236}">
                <a16:creationId xmlns:a16="http://schemas.microsoft.com/office/drawing/2014/main" id="{59412744-06BB-40B2-A6DD-0AA045356BBA}"/>
              </a:ext>
            </a:extLst>
          </p:cNvPr>
          <p:cNvSpPr/>
          <p:nvPr userDrawn="1"/>
        </p:nvSpPr>
        <p:spPr>
          <a:xfrm>
            <a:off x="-17382" y="-8712"/>
            <a:ext cx="12211878" cy="6865364"/>
          </a:xfrm>
          <a:prstGeom prst="rect">
            <a:avLst/>
          </a:prstGeom>
          <a:gradFill>
            <a:gsLst>
              <a:gs pos="87611">
                <a:srgbClr val="3C6CE8">
                  <a:alpha val="20000"/>
                </a:srgbClr>
              </a:gs>
              <a:gs pos="15000">
                <a:srgbClr val="3C6CE8">
                  <a:alpha val="62000"/>
                </a:srgbClr>
              </a:gs>
              <a:gs pos="53000">
                <a:srgbClr val="3C6CE8">
                  <a:alpha val="20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11" name="Grafik 10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726"/>
          <a:stretch/>
        </p:blipFill>
        <p:spPr>
          <a:xfrm>
            <a:off x="-3297" y="4486275"/>
            <a:ext cx="12192000" cy="2377741"/>
          </a:xfrm>
          <a:prstGeom prst="rect">
            <a:avLst/>
          </a:prstGeom>
        </p:spPr>
      </p:pic>
      <p:sp>
        <p:nvSpPr>
          <p:cNvPr id="14" name="Rechteck 13">
            <a:extLst>
              <a:ext uri="{FF2B5EF4-FFF2-40B4-BE49-F238E27FC236}">
                <a16:creationId xmlns:a16="http://schemas.microsoft.com/office/drawing/2014/main" id="{85E02D0A-1F77-4B9F-B2BE-65D29431E5D5}"/>
              </a:ext>
            </a:extLst>
          </p:cNvPr>
          <p:cNvSpPr/>
          <p:nvPr userDrawn="1"/>
        </p:nvSpPr>
        <p:spPr>
          <a:xfrm>
            <a:off x="1138141" y="4878908"/>
            <a:ext cx="11053860" cy="1979092"/>
          </a:xfrm>
          <a:prstGeom prst="rect">
            <a:avLst/>
          </a:prstGeom>
          <a:solidFill>
            <a:schemeClr val="bg1">
              <a:alpha val="4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5949901"/>
            <a:ext cx="10515600" cy="1500187"/>
          </a:xfrm>
        </p:spPr>
        <p:txBody>
          <a:bodyPr>
            <a:normAutofit/>
          </a:bodyPr>
          <a:lstStyle>
            <a:lvl1pPr marL="0" indent="0" algn="r"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3070176"/>
            <a:ext cx="10515600" cy="2852737"/>
          </a:xfrm>
        </p:spPr>
        <p:txBody>
          <a:bodyPr anchor="b">
            <a:normAutofit/>
          </a:bodyPr>
          <a:lstStyle>
            <a:lvl1pPr algn="r">
              <a:defRPr sz="4000" b="1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pic>
        <p:nvPicPr>
          <p:cNvPr id="9" name="Grafik 8" descr="Ein Bild, das Text, ClipArt enthält.&#10;&#10;Automatisch generierte Beschreibung">
            <a:extLst>
              <a:ext uri="{FF2B5EF4-FFF2-40B4-BE49-F238E27FC236}">
                <a16:creationId xmlns:a16="http://schemas.microsoft.com/office/drawing/2014/main" id="{B52924EF-33F8-C9ED-E51F-9DCB4736BF2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738253" y="358070"/>
            <a:ext cx="1986274" cy="5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382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9710530" cy="1325563"/>
          </a:xfrm>
        </p:spPr>
        <p:txBody>
          <a:bodyPr/>
          <a:lstStyle>
            <a:lvl1pPr>
              <a:defRPr b="1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+mj-lt"/>
                <a:ea typeface="Merriweather Light" charset="0"/>
                <a:cs typeface="Merriweather Light" charset="0"/>
              </a:defRPr>
            </a:lvl1pPr>
            <a:lvl2pPr>
              <a:defRPr b="0" i="0">
                <a:solidFill>
                  <a:schemeClr val="tx1"/>
                </a:solidFill>
                <a:latin typeface="+mj-lt"/>
                <a:ea typeface="Merriweather Light" charset="0"/>
                <a:cs typeface="Merriweather Light" charset="0"/>
              </a:defRPr>
            </a:lvl2pPr>
            <a:lvl3pPr>
              <a:defRPr b="0" i="0">
                <a:solidFill>
                  <a:schemeClr val="tx1"/>
                </a:solidFill>
                <a:latin typeface="+mj-lt"/>
                <a:ea typeface="Merriweather Light" charset="0"/>
                <a:cs typeface="Merriweather Light" charset="0"/>
              </a:defRPr>
            </a:lvl3pPr>
            <a:lvl4pPr>
              <a:defRPr b="0" i="0">
                <a:solidFill>
                  <a:schemeClr val="tx1"/>
                </a:solidFill>
                <a:latin typeface="+mj-lt"/>
                <a:ea typeface="Merriweather Light" charset="0"/>
                <a:cs typeface="Merriweather Light" charset="0"/>
              </a:defRPr>
            </a:lvl4pPr>
            <a:lvl5pPr>
              <a:defRPr b="0" i="0">
                <a:solidFill>
                  <a:schemeClr val="tx1"/>
                </a:solidFill>
                <a:latin typeface="+mj-lt"/>
                <a:ea typeface="Merriweather Light" charset="0"/>
                <a:cs typeface="Merriweather Light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+mj-lt"/>
                <a:ea typeface="Merriweather Light" charset="0"/>
                <a:cs typeface="Merriweather Light" charset="0"/>
              </a:defRPr>
            </a:lvl1pPr>
            <a:lvl2pPr>
              <a:defRPr b="0" i="0">
                <a:solidFill>
                  <a:schemeClr val="tx1"/>
                </a:solidFill>
                <a:latin typeface="+mj-lt"/>
                <a:ea typeface="Merriweather Light" charset="0"/>
                <a:cs typeface="Merriweather Light" charset="0"/>
              </a:defRPr>
            </a:lvl2pPr>
            <a:lvl3pPr>
              <a:defRPr b="0" i="0">
                <a:solidFill>
                  <a:schemeClr val="tx1"/>
                </a:solidFill>
                <a:latin typeface="+mj-lt"/>
                <a:ea typeface="Merriweather Light" charset="0"/>
                <a:cs typeface="Merriweather Light" charset="0"/>
              </a:defRPr>
            </a:lvl3pPr>
            <a:lvl4pPr>
              <a:defRPr b="0" i="0">
                <a:solidFill>
                  <a:schemeClr val="tx1"/>
                </a:solidFill>
                <a:latin typeface="+mj-lt"/>
                <a:ea typeface="Merriweather Light" charset="0"/>
                <a:cs typeface="Merriweather Light" charset="0"/>
              </a:defRPr>
            </a:lvl4pPr>
            <a:lvl5pPr>
              <a:defRPr b="0" i="0">
                <a:solidFill>
                  <a:schemeClr val="tx1"/>
                </a:solidFill>
                <a:latin typeface="+mj-lt"/>
                <a:ea typeface="Merriweather Light" charset="0"/>
                <a:cs typeface="Merriweather Light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7" name="Inhaltsplatzhalter 8">
            <a:extLst>
              <a:ext uri="{FF2B5EF4-FFF2-40B4-BE49-F238E27FC236}">
                <a16:creationId xmlns:a16="http://schemas.microsoft.com/office/drawing/2014/main" id="{72BDE464-F607-A09A-1668-F87FE0DD2DA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AE7E6D43-1753-DEEB-4D7F-B9B5B7C6DD9D}"/>
              </a:ext>
            </a:extLst>
          </p:cNvPr>
          <p:cNvSpPr/>
          <p:nvPr userDrawn="1"/>
        </p:nvSpPr>
        <p:spPr>
          <a:xfrm>
            <a:off x="0" y="6680100"/>
            <a:ext cx="12192000" cy="180000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906706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ei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Bildplatzhalter 18"/>
          <p:cNvSpPr>
            <a:spLocks noGrp="1"/>
          </p:cNvSpPr>
          <p:nvPr>
            <p:ph type="pic" sz="quarter" idx="10"/>
          </p:nvPr>
        </p:nvSpPr>
        <p:spPr>
          <a:xfrm>
            <a:off x="1441719" y="2430046"/>
            <a:ext cx="889000" cy="815975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cxnSp>
        <p:nvCxnSpPr>
          <p:cNvPr id="13" name="Gerader Verbinder 12"/>
          <p:cNvCxnSpPr/>
          <p:nvPr userDrawn="1"/>
        </p:nvCxnSpPr>
        <p:spPr>
          <a:xfrm>
            <a:off x="3274540" y="2361383"/>
            <a:ext cx="0" cy="2967025"/>
          </a:xfrm>
          <a:prstGeom prst="line">
            <a:avLst/>
          </a:prstGeom>
          <a:ln w="19050">
            <a:solidFill>
              <a:srgbClr val="3C6C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/>
          <p:cNvCxnSpPr/>
          <p:nvPr userDrawn="1"/>
        </p:nvCxnSpPr>
        <p:spPr>
          <a:xfrm>
            <a:off x="5975683" y="2361383"/>
            <a:ext cx="0" cy="2967025"/>
          </a:xfrm>
          <a:prstGeom prst="line">
            <a:avLst/>
          </a:prstGeom>
          <a:ln w="19050">
            <a:solidFill>
              <a:srgbClr val="3C6C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itel 2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24" name="Textplatzhalter 23"/>
          <p:cNvSpPr>
            <a:spLocks noGrp="1"/>
          </p:cNvSpPr>
          <p:nvPr>
            <p:ph type="body" sz="quarter" idx="13"/>
          </p:nvPr>
        </p:nvSpPr>
        <p:spPr>
          <a:xfrm>
            <a:off x="820941" y="3448448"/>
            <a:ext cx="2169115" cy="320151"/>
          </a:xfrm>
        </p:spPr>
        <p:txBody>
          <a:bodyPr>
            <a:noAutofit/>
          </a:bodyPr>
          <a:lstStyle>
            <a:lvl1pPr marL="0" indent="0" algn="ctr">
              <a:buNone/>
              <a:defRPr sz="1600" b="1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1" name="Textplatzhalter 30"/>
          <p:cNvSpPr>
            <a:spLocks noGrp="1"/>
          </p:cNvSpPr>
          <p:nvPr>
            <p:ph type="body" sz="quarter" idx="16"/>
          </p:nvPr>
        </p:nvSpPr>
        <p:spPr>
          <a:xfrm>
            <a:off x="820148" y="3789784"/>
            <a:ext cx="2169909" cy="144570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400"/>
            </a:lvl1pPr>
            <a:lvl2pPr marL="457200" indent="0" algn="ctr">
              <a:buFontTx/>
              <a:buNone/>
              <a:defRPr sz="1800"/>
            </a:lvl2pPr>
            <a:lvl3pPr marL="914400" indent="0" algn="ctr">
              <a:buFontTx/>
              <a:buNone/>
              <a:defRPr sz="1800"/>
            </a:lvl3pPr>
            <a:lvl4pPr marL="1371600" indent="0" algn="ctr">
              <a:buFontTx/>
              <a:buNone/>
              <a:defRPr sz="1800"/>
            </a:lvl4pPr>
            <a:lvl5pPr marL="1828800" indent="0" algn="ctr">
              <a:buFontTx/>
              <a:buNone/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8" name="Bildplatzhalter 18"/>
          <p:cNvSpPr>
            <a:spLocks noGrp="1"/>
          </p:cNvSpPr>
          <p:nvPr>
            <p:ph type="pic" sz="quarter" idx="19"/>
          </p:nvPr>
        </p:nvSpPr>
        <p:spPr>
          <a:xfrm>
            <a:off x="4170514" y="2436454"/>
            <a:ext cx="889000" cy="815975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3" name="Textplatzhalter 23"/>
          <p:cNvSpPr>
            <a:spLocks noGrp="1"/>
          </p:cNvSpPr>
          <p:nvPr>
            <p:ph type="body" sz="quarter" idx="20"/>
          </p:nvPr>
        </p:nvSpPr>
        <p:spPr>
          <a:xfrm>
            <a:off x="3530102" y="3451977"/>
            <a:ext cx="2170617" cy="320151"/>
          </a:xfrm>
        </p:spPr>
        <p:txBody>
          <a:bodyPr>
            <a:noAutofit/>
          </a:bodyPr>
          <a:lstStyle>
            <a:lvl1pPr marL="0" indent="0" algn="ctr">
              <a:buNone/>
              <a:defRPr sz="1600" b="1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7" name="Textplatzhalter 30"/>
          <p:cNvSpPr>
            <a:spLocks noGrp="1"/>
          </p:cNvSpPr>
          <p:nvPr>
            <p:ph type="body" sz="quarter" idx="21"/>
          </p:nvPr>
        </p:nvSpPr>
        <p:spPr>
          <a:xfrm>
            <a:off x="3529309" y="3793313"/>
            <a:ext cx="2171411" cy="144570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400"/>
            </a:lvl1pPr>
            <a:lvl2pPr marL="457200" indent="0" algn="ctr">
              <a:buFontTx/>
              <a:buNone/>
              <a:defRPr sz="1800"/>
            </a:lvl2pPr>
            <a:lvl3pPr marL="914400" indent="0" algn="ctr">
              <a:buFontTx/>
              <a:buNone/>
              <a:defRPr sz="1800"/>
            </a:lvl3pPr>
            <a:lvl4pPr marL="1371600" indent="0" algn="ctr">
              <a:buFontTx/>
              <a:buNone/>
              <a:defRPr sz="1800"/>
            </a:lvl4pPr>
            <a:lvl5pPr marL="1828800" indent="0" algn="ctr">
              <a:buFontTx/>
              <a:buNone/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0" name="Bildplatzhalter 18"/>
          <p:cNvSpPr>
            <a:spLocks noGrp="1"/>
          </p:cNvSpPr>
          <p:nvPr>
            <p:ph type="pic" sz="quarter" idx="22"/>
          </p:nvPr>
        </p:nvSpPr>
        <p:spPr>
          <a:xfrm>
            <a:off x="6888033" y="2433575"/>
            <a:ext cx="889000" cy="815975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4" name="Textplatzhalter 23"/>
          <p:cNvSpPr>
            <a:spLocks noGrp="1"/>
          </p:cNvSpPr>
          <p:nvPr>
            <p:ph type="body" sz="quarter" idx="23"/>
          </p:nvPr>
        </p:nvSpPr>
        <p:spPr>
          <a:xfrm>
            <a:off x="6236106" y="3451977"/>
            <a:ext cx="2173399" cy="320151"/>
          </a:xfrm>
        </p:spPr>
        <p:txBody>
          <a:bodyPr>
            <a:noAutofit/>
          </a:bodyPr>
          <a:lstStyle>
            <a:lvl1pPr marL="0" indent="0" algn="ctr">
              <a:buNone/>
              <a:defRPr sz="1600" b="1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5" name="Textplatzhalter 30"/>
          <p:cNvSpPr>
            <a:spLocks noGrp="1"/>
          </p:cNvSpPr>
          <p:nvPr>
            <p:ph type="body" sz="quarter" idx="24"/>
          </p:nvPr>
        </p:nvSpPr>
        <p:spPr>
          <a:xfrm>
            <a:off x="6235313" y="3793313"/>
            <a:ext cx="2174194" cy="144570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400"/>
            </a:lvl1pPr>
            <a:lvl2pPr marL="457200" indent="0" algn="ctr">
              <a:buFontTx/>
              <a:buNone/>
              <a:defRPr sz="1800"/>
            </a:lvl2pPr>
            <a:lvl3pPr marL="914400" indent="0" algn="ctr">
              <a:buFontTx/>
              <a:buNone/>
              <a:defRPr sz="1800"/>
            </a:lvl3pPr>
            <a:lvl4pPr marL="1371600" indent="0" algn="ctr">
              <a:buFontTx/>
              <a:buNone/>
              <a:defRPr sz="1800"/>
            </a:lvl4pPr>
            <a:lvl5pPr marL="1828800" indent="0" algn="ctr">
              <a:buFontTx/>
              <a:buNone/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cxnSp>
        <p:nvCxnSpPr>
          <p:cNvPr id="36" name="Gerader Verbinder 35"/>
          <p:cNvCxnSpPr/>
          <p:nvPr userDrawn="1"/>
        </p:nvCxnSpPr>
        <p:spPr>
          <a:xfrm>
            <a:off x="8677948" y="2361383"/>
            <a:ext cx="0" cy="2967025"/>
          </a:xfrm>
          <a:prstGeom prst="line">
            <a:avLst/>
          </a:prstGeom>
          <a:ln w="19050">
            <a:solidFill>
              <a:srgbClr val="3C6C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Bildplatzhalter 18"/>
          <p:cNvSpPr>
            <a:spLocks noGrp="1"/>
          </p:cNvSpPr>
          <p:nvPr>
            <p:ph type="pic" sz="quarter" idx="25"/>
          </p:nvPr>
        </p:nvSpPr>
        <p:spPr>
          <a:xfrm>
            <a:off x="9593182" y="2433575"/>
            <a:ext cx="889000" cy="815975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8" name="Textplatzhalter 23"/>
          <p:cNvSpPr>
            <a:spLocks noGrp="1"/>
          </p:cNvSpPr>
          <p:nvPr>
            <p:ph type="body" sz="quarter" idx="26"/>
          </p:nvPr>
        </p:nvSpPr>
        <p:spPr>
          <a:xfrm>
            <a:off x="8928284" y="3451977"/>
            <a:ext cx="2175262" cy="320151"/>
          </a:xfrm>
        </p:spPr>
        <p:txBody>
          <a:bodyPr>
            <a:noAutofit/>
          </a:bodyPr>
          <a:lstStyle>
            <a:lvl1pPr marL="0" indent="0" algn="ctr">
              <a:buNone/>
              <a:defRPr sz="1600" b="1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9" name="Textplatzhalter 30"/>
          <p:cNvSpPr>
            <a:spLocks noGrp="1"/>
          </p:cNvSpPr>
          <p:nvPr>
            <p:ph type="body" sz="quarter" idx="27"/>
          </p:nvPr>
        </p:nvSpPr>
        <p:spPr>
          <a:xfrm>
            <a:off x="8927490" y="3793313"/>
            <a:ext cx="2176058" cy="144570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400"/>
            </a:lvl1pPr>
            <a:lvl2pPr marL="457200" indent="0" algn="ctr">
              <a:buFontTx/>
              <a:buNone/>
              <a:defRPr sz="1800"/>
            </a:lvl2pPr>
            <a:lvl3pPr marL="914400" indent="0" algn="ctr">
              <a:buFontTx/>
              <a:buNone/>
              <a:defRPr sz="1800"/>
            </a:lvl3pPr>
            <a:lvl4pPr marL="1371600" indent="0" algn="ctr">
              <a:buFontTx/>
              <a:buNone/>
              <a:defRPr sz="1800"/>
            </a:lvl4pPr>
            <a:lvl5pPr marL="1828800" indent="0" algn="ctr">
              <a:buFontTx/>
              <a:buNone/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25" name="Inhaltsplatzhalter 8">
            <a:extLst>
              <a:ext uri="{FF2B5EF4-FFF2-40B4-BE49-F238E27FC236}">
                <a16:creationId xmlns:a16="http://schemas.microsoft.com/office/drawing/2014/main" id="{2D092AF9-5E0A-D86A-D6DF-DA09A98DB7A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  <p:sp>
        <p:nvSpPr>
          <p:cNvPr id="26" name="Rechteck 25">
            <a:extLst>
              <a:ext uri="{FF2B5EF4-FFF2-40B4-BE49-F238E27FC236}">
                <a16:creationId xmlns:a16="http://schemas.microsoft.com/office/drawing/2014/main" id="{3AF05A72-1305-2EBF-3480-ECF5E928AFF1}"/>
              </a:ext>
            </a:extLst>
          </p:cNvPr>
          <p:cNvSpPr/>
          <p:nvPr userDrawn="1"/>
        </p:nvSpPr>
        <p:spPr>
          <a:xfrm>
            <a:off x="0" y="6680100"/>
            <a:ext cx="12192000" cy="180000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5497870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80" userDrawn="1">
          <p15:clr>
            <a:srgbClr val="FBAE40"/>
          </p15:clr>
        </p15:guide>
        <p15:guide id="2" pos="2978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0"/>
          <p:cNvSpPr>
            <a:spLocks noGrp="1"/>
          </p:cNvSpPr>
          <p:nvPr>
            <p:ph type="title"/>
          </p:nvPr>
        </p:nvSpPr>
        <p:spPr>
          <a:xfrm>
            <a:off x="838200" y="365125"/>
            <a:ext cx="9697278" cy="1325563"/>
          </a:xfrm>
        </p:spPr>
        <p:txBody>
          <a:bodyPr/>
          <a:lstStyle>
            <a:lvl1pPr>
              <a:defRPr b="1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714775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nhaltsplatzhalter 8">
            <a:extLst>
              <a:ext uri="{FF2B5EF4-FFF2-40B4-BE49-F238E27FC236}">
                <a16:creationId xmlns:a16="http://schemas.microsoft.com/office/drawing/2014/main" id="{2915CA75-FF09-E2DB-CB15-34C112092D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896BB39E-171F-CBCF-E190-857C34693764}"/>
              </a:ext>
            </a:extLst>
          </p:cNvPr>
          <p:cNvSpPr/>
          <p:nvPr userDrawn="1"/>
        </p:nvSpPr>
        <p:spPr>
          <a:xfrm>
            <a:off x="0" y="6680100"/>
            <a:ext cx="12192000" cy="180000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395945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27"/>
          <p:cNvSpPr txBox="1"/>
          <p:nvPr userDrawn="1"/>
        </p:nvSpPr>
        <p:spPr>
          <a:xfrm>
            <a:off x="1387638" y="2606370"/>
            <a:ext cx="2570749" cy="101566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5000" b="1">
                <a:latin typeface="+mj-lt"/>
                <a:ea typeface="Raleway" charset="0"/>
                <a:cs typeface="Raleway" charset="0"/>
              </a:rPr>
              <a:t>Agenda</a:t>
            </a:r>
            <a:r>
              <a:rPr lang="en-US" sz="6000" b="1">
                <a:latin typeface="Raleway" charset="0"/>
                <a:ea typeface="Raleway" charset="0"/>
                <a:cs typeface="Raleway" charset="0"/>
              </a:rPr>
              <a:t> 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2F6568F7-1AC5-4EDC-9B9F-E940F6AD201A}"/>
              </a:ext>
            </a:extLst>
          </p:cNvPr>
          <p:cNvSpPr txBox="1"/>
          <p:nvPr userDrawn="1"/>
        </p:nvSpPr>
        <p:spPr>
          <a:xfrm>
            <a:off x="4712294" y="3021105"/>
            <a:ext cx="543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b="1"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DA475AB4-26B4-4356-8CA4-D9E7CBA9A709}"/>
              </a:ext>
            </a:extLst>
          </p:cNvPr>
          <p:cNvSpPr txBox="1"/>
          <p:nvPr userDrawn="1"/>
        </p:nvSpPr>
        <p:spPr>
          <a:xfrm>
            <a:off x="4715480" y="2261839"/>
            <a:ext cx="5436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b="1"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AE8ADE85-A426-4338-BEAA-D7269617E958}"/>
              </a:ext>
            </a:extLst>
          </p:cNvPr>
          <p:cNvSpPr txBox="1"/>
          <p:nvPr userDrawn="1"/>
        </p:nvSpPr>
        <p:spPr>
          <a:xfrm>
            <a:off x="4717933" y="1512874"/>
            <a:ext cx="554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b="1"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5EDCB691-8A1D-46A6-AB5C-05D2EDA9B51F}"/>
              </a:ext>
            </a:extLst>
          </p:cNvPr>
          <p:cNvSpPr txBox="1"/>
          <p:nvPr userDrawn="1"/>
        </p:nvSpPr>
        <p:spPr>
          <a:xfrm>
            <a:off x="4712294" y="3777413"/>
            <a:ext cx="446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b="1"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1A9272B4-B669-4DDC-8BB1-E7C1D9C247C6}"/>
              </a:ext>
            </a:extLst>
          </p:cNvPr>
          <p:cNvSpPr txBox="1"/>
          <p:nvPr userDrawn="1"/>
        </p:nvSpPr>
        <p:spPr>
          <a:xfrm>
            <a:off x="4713326" y="4532615"/>
            <a:ext cx="554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b="1">
                <a:latin typeface="Arial" panose="020B0604020202020204" pitchFamily="34" charset="0"/>
                <a:cs typeface="Arial" panose="020B0604020202020204" pitchFamily="34" charset="0"/>
              </a:rPr>
              <a:t>05</a:t>
            </a:r>
          </a:p>
        </p:txBody>
      </p:sp>
      <p:sp>
        <p:nvSpPr>
          <p:cNvPr id="22" name="Rechteck: abgerundete Ecken 21">
            <a:extLst>
              <a:ext uri="{FF2B5EF4-FFF2-40B4-BE49-F238E27FC236}">
                <a16:creationId xmlns:a16="http://schemas.microsoft.com/office/drawing/2014/main" id="{CBA4D201-99FF-403F-A006-9C84424A7DF8}"/>
              </a:ext>
            </a:extLst>
          </p:cNvPr>
          <p:cNvSpPr/>
          <p:nvPr userDrawn="1"/>
        </p:nvSpPr>
        <p:spPr>
          <a:xfrm>
            <a:off x="5360064" y="1370001"/>
            <a:ext cx="5925553" cy="650158"/>
          </a:xfrm>
          <a:prstGeom prst="roundRect">
            <a:avLst/>
          </a:prstGeom>
          <a:noFill/>
          <a:ln w="9525">
            <a:solidFill>
              <a:srgbClr val="3C6CE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endParaRPr lang="de-CH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58EC7B7C-D019-4426-8ED8-1354EF08896C}"/>
              </a:ext>
            </a:extLst>
          </p:cNvPr>
          <p:cNvSpPr/>
          <p:nvPr userDrawn="1"/>
        </p:nvSpPr>
        <p:spPr>
          <a:xfrm>
            <a:off x="5360064" y="2124117"/>
            <a:ext cx="5925553" cy="650158"/>
          </a:xfrm>
          <a:prstGeom prst="roundRect">
            <a:avLst/>
          </a:prstGeom>
          <a:noFill/>
          <a:ln w="9525">
            <a:solidFill>
              <a:srgbClr val="3C6CE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endParaRPr lang="de-CH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3E516E81-E480-4A67-ACD6-20272F61B19A}"/>
              </a:ext>
            </a:extLst>
          </p:cNvPr>
          <p:cNvSpPr/>
          <p:nvPr userDrawn="1"/>
        </p:nvSpPr>
        <p:spPr>
          <a:xfrm>
            <a:off x="5360066" y="2878277"/>
            <a:ext cx="5925553" cy="650158"/>
          </a:xfrm>
          <a:prstGeom prst="roundRect">
            <a:avLst/>
          </a:prstGeom>
          <a:noFill/>
          <a:ln w="9525">
            <a:solidFill>
              <a:srgbClr val="3C6CE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endParaRPr lang="de-CH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Rechteck: abgerundete Ecken 24">
            <a:extLst>
              <a:ext uri="{FF2B5EF4-FFF2-40B4-BE49-F238E27FC236}">
                <a16:creationId xmlns:a16="http://schemas.microsoft.com/office/drawing/2014/main" id="{9B04D1FF-5285-4049-A82C-52016D02054B}"/>
              </a:ext>
            </a:extLst>
          </p:cNvPr>
          <p:cNvSpPr/>
          <p:nvPr userDrawn="1"/>
        </p:nvSpPr>
        <p:spPr>
          <a:xfrm>
            <a:off x="5360065" y="3634721"/>
            <a:ext cx="5925553" cy="650158"/>
          </a:xfrm>
          <a:prstGeom prst="roundRect">
            <a:avLst/>
          </a:prstGeom>
          <a:noFill/>
          <a:ln w="9525">
            <a:solidFill>
              <a:srgbClr val="3C6CE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endParaRPr lang="de-CH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Rechteck: abgerundete Ecken 25">
            <a:extLst>
              <a:ext uri="{FF2B5EF4-FFF2-40B4-BE49-F238E27FC236}">
                <a16:creationId xmlns:a16="http://schemas.microsoft.com/office/drawing/2014/main" id="{6D62C37D-FDFA-4F7F-B032-D10D134852B1}"/>
              </a:ext>
            </a:extLst>
          </p:cNvPr>
          <p:cNvSpPr/>
          <p:nvPr userDrawn="1"/>
        </p:nvSpPr>
        <p:spPr>
          <a:xfrm>
            <a:off x="5363073" y="4391165"/>
            <a:ext cx="5925553" cy="650158"/>
          </a:xfrm>
          <a:prstGeom prst="roundRect">
            <a:avLst/>
          </a:prstGeom>
          <a:noFill/>
          <a:ln w="9525">
            <a:solidFill>
              <a:srgbClr val="3C6CE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endParaRPr lang="de-CH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Inhaltsplatzhalter 2">
            <a:extLst>
              <a:ext uri="{FF2B5EF4-FFF2-40B4-BE49-F238E27FC236}">
                <a16:creationId xmlns:a16="http://schemas.microsoft.com/office/drawing/2014/main" id="{3FB73D8F-79F5-47A8-986D-85E497185CC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360064" y="1547974"/>
            <a:ext cx="5925553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err="1"/>
              <a:t>Agendapunkt</a:t>
            </a:r>
            <a:r>
              <a:rPr lang="de-DE"/>
              <a:t> 1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33" name="Inhaltsplatzhalter 2">
            <a:extLst>
              <a:ext uri="{FF2B5EF4-FFF2-40B4-BE49-F238E27FC236}">
                <a16:creationId xmlns:a16="http://schemas.microsoft.com/office/drawing/2014/main" id="{71785D1A-6BE1-484D-8EA3-89249DA882B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360064" y="2302180"/>
            <a:ext cx="5925553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err="1"/>
              <a:t>Agendapunkt</a:t>
            </a:r>
            <a:r>
              <a:rPr lang="de-DE"/>
              <a:t> 1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34" name="Inhaltsplatzhalter 2">
            <a:extLst>
              <a:ext uri="{FF2B5EF4-FFF2-40B4-BE49-F238E27FC236}">
                <a16:creationId xmlns:a16="http://schemas.microsoft.com/office/drawing/2014/main" id="{2F98FA24-10EB-4317-96F0-675B7A1DA284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5360063" y="3056386"/>
            <a:ext cx="5925553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err="1"/>
              <a:t>Agendapunkt</a:t>
            </a:r>
            <a:r>
              <a:rPr lang="de-DE"/>
              <a:t> 1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35" name="Inhaltsplatzhalter 2">
            <a:extLst>
              <a:ext uri="{FF2B5EF4-FFF2-40B4-BE49-F238E27FC236}">
                <a16:creationId xmlns:a16="http://schemas.microsoft.com/office/drawing/2014/main" id="{FF033F31-7CC6-4CCE-9CBF-51BCE188EFD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63073" y="3813475"/>
            <a:ext cx="5925553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err="1"/>
              <a:t>Agendapunkt</a:t>
            </a:r>
            <a:r>
              <a:rPr lang="de-DE"/>
              <a:t> 1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36" name="Inhaltsplatzhalter 2">
            <a:extLst>
              <a:ext uri="{FF2B5EF4-FFF2-40B4-BE49-F238E27FC236}">
                <a16:creationId xmlns:a16="http://schemas.microsoft.com/office/drawing/2014/main" id="{B2B87973-06A3-4F4B-89B6-AD17CE2077A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363073" y="4536341"/>
            <a:ext cx="5925553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err="1"/>
              <a:t>Agendapunkt</a:t>
            </a:r>
            <a:r>
              <a:rPr lang="de-DE"/>
              <a:t> 1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pic>
        <p:nvPicPr>
          <p:cNvPr id="27" name="Inhaltsplatzhalter 8">
            <a:extLst>
              <a:ext uri="{FF2B5EF4-FFF2-40B4-BE49-F238E27FC236}">
                <a16:creationId xmlns:a16="http://schemas.microsoft.com/office/drawing/2014/main" id="{16BA1BBA-C5D4-1619-80D6-0CF871CE984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  <p:sp>
        <p:nvSpPr>
          <p:cNvPr id="28" name="Rechteck 27">
            <a:extLst>
              <a:ext uri="{FF2B5EF4-FFF2-40B4-BE49-F238E27FC236}">
                <a16:creationId xmlns:a16="http://schemas.microsoft.com/office/drawing/2014/main" id="{822962D1-0317-F71C-1644-C24734F77CBF}"/>
              </a:ext>
            </a:extLst>
          </p:cNvPr>
          <p:cNvSpPr/>
          <p:nvPr userDrawn="1"/>
        </p:nvSpPr>
        <p:spPr>
          <a:xfrm>
            <a:off x="0" y="6680100"/>
            <a:ext cx="12192000" cy="180000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801348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Über Aproda A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526ADB4D-F11E-0732-847D-BE1D57927ABF}"/>
              </a:ext>
            </a:extLst>
          </p:cNvPr>
          <p:cNvSpPr/>
          <p:nvPr userDrawn="1"/>
        </p:nvSpPr>
        <p:spPr>
          <a:xfrm rot="5400000">
            <a:off x="2667000" y="-2667000"/>
            <a:ext cx="6858000" cy="12192000"/>
          </a:xfrm>
          <a:prstGeom prst="rect">
            <a:avLst/>
          </a:prstGeom>
          <a:gradFill>
            <a:gsLst>
              <a:gs pos="0">
                <a:srgbClr val="3C6CE8">
                  <a:alpha val="85000"/>
                </a:srgbClr>
              </a:gs>
              <a:gs pos="30000">
                <a:srgbClr val="3C6CE8">
                  <a:alpha val="85000"/>
                </a:srgbClr>
              </a:gs>
              <a:gs pos="100000">
                <a:srgbClr val="3C6CE8">
                  <a:alpha val="20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4" name="Grafik 3" descr="Ein Bild, das Text, Schrift, Grafiken, Logo enthält.&#10;&#10;Automatisch generierte Beschreibung">
            <a:extLst>
              <a:ext uri="{FF2B5EF4-FFF2-40B4-BE49-F238E27FC236}">
                <a16:creationId xmlns:a16="http://schemas.microsoft.com/office/drawing/2014/main" id="{6ED1F3E1-4275-DC2F-6C51-0436336E65A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88334" y="5929445"/>
            <a:ext cx="1459488" cy="370332"/>
          </a:xfrm>
          <a:prstGeom prst="rect">
            <a:avLst/>
          </a:prstGeom>
        </p:spPr>
      </p:pic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CF814D57-4410-303F-CBD0-85BBCC6093B7}"/>
              </a:ext>
            </a:extLst>
          </p:cNvPr>
          <p:cNvSpPr/>
          <p:nvPr userDrawn="1"/>
        </p:nvSpPr>
        <p:spPr>
          <a:xfrm>
            <a:off x="887838" y="1826293"/>
            <a:ext cx="4983837" cy="158916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508FF483-6F44-5B14-E96F-854734F56D3E}"/>
              </a:ext>
            </a:extLst>
          </p:cNvPr>
          <p:cNvSpPr/>
          <p:nvPr userDrawn="1"/>
        </p:nvSpPr>
        <p:spPr>
          <a:xfrm>
            <a:off x="887838" y="3463626"/>
            <a:ext cx="4983837" cy="158916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D76D2531-A496-9B95-4757-80615A38EA99}"/>
              </a:ext>
            </a:extLst>
          </p:cNvPr>
          <p:cNvSpPr/>
          <p:nvPr userDrawn="1"/>
        </p:nvSpPr>
        <p:spPr>
          <a:xfrm>
            <a:off x="5915084" y="1826293"/>
            <a:ext cx="4983837" cy="158916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6FF1530C-2A8F-7915-3E10-FA07731AA188}"/>
              </a:ext>
            </a:extLst>
          </p:cNvPr>
          <p:cNvSpPr/>
          <p:nvPr userDrawn="1"/>
        </p:nvSpPr>
        <p:spPr>
          <a:xfrm>
            <a:off x="5915084" y="3463623"/>
            <a:ext cx="4983837" cy="158916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705A477D-6CC6-A4EC-C92C-3D53B0E89EC4}"/>
              </a:ext>
            </a:extLst>
          </p:cNvPr>
          <p:cNvSpPr txBox="1">
            <a:spLocks/>
          </p:cNvSpPr>
          <p:nvPr userDrawn="1"/>
        </p:nvSpPr>
        <p:spPr>
          <a:xfrm>
            <a:off x="1247876" y="2076786"/>
            <a:ext cx="2451870" cy="344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CH" sz="1100" b="0"/>
              <a:t>150 Mitarbeitende</a:t>
            </a:r>
          </a:p>
        </p:txBody>
      </p:sp>
      <p:sp>
        <p:nvSpPr>
          <p:cNvPr id="13" name="Titel 1">
            <a:extLst>
              <a:ext uri="{FF2B5EF4-FFF2-40B4-BE49-F238E27FC236}">
                <a16:creationId xmlns:a16="http://schemas.microsoft.com/office/drawing/2014/main" id="{3B46EEA3-FD3F-6975-E089-73B1376A4420}"/>
              </a:ext>
            </a:extLst>
          </p:cNvPr>
          <p:cNvSpPr txBox="1">
            <a:spLocks/>
          </p:cNvSpPr>
          <p:nvPr userDrawn="1"/>
        </p:nvSpPr>
        <p:spPr>
          <a:xfrm>
            <a:off x="1247876" y="2224272"/>
            <a:ext cx="3721377" cy="1185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de-CH" sz="1300" dirty="0">
                <a:solidFill>
                  <a:srgbClr val="3C6CE8"/>
                </a:solidFill>
              </a:rPr>
              <a:t>Consultants | Software Engineers | </a:t>
            </a:r>
          </a:p>
          <a:p>
            <a:pPr>
              <a:lnSpc>
                <a:spcPct val="100000"/>
              </a:lnSpc>
            </a:pPr>
            <a:r>
              <a:rPr lang="de-CH" sz="1300" dirty="0">
                <a:solidFill>
                  <a:srgbClr val="3C6CE8"/>
                </a:solidFill>
              </a:rPr>
              <a:t>System Engineers</a:t>
            </a:r>
            <a:endParaRPr lang="de-CH" sz="1300" dirty="0">
              <a:solidFill>
                <a:srgbClr val="3C6CE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itel 1">
            <a:extLst>
              <a:ext uri="{FF2B5EF4-FFF2-40B4-BE49-F238E27FC236}">
                <a16:creationId xmlns:a16="http://schemas.microsoft.com/office/drawing/2014/main" id="{E51A5F7F-FB86-4626-88C5-CEAB9701E3AF}"/>
              </a:ext>
            </a:extLst>
          </p:cNvPr>
          <p:cNvSpPr txBox="1">
            <a:spLocks/>
          </p:cNvSpPr>
          <p:nvPr userDrawn="1"/>
        </p:nvSpPr>
        <p:spPr>
          <a:xfrm>
            <a:off x="1247876" y="3687638"/>
            <a:ext cx="2451870" cy="344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CH" sz="1100" b="0"/>
              <a:t>Unsere Branchenkompetenz</a:t>
            </a:r>
          </a:p>
        </p:txBody>
      </p:sp>
      <p:sp>
        <p:nvSpPr>
          <p:cNvPr id="15" name="Titel 1">
            <a:extLst>
              <a:ext uri="{FF2B5EF4-FFF2-40B4-BE49-F238E27FC236}">
                <a16:creationId xmlns:a16="http://schemas.microsoft.com/office/drawing/2014/main" id="{142F4639-E356-F1A6-20A8-702D0DC1485F}"/>
              </a:ext>
            </a:extLst>
          </p:cNvPr>
          <p:cNvSpPr txBox="1">
            <a:spLocks/>
          </p:cNvSpPr>
          <p:nvPr userDrawn="1"/>
        </p:nvSpPr>
        <p:spPr>
          <a:xfrm>
            <a:off x="1247875" y="3835239"/>
            <a:ext cx="3721377" cy="1225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de-CH" sz="1300" dirty="0">
                <a:solidFill>
                  <a:srgbClr val="3C6CE8"/>
                </a:solidFill>
              </a:rPr>
              <a:t>Lebensmittel | Grosshandel | </a:t>
            </a:r>
            <a:br>
              <a:rPr lang="de-CH" sz="1300" dirty="0">
                <a:solidFill>
                  <a:srgbClr val="3C6CE8"/>
                </a:solidFill>
              </a:rPr>
            </a:br>
            <a:r>
              <a:rPr lang="de-CH" sz="1300" dirty="0">
                <a:solidFill>
                  <a:srgbClr val="3C6CE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Fertigung Produktion | Medtech</a:t>
            </a:r>
            <a:endParaRPr lang="de-CH" sz="1300" b="0" dirty="0">
              <a:solidFill>
                <a:srgbClr val="3C6CE8"/>
              </a:solidFill>
            </a:endParaRPr>
          </a:p>
        </p:txBody>
      </p:sp>
      <p:sp>
        <p:nvSpPr>
          <p:cNvPr id="16" name="Titel 1">
            <a:extLst>
              <a:ext uri="{FF2B5EF4-FFF2-40B4-BE49-F238E27FC236}">
                <a16:creationId xmlns:a16="http://schemas.microsoft.com/office/drawing/2014/main" id="{C8A43E02-EAAC-D3EF-DFA9-4ABF2DA63429}"/>
              </a:ext>
            </a:extLst>
          </p:cNvPr>
          <p:cNvSpPr txBox="1">
            <a:spLocks/>
          </p:cNvSpPr>
          <p:nvPr userDrawn="1"/>
        </p:nvSpPr>
        <p:spPr>
          <a:xfrm>
            <a:off x="6280054" y="2076533"/>
            <a:ext cx="2451870" cy="344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CH" sz="1100" b="0"/>
              <a:t>Unsere Produkte</a:t>
            </a:r>
          </a:p>
        </p:txBody>
      </p:sp>
      <p:sp>
        <p:nvSpPr>
          <p:cNvPr id="17" name="Titel 1">
            <a:extLst>
              <a:ext uri="{FF2B5EF4-FFF2-40B4-BE49-F238E27FC236}">
                <a16:creationId xmlns:a16="http://schemas.microsoft.com/office/drawing/2014/main" id="{99525335-C8C6-63B7-8C89-52DDC9C63453}"/>
              </a:ext>
            </a:extLst>
          </p:cNvPr>
          <p:cNvSpPr txBox="1">
            <a:spLocks/>
          </p:cNvSpPr>
          <p:nvPr userDrawn="1"/>
        </p:nvSpPr>
        <p:spPr>
          <a:xfrm>
            <a:off x="6286664" y="2243615"/>
            <a:ext cx="4612257" cy="11665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de-CH" sz="1300" dirty="0">
                <a:solidFill>
                  <a:srgbClr val="3C6CE8"/>
                </a:solidFill>
              </a:rPr>
              <a:t>Dynamics 365 Business Central</a:t>
            </a:r>
          </a:p>
          <a:p>
            <a:pPr>
              <a:lnSpc>
                <a:spcPct val="100000"/>
              </a:lnSpc>
            </a:pPr>
            <a:r>
              <a:rPr lang="de-CH" sz="1300" dirty="0">
                <a:solidFill>
                  <a:srgbClr val="3C6CE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Dynamics 365 </a:t>
            </a:r>
            <a:r>
              <a:rPr lang="de-CH" sz="1300" dirty="0">
                <a:solidFill>
                  <a:srgbClr val="3C6CE8"/>
                </a:solidFill>
              </a:rPr>
              <a:t>S</a:t>
            </a:r>
            <a:r>
              <a:rPr lang="de-CH" sz="1300" dirty="0">
                <a:solidFill>
                  <a:srgbClr val="3C6CE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ales </a:t>
            </a:r>
          </a:p>
          <a:p>
            <a:pPr>
              <a:lnSpc>
                <a:spcPct val="100000"/>
              </a:lnSpc>
            </a:pPr>
            <a:r>
              <a:rPr lang="de-CH" sz="1300" dirty="0">
                <a:solidFill>
                  <a:srgbClr val="3C6CE8"/>
                </a:solidFill>
              </a:rPr>
              <a:t>Microsoft 365</a:t>
            </a:r>
          </a:p>
          <a:p>
            <a:pPr>
              <a:lnSpc>
                <a:spcPct val="100000"/>
              </a:lnSpc>
            </a:pPr>
            <a:r>
              <a:rPr lang="de-CH" sz="1300" dirty="0">
                <a:solidFill>
                  <a:srgbClr val="3C6CE8"/>
                </a:solidFill>
              </a:rPr>
              <a:t>Microsoft Power BI | Power </a:t>
            </a:r>
            <a:r>
              <a:rPr lang="de-CH" sz="1300" dirty="0" err="1">
                <a:solidFill>
                  <a:srgbClr val="3C6CE8"/>
                </a:solidFill>
              </a:rPr>
              <a:t>Platform</a:t>
            </a:r>
            <a:endParaRPr lang="de-CH" sz="1300" dirty="0">
              <a:solidFill>
                <a:srgbClr val="3C6CE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itel 1">
            <a:extLst>
              <a:ext uri="{FF2B5EF4-FFF2-40B4-BE49-F238E27FC236}">
                <a16:creationId xmlns:a16="http://schemas.microsoft.com/office/drawing/2014/main" id="{95C08744-15CF-00EE-DB19-6C2E931DC699}"/>
              </a:ext>
            </a:extLst>
          </p:cNvPr>
          <p:cNvSpPr txBox="1">
            <a:spLocks/>
          </p:cNvSpPr>
          <p:nvPr userDrawn="1"/>
        </p:nvSpPr>
        <p:spPr>
          <a:xfrm>
            <a:off x="6277196" y="3691898"/>
            <a:ext cx="2451870" cy="344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CH" sz="1100" b="0" dirty="0"/>
              <a:t>Unsere Mission</a:t>
            </a:r>
          </a:p>
        </p:txBody>
      </p:sp>
      <p:sp>
        <p:nvSpPr>
          <p:cNvPr id="19" name="Titel 1">
            <a:extLst>
              <a:ext uri="{FF2B5EF4-FFF2-40B4-BE49-F238E27FC236}">
                <a16:creationId xmlns:a16="http://schemas.microsoft.com/office/drawing/2014/main" id="{37353C96-6CC5-F0FA-BD0A-B23AF48DDD86}"/>
              </a:ext>
            </a:extLst>
          </p:cNvPr>
          <p:cNvSpPr txBox="1">
            <a:spLocks/>
          </p:cNvSpPr>
          <p:nvPr userDrawn="1"/>
        </p:nvSpPr>
        <p:spPr>
          <a:xfrm>
            <a:off x="6285146" y="3848221"/>
            <a:ext cx="2641683" cy="1204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de-CH" sz="1300" dirty="0">
                <a:solidFill>
                  <a:srgbClr val="3C6CE8"/>
                </a:solidFill>
              </a:rPr>
              <a:t>Mehrwert für unsere Kunden durch passgenaue </a:t>
            </a:r>
            <a:br>
              <a:rPr lang="de-CH" sz="1300" dirty="0">
                <a:solidFill>
                  <a:srgbClr val="3C6CE8"/>
                </a:solidFill>
              </a:rPr>
            </a:br>
            <a:r>
              <a:rPr lang="de-CH" sz="1300" dirty="0">
                <a:solidFill>
                  <a:srgbClr val="3C6CE8"/>
                </a:solidFill>
              </a:rPr>
              <a:t>IT-Lösungen</a:t>
            </a:r>
            <a:endParaRPr lang="de-CH" sz="1300" dirty="0">
              <a:solidFill>
                <a:srgbClr val="3C6CE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itel 1">
            <a:extLst>
              <a:ext uri="{FF2B5EF4-FFF2-40B4-BE49-F238E27FC236}">
                <a16:creationId xmlns:a16="http://schemas.microsoft.com/office/drawing/2014/main" id="{E4E60340-77CC-B012-B2BA-FF11A5919F02}"/>
              </a:ext>
            </a:extLst>
          </p:cNvPr>
          <p:cNvSpPr txBox="1">
            <a:spLocks/>
          </p:cNvSpPr>
          <p:nvPr userDrawn="1"/>
        </p:nvSpPr>
        <p:spPr>
          <a:xfrm>
            <a:off x="9044604" y="3704861"/>
            <a:ext cx="1530087" cy="344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CH" sz="1100" b="0"/>
              <a:t>Unsere Werte</a:t>
            </a:r>
          </a:p>
        </p:txBody>
      </p:sp>
      <p:sp>
        <p:nvSpPr>
          <p:cNvPr id="21" name="Titel 1">
            <a:extLst>
              <a:ext uri="{FF2B5EF4-FFF2-40B4-BE49-F238E27FC236}">
                <a16:creationId xmlns:a16="http://schemas.microsoft.com/office/drawing/2014/main" id="{7317FD85-2285-175D-13BA-60D91CB0002A}"/>
              </a:ext>
            </a:extLst>
          </p:cNvPr>
          <p:cNvSpPr txBox="1">
            <a:spLocks/>
          </p:cNvSpPr>
          <p:nvPr userDrawn="1"/>
        </p:nvSpPr>
        <p:spPr>
          <a:xfrm>
            <a:off x="9056608" y="3865603"/>
            <a:ext cx="2259521" cy="11871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de-CH" sz="1300" dirty="0">
                <a:solidFill>
                  <a:srgbClr val="3C6CE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Vertrauen</a:t>
            </a:r>
          </a:p>
          <a:p>
            <a:pPr>
              <a:lnSpc>
                <a:spcPct val="100000"/>
              </a:lnSpc>
            </a:pPr>
            <a:r>
              <a:rPr lang="de-CH" sz="1300" dirty="0">
                <a:solidFill>
                  <a:srgbClr val="3C6CE8"/>
                </a:solidFill>
              </a:rPr>
              <a:t>Erfolg</a:t>
            </a:r>
          </a:p>
          <a:p>
            <a:pPr>
              <a:lnSpc>
                <a:spcPct val="100000"/>
              </a:lnSpc>
            </a:pPr>
            <a:r>
              <a:rPr lang="de-CH" sz="1300" dirty="0">
                <a:solidFill>
                  <a:srgbClr val="3C6CE8"/>
                </a:solidFill>
              </a:rPr>
              <a:t>N</a:t>
            </a:r>
            <a:r>
              <a:rPr lang="de-CH" sz="1300" dirty="0">
                <a:solidFill>
                  <a:srgbClr val="3C6CE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achhaltigkeit</a:t>
            </a:r>
          </a:p>
        </p:txBody>
      </p:sp>
      <p:pic>
        <p:nvPicPr>
          <p:cNvPr id="22" name="Grafik 21" descr="Ein Bild, das Schrift, Grafiken, Text, Typografie enthält.&#10;&#10;Automatisch generierte Beschreibung">
            <a:extLst>
              <a:ext uri="{FF2B5EF4-FFF2-40B4-BE49-F238E27FC236}">
                <a16:creationId xmlns:a16="http://schemas.microsoft.com/office/drawing/2014/main" id="{90E42375-DFCD-A0ED-1DD1-756F20B5AC9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78399" y="5811080"/>
            <a:ext cx="1819390" cy="607062"/>
          </a:xfrm>
          <a:prstGeom prst="rect">
            <a:avLst/>
          </a:prstGeom>
        </p:spPr>
      </p:pic>
      <p:pic>
        <p:nvPicPr>
          <p:cNvPr id="23" name="Grafik 22" descr="Ein Bild, das Grafiken, Entwurf, Kunst, Reihe enthält.&#10;&#10;Automatisch generierte Beschreibung">
            <a:extLst>
              <a:ext uri="{FF2B5EF4-FFF2-40B4-BE49-F238E27FC236}">
                <a16:creationId xmlns:a16="http://schemas.microsoft.com/office/drawing/2014/main" id="{6E1CD2BD-2088-3DD4-DE2A-180F78778B2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23588" r="17061"/>
          <a:stretch/>
        </p:blipFill>
        <p:spPr>
          <a:xfrm>
            <a:off x="8649478" y="859844"/>
            <a:ext cx="2662489" cy="2523407"/>
          </a:xfrm>
          <a:prstGeom prst="rect">
            <a:avLst/>
          </a:prstGeom>
        </p:spPr>
      </p:pic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34329BE2-B38E-1B9C-897B-0A7B38FA81D8}"/>
              </a:ext>
            </a:extLst>
          </p:cNvPr>
          <p:cNvSpPr/>
          <p:nvPr userDrawn="1"/>
        </p:nvSpPr>
        <p:spPr>
          <a:xfrm>
            <a:off x="888334" y="5122128"/>
            <a:ext cx="10010587" cy="428801"/>
          </a:xfrm>
          <a:prstGeom prst="roundRect">
            <a:avLst/>
          </a:prstGeom>
          <a:solidFill>
            <a:srgbClr val="3C6CE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25" name="Grafik 24" descr="Ein Bild, das Tisch, Zeichnung enthält.&#10;&#10;Automatisch generierte Beschreibung">
            <a:extLst>
              <a:ext uri="{FF2B5EF4-FFF2-40B4-BE49-F238E27FC236}">
                <a16:creationId xmlns:a16="http://schemas.microsoft.com/office/drawing/2014/main" id="{540E3050-E6BE-A774-F223-E09E59A30B6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234187" y="5269204"/>
            <a:ext cx="323075" cy="161538"/>
          </a:xfrm>
          <a:prstGeom prst="rect">
            <a:avLst/>
          </a:prstGeom>
        </p:spPr>
      </p:pic>
      <p:pic>
        <p:nvPicPr>
          <p:cNvPr id="26" name="Picture 4" descr="Alessandro Radice Haushaltapparate">
            <a:extLst>
              <a:ext uri="{FF2B5EF4-FFF2-40B4-BE49-F238E27FC236}">
                <a16:creationId xmlns:a16="http://schemas.microsoft.com/office/drawing/2014/main" id="{7E8D3592-28E7-C7CB-67C3-FAE2C6A5A64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5033" y="5201066"/>
            <a:ext cx="660207" cy="288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" descr="Gewürz Nüsse">
            <a:extLst>
              <a:ext uri="{FF2B5EF4-FFF2-40B4-BE49-F238E27FC236}">
                <a16:creationId xmlns:a16="http://schemas.microsoft.com/office/drawing/2014/main" id="{9569E97F-D593-5399-5E40-6EECCF0258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801" y="5261242"/>
            <a:ext cx="519704" cy="17812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Grafik 27" descr="Ein Bild, das Text, Schrift, Grafiken, Logo enthält.&#10;&#10;Automatisch generierte Beschreibung">
            <a:extLst>
              <a:ext uri="{FF2B5EF4-FFF2-40B4-BE49-F238E27FC236}">
                <a16:creationId xmlns:a16="http://schemas.microsoft.com/office/drawing/2014/main" id="{77784F0A-ECD4-719F-EC96-12F182A0546B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biLevel thresh="25000"/>
          </a:blip>
          <a:stretch>
            <a:fillRect/>
          </a:stretch>
        </p:blipFill>
        <p:spPr>
          <a:xfrm>
            <a:off x="9700356" y="5250325"/>
            <a:ext cx="769652" cy="193674"/>
          </a:xfrm>
          <a:prstGeom prst="rect">
            <a:avLst/>
          </a:prstGeom>
        </p:spPr>
      </p:pic>
      <p:pic>
        <p:nvPicPr>
          <p:cNvPr id="29" name="Grafik 28" descr="Ein Bild, das Schrift, Text, Grafiken, Grafikdesign enthält.&#10;&#10;Automatisch generierte Beschreibung">
            <a:extLst>
              <a:ext uri="{FF2B5EF4-FFF2-40B4-BE49-F238E27FC236}">
                <a16:creationId xmlns:a16="http://schemas.microsoft.com/office/drawing/2014/main" id="{D20D7C55-70B4-10A3-60AB-8053AAFC4900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biLevel thresh="25000"/>
          </a:blip>
          <a:stretch>
            <a:fillRect/>
          </a:stretch>
        </p:blipFill>
        <p:spPr>
          <a:xfrm>
            <a:off x="6231523" y="5284958"/>
            <a:ext cx="922325" cy="159041"/>
          </a:xfrm>
          <a:prstGeom prst="rect">
            <a:avLst/>
          </a:prstGeom>
        </p:spPr>
      </p:pic>
      <p:pic>
        <p:nvPicPr>
          <p:cNvPr id="30" name="Grafik 29">
            <a:extLst>
              <a:ext uri="{FF2B5EF4-FFF2-40B4-BE49-F238E27FC236}">
                <a16:creationId xmlns:a16="http://schemas.microsoft.com/office/drawing/2014/main" id="{99DCEA3D-F6BD-161E-0D1D-59B4ADB01C2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914653" y="5243198"/>
            <a:ext cx="660208" cy="213235"/>
          </a:xfrm>
          <a:prstGeom prst="rect">
            <a:avLst/>
          </a:prstGeom>
        </p:spPr>
      </p:pic>
      <p:sp>
        <p:nvSpPr>
          <p:cNvPr id="5" name="Titel 1">
            <a:extLst>
              <a:ext uri="{FF2B5EF4-FFF2-40B4-BE49-F238E27FC236}">
                <a16:creationId xmlns:a16="http://schemas.microsoft.com/office/drawing/2014/main" id="{1DA40D96-DA54-BDEC-FBFE-618EE3532989}"/>
              </a:ext>
            </a:extLst>
          </p:cNvPr>
          <p:cNvSpPr txBox="1">
            <a:spLocks/>
          </p:cNvSpPr>
          <p:nvPr userDrawn="1"/>
        </p:nvSpPr>
        <p:spPr>
          <a:xfrm>
            <a:off x="838200" y="365125"/>
            <a:ext cx="972378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>
                <a:solidFill>
                  <a:schemeClr val="bg1"/>
                </a:solidFill>
              </a:rPr>
              <a:t>Aproda | </a:t>
            </a:r>
            <a:r>
              <a:rPr lang="de-DE" sz="3000" b="0">
                <a:solidFill>
                  <a:schemeClr val="bg1"/>
                </a:solidFill>
              </a:rPr>
              <a:t>ERP. CRM. IT.</a:t>
            </a:r>
          </a:p>
        </p:txBody>
      </p:sp>
    </p:spTree>
    <p:extLst>
      <p:ext uri="{BB962C8B-B14F-4D97-AF65-F5344CB8AC3E}">
        <p14:creationId xmlns:p14="http://schemas.microsoft.com/office/powerpoint/2010/main" val="35715933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ächste Schrit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A69BF3-935E-425C-9DD7-785F46F95D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Das sind die nächsten Schritte</a:t>
            </a:r>
            <a:endParaRPr lang="de-CH"/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2AB406E7-8BE8-4D94-A928-3BFAB81802BB}"/>
              </a:ext>
            </a:extLst>
          </p:cNvPr>
          <p:cNvSpPr/>
          <p:nvPr userDrawn="1"/>
        </p:nvSpPr>
        <p:spPr>
          <a:xfrm>
            <a:off x="3475121" y="2442219"/>
            <a:ext cx="2620880" cy="2434579"/>
          </a:xfrm>
          <a:prstGeom prst="roundRect">
            <a:avLst/>
          </a:prstGeom>
          <a:noFill/>
          <a:ln w="57150">
            <a:solidFill>
              <a:srgbClr val="3C6CE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r>
              <a:rPr lang="de-CH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48551B27-613E-4D9B-8FF2-3C32566DAC89}"/>
              </a:ext>
            </a:extLst>
          </p:cNvPr>
          <p:cNvSpPr/>
          <p:nvPr userDrawn="1"/>
        </p:nvSpPr>
        <p:spPr>
          <a:xfrm>
            <a:off x="712871" y="2442219"/>
            <a:ext cx="2620880" cy="2434580"/>
          </a:xfrm>
          <a:prstGeom prst="roundRect">
            <a:avLst/>
          </a:prstGeom>
          <a:noFill/>
          <a:ln w="57150">
            <a:solidFill>
              <a:srgbClr val="3C6CE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endParaRPr lang="de-CH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3A6053A0-9ECF-425E-A779-DA88D0A2BFE1}"/>
              </a:ext>
            </a:extLst>
          </p:cNvPr>
          <p:cNvSpPr/>
          <p:nvPr userDrawn="1"/>
        </p:nvSpPr>
        <p:spPr>
          <a:xfrm>
            <a:off x="6237371" y="2442218"/>
            <a:ext cx="2620880" cy="2434577"/>
          </a:xfrm>
          <a:prstGeom prst="roundRect">
            <a:avLst/>
          </a:prstGeom>
          <a:noFill/>
          <a:ln w="57150">
            <a:solidFill>
              <a:srgbClr val="3C6CE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endParaRPr lang="de-CH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768FD347-D05A-4207-B639-81885DFCC546}"/>
              </a:ext>
            </a:extLst>
          </p:cNvPr>
          <p:cNvSpPr/>
          <p:nvPr userDrawn="1"/>
        </p:nvSpPr>
        <p:spPr>
          <a:xfrm>
            <a:off x="8999621" y="2457173"/>
            <a:ext cx="2620880" cy="2419621"/>
          </a:xfrm>
          <a:prstGeom prst="roundRect">
            <a:avLst/>
          </a:prstGeom>
          <a:noFill/>
          <a:ln w="57150">
            <a:solidFill>
              <a:srgbClr val="3C6CE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endParaRPr lang="de-CH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43F0BC11-CB20-4F20-B492-A2570EBE0A9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38199" y="2592231"/>
            <a:ext cx="2374233" cy="2149504"/>
          </a:xfrm>
        </p:spPr>
        <p:txBody>
          <a:bodyPr anchor="ctr"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Punkt 1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6392A279-B830-4A48-B23B-A3C0B18CD85F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598443" y="2592231"/>
            <a:ext cx="2374233" cy="2149504"/>
          </a:xfrm>
        </p:spPr>
        <p:txBody>
          <a:bodyPr anchor="ctr"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Punkt 2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6DC34721-16C9-4CD2-8E5E-840E9757491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60694" y="2600665"/>
            <a:ext cx="2374233" cy="2149504"/>
          </a:xfrm>
        </p:spPr>
        <p:txBody>
          <a:bodyPr anchor="ctr"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Punkt 3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F74EBDC3-F25C-460E-BCE0-9EDA057F520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22943" y="2598498"/>
            <a:ext cx="2374233" cy="2149504"/>
          </a:xfrm>
        </p:spPr>
        <p:txBody>
          <a:bodyPr anchor="ctr"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Punkt 4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17" name="Inhaltsplatzhalter 2">
            <a:extLst>
              <a:ext uri="{FF2B5EF4-FFF2-40B4-BE49-F238E27FC236}">
                <a16:creationId xmlns:a16="http://schemas.microsoft.com/office/drawing/2014/main" id="{D428E5D5-5EB2-4A93-954A-745633B9C60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096127" y="2007758"/>
            <a:ext cx="2031336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b="1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Schritt 1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426E2063-0D03-4C37-B5D3-7E61D9ABA63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800974" y="2004042"/>
            <a:ext cx="2031336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b="1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Schritt 2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19" name="Inhaltsplatzhalter 2">
            <a:extLst>
              <a:ext uri="{FF2B5EF4-FFF2-40B4-BE49-F238E27FC236}">
                <a16:creationId xmlns:a16="http://schemas.microsoft.com/office/drawing/2014/main" id="{AB897AC6-6153-4983-8584-34C3FE8E9BCB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505821" y="2007758"/>
            <a:ext cx="2031336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b="1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Schritt 3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ECE6AAB4-CD24-4F5B-B618-368ADADFC94F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9210668" y="2007758"/>
            <a:ext cx="2031336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b="1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Schritt 4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pic>
        <p:nvPicPr>
          <p:cNvPr id="21" name="Inhaltsplatzhalter 8">
            <a:extLst>
              <a:ext uri="{FF2B5EF4-FFF2-40B4-BE49-F238E27FC236}">
                <a16:creationId xmlns:a16="http://schemas.microsoft.com/office/drawing/2014/main" id="{7B341E73-A4B2-B218-A5AC-9C487B90B7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  <p:sp>
        <p:nvSpPr>
          <p:cNvPr id="22" name="Rechteck 21">
            <a:extLst>
              <a:ext uri="{FF2B5EF4-FFF2-40B4-BE49-F238E27FC236}">
                <a16:creationId xmlns:a16="http://schemas.microsoft.com/office/drawing/2014/main" id="{04F9FAF2-D559-449A-79B5-190DA2080248}"/>
              </a:ext>
            </a:extLst>
          </p:cNvPr>
          <p:cNvSpPr/>
          <p:nvPr userDrawn="1"/>
        </p:nvSpPr>
        <p:spPr>
          <a:xfrm>
            <a:off x="0" y="6680100"/>
            <a:ext cx="12192000" cy="180000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2771571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nsere LO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hteck: abgerundete Ecken 20">
            <a:extLst>
              <a:ext uri="{FF2B5EF4-FFF2-40B4-BE49-F238E27FC236}">
                <a16:creationId xmlns:a16="http://schemas.microsoft.com/office/drawing/2014/main" id="{042701D0-DC92-7B9D-F7B4-C287B576AA9C}"/>
              </a:ext>
            </a:extLst>
          </p:cNvPr>
          <p:cNvSpPr/>
          <p:nvPr userDrawn="1"/>
        </p:nvSpPr>
        <p:spPr>
          <a:xfrm>
            <a:off x="452586" y="2909701"/>
            <a:ext cx="5063093" cy="1008465"/>
          </a:xfrm>
          <a:prstGeom prst="round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4BCE768A-CC48-D915-398F-1E1D5FA8BFCA}"/>
              </a:ext>
            </a:extLst>
          </p:cNvPr>
          <p:cNvSpPr txBox="1">
            <a:spLocks/>
          </p:cNvSpPr>
          <p:nvPr userDrawn="1"/>
        </p:nvSpPr>
        <p:spPr>
          <a:xfrm>
            <a:off x="416780" y="2065357"/>
            <a:ext cx="6200691" cy="10084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de-CH" sz="5000">
                <a:solidFill>
                  <a:srgbClr val="3C6CE8"/>
                </a:solidFill>
              </a:rPr>
              <a:t>Line of </a:t>
            </a:r>
            <a:endParaRPr lang="de-CH" sz="5000" dirty="0">
              <a:solidFill>
                <a:srgbClr val="3C6CE8"/>
              </a:solidFill>
            </a:endParaRP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0930B64A-96CF-CE17-CD86-9815C0E8614B}"/>
              </a:ext>
            </a:extLst>
          </p:cNvPr>
          <p:cNvSpPr txBox="1">
            <a:spLocks/>
          </p:cNvSpPr>
          <p:nvPr userDrawn="1"/>
        </p:nvSpPr>
        <p:spPr>
          <a:xfrm>
            <a:off x="486356" y="2569121"/>
            <a:ext cx="5029323" cy="16306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CH" sz="5000" dirty="0">
                <a:solidFill>
                  <a:schemeClr val="bg1"/>
                </a:solidFill>
              </a:rPr>
              <a:t>Business (LOB)</a:t>
            </a:r>
          </a:p>
        </p:txBody>
      </p:sp>
      <p:pic>
        <p:nvPicPr>
          <p:cNvPr id="6" name="Grafik 5" descr="Ein Bild, das Himmel, Screenshot, Symbol enthält.&#10;&#10;Automatisch generierte Beschreibung">
            <a:extLst>
              <a:ext uri="{FF2B5EF4-FFF2-40B4-BE49-F238E27FC236}">
                <a16:creationId xmlns:a16="http://schemas.microsoft.com/office/drawing/2014/main" id="{AE61C0D9-C67D-34A0-589C-6D23BE1764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62575" y="510941"/>
            <a:ext cx="6587242" cy="6587242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6B81DABE-280A-6787-57A0-6461931C99EE}"/>
              </a:ext>
            </a:extLst>
          </p:cNvPr>
          <p:cNvSpPr txBox="1"/>
          <p:nvPr userDrawn="1"/>
        </p:nvSpPr>
        <p:spPr>
          <a:xfrm>
            <a:off x="5973548" y="1978037"/>
            <a:ext cx="252652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000" b="1" dirty="0">
                <a:solidFill>
                  <a:schemeClr val="bg1"/>
                </a:solidFill>
                <a:latin typeface="Arial"/>
                <a:cs typeface="Arial"/>
                <a:sym typeface="Wingdings" panose="05000000000000000000" pitchFamily="2" charset="2"/>
              </a:rPr>
              <a:t>NEUPROJEKTE </a:t>
            </a:r>
          </a:p>
          <a:p>
            <a:r>
              <a:rPr lang="de-DE" sz="2000" b="1" dirty="0">
                <a:solidFill>
                  <a:schemeClr val="bg1"/>
                </a:solidFill>
                <a:latin typeface="Arial"/>
                <a:cs typeface="Arial"/>
                <a:sym typeface="Wingdings" panose="05000000000000000000" pitchFamily="2" charset="2"/>
              </a:rPr>
              <a:t>DYNAMICS 365</a:t>
            </a:r>
            <a:endParaRPr lang="de-CH" sz="2000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66CD02C6-0AD4-E140-6E69-6050C1149D1D}"/>
              </a:ext>
            </a:extLst>
          </p:cNvPr>
          <p:cNvSpPr txBox="1"/>
          <p:nvPr userDrawn="1"/>
        </p:nvSpPr>
        <p:spPr>
          <a:xfrm>
            <a:off x="8862079" y="1979913"/>
            <a:ext cx="252652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000" b="1" dirty="0">
                <a:solidFill>
                  <a:schemeClr val="bg1"/>
                </a:solidFill>
                <a:latin typeface="Arial"/>
                <a:cs typeface="Arial"/>
                <a:sym typeface="Wingdings" panose="05000000000000000000" pitchFamily="2" charset="2"/>
              </a:rPr>
              <a:t>CLOUD PRODUKTE D365 (STANDARD)</a:t>
            </a:r>
            <a:endParaRPr lang="de-DE" sz="2000" b="1" dirty="0">
              <a:solidFill>
                <a:schemeClr val="bg1"/>
              </a:solidFill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27F61F78-B111-9906-D397-9B578BB43F3D}"/>
              </a:ext>
            </a:extLst>
          </p:cNvPr>
          <p:cNvSpPr txBox="1"/>
          <p:nvPr userDrawn="1"/>
        </p:nvSpPr>
        <p:spPr>
          <a:xfrm>
            <a:off x="5966310" y="4932885"/>
            <a:ext cx="252652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000" b="1" dirty="0">
                <a:solidFill>
                  <a:srgbClr val="3C6CE8"/>
                </a:solidFill>
                <a:latin typeface="Arial"/>
                <a:cs typeface="Arial"/>
              </a:rPr>
              <a:t>BESTANDS-</a:t>
            </a:r>
            <a:br>
              <a:rPr lang="de-DE" sz="2000" b="1" dirty="0">
                <a:solidFill>
                  <a:srgbClr val="3C6CE8"/>
                </a:solidFill>
                <a:latin typeface="Arial"/>
                <a:cs typeface="Arial"/>
              </a:rPr>
            </a:br>
            <a:r>
              <a:rPr lang="de-DE" sz="2000" b="1" dirty="0">
                <a:solidFill>
                  <a:srgbClr val="3C6CE8"/>
                </a:solidFill>
                <a:latin typeface="Arial"/>
                <a:cs typeface="Arial"/>
              </a:rPr>
              <a:t>KUNDEN </a:t>
            </a:r>
            <a:r>
              <a:rPr lang="de-DE" sz="2000" b="1" dirty="0">
                <a:solidFill>
                  <a:srgbClr val="3C6CE8"/>
                </a:solidFill>
                <a:latin typeface="Arial"/>
                <a:cs typeface="Arial"/>
                <a:sym typeface="Wingdings" panose="05000000000000000000" pitchFamily="2" charset="2"/>
              </a:rPr>
              <a:t>D365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3B9170D2-0A31-29E9-FB6F-B833597B641E}"/>
              </a:ext>
            </a:extLst>
          </p:cNvPr>
          <p:cNvSpPr txBox="1"/>
          <p:nvPr userDrawn="1"/>
        </p:nvSpPr>
        <p:spPr>
          <a:xfrm>
            <a:off x="8859160" y="4933224"/>
            <a:ext cx="19033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000" b="1" dirty="0">
                <a:solidFill>
                  <a:srgbClr val="3C6CE8"/>
                </a:solidFill>
                <a:latin typeface="Arial"/>
                <a:cs typeface="Arial"/>
                <a:sym typeface="Wingdings" panose="05000000000000000000" pitchFamily="2" charset="2"/>
              </a:rPr>
              <a:t>IT-SERVICES</a:t>
            </a:r>
          </a:p>
        </p:txBody>
      </p:sp>
      <p:pic>
        <p:nvPicPr>
          <p:cNvPr id="11" name="Grafik 10" descr="Marke 1 mit einfarbiger Füllung">
            <a:extLst>
              <a:ext uri="{FF2B5EF4-FFF2-40B4-BE49-F238E27FC236}">
                <a16:creationId xmlns:a16="http://schemas.microsoft.com/office/drawing/2014/main" id="{CC8DF133-3F00-B492-86F4-9E66D8176F7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20059" y="1056411"/>
            <a:ext cx="504000" cy="504000"/>
          </a:xfrm>
          <a:prstGeom prst="rect">
            <a:avLst/>
          </a:prstGeom>
        </p:spPr>
      </p:pic>
      <p:pic>
        <p:nvPicPr>
          <p:cNvPr id="12" name="Grafik 11" descr="Abzeichen mit einfarbiger Füllung">
            <a:extLst>
              <a:ext uri="{FF2B5EF4-FFF2-40B4-BE49-F238E27FC236}">
                <a16:creationId xmlns:a16="http://schemas.microsoft.com/office/drawing/2014/main" id="{49158F65-FB37-BDA6-387E-EA911397E0F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20059" y="3979786"/>
            <a:ext cx="504000" cy="504000"/>
          </a:xfrm>
          <a:prstGeom prst="rect">
            <a:avLst/>
          </a:prstGeom>
        </p:spPr>
      </p:pic>
      <p:pic>
        <p:nvPicPr>
          <p:cNvPr id="13" name="Grafik 12" descr="Marke 3 mit einfarbiger Füllung">
            <a:extLst>
              <a:ext uri="{FF2B5EF4-FFF2-40B4-BE49-F238E27FC236}">
                <a16:creationId xmlns:a16="http://schemas.microsoft.com/office/drawing/2014/main" id="{B1C554E4-1B9F-1BAC-C192-DF1EBD3CE88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03927" y="1049628"/>
            <a:ext cx="504000" cy="504000"/>
          </a:xfrm>
          <a:prstGeom prst="rect">
            <a:avLst/>
          </a:prstGeom>
        </p:spPr>
      </p:pic>
      <p:pic>
        <p:nvPicPr>
          <p:cNvPr id="14" name="Grafik 13" descr="Marke 4 mit einfarbiger Füllung">
            <a:extLst>
              <a:ext uri="{FF2B5EF4-FFF2-40B4-BE49-F238E27FC236}">
                <a16:creationId xmlns:a16="http://schemas.microsoft.com/office/drawing/2014/main" id="{CA5CAF58-E511-B80F-E65C-9D5403BB26C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03927" y="3967263"/>
            <a:ext cx="504000" cy="504000"/>
          </a:xfrm>
          <a:prstGeom prst="rect">
            <a:avLst/>
          </a:prstGeom>
        </p:spPr>
      </p:pic>
      <p:sp>
        <p:nvSpPr>
          <p:cNvPr id="15" name="Textfeld 14">
            <a:extLst>
              <a:ext uri="{FF2B5EF4-FFF2-40B4-BE49-F238E27FC236}">
                <a16:creationId xmlns:a16="http://schemas.microsoft.com/office/drawing/2014/main" id="{744C9A66-6B6E-7DEB-220C-07C111FE950E}"/>
              </a:ext>
            </a:extLst>
          </p:cNvPr>
          <p:cNvSpPr txBox="1"/>
          <p:nvPr userDrawn="1"/>
        </p:nvSpPr>
        <p:spPr>
          <a:xfrm>
            <a:off x="5975816" y="1713771"/>
            <a:ext cx="648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>
                <a:solidFill>
                  <a:schemeClr val="bg1"/>
                </a:solidFill>
                <a:latin typeface="Arial"/>
                <a:cs typeface="Arial"/>
                <a:sym typeface="Wingdings" panose="05000000000000000000" pitchFamily="2" charset="2"/>
              </a:rPr>
              <a:t>LOB</a:t>
            </a:r>
            <a:endParaRPr lang="de-CH" sz="1200" dirty="0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3D24E5C6-02E1-4B2D-F0BE-67F108755653}"/>
              </a:ext>
            </a:extLst>
          </p:cNvPr>
          <p:cNvSpPr txBox="1"/>
          <p:nvPr userDrawn="1"/>
        </p:nvSpPr>
        <p:spPr>
          <a:xfrm>
            <a:off x="8859007" y="1711094"/>
            <a:ext cx="648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>
                <a:solidFill>
                  <a:schemeClr val="bg1"/>
                </a:solidFill>
                <a:latin typeface="Arial"/>
                <a:cs typeface="Arial"/>
                <a:sym typeface="Wingdings" panose="05000000000000000000" pitchFamily="2" charset="2"/>
              </a:rPr>
              <a:t>LOB</a:t>
            </a:r>
            <a:endParaRPr lang="de-CH" sz="1200" dirty="0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AB8F55EA-424E-A95B-F5F4-398DB606DE79}"/>
              </a:ext>
            </a:extLst>
          </p:cNvPr>
          <p:cNvSpPr txBox="1"/>
          <p:nvPr userDrawn="1"/>
        </p:nvSpPr>
        <p:spPr>
          <a:xfrm>
            <a:off x="5977794" y="4666564"/>
            <a:ext cx="648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>
                <a:solidFill>
                  <a:schemeClr val="bg1"/>
                </a:solidFill>
                <a:latin typeface="Arial"/>
                <a:cs typeface="Arial"/>
                <a:sym typeface="Wingdings" panose="05000000000000000000" pitchFamily="2" charset="2"/>
              </a:rPr>
              <a:t>LOB</a:t>
            </a:r>
            <a:endParaRPr lang="de-CH" sz="1200" dirty="0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2091AD35-F95E-FDF5-8305-680D1B840FD8}"/>
              </a:ext>
            </a:extLst>
          </p:cNvPr>
          <p:cNvSpPr txBox="1"/>
          <p:nvPr userDrawn="1"/>
        </p:nvSpPr>
        <p:spPr>
          <a:xfrm>
            <a:off x="8868359" y="4663887"/>
            <a:ext cx="648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>
                <a:solidFill>
                  <a:schemeClr val="bg1"/>
                </a:solidFill>
                <a:latin typeface="Arial"/>
                <a:cs typeface="Arial"/>
                <a:sym typeface="Wingdings" panose="05000000000000000000" pitchFamily="2" charset="2"/>
              </a:rPr>
              <a:t>LOB</a:t>
            </a:r>
            <a:endParaRPr lang="de-CH" sz="1200" dirty="0"/>
          </a:p>
        </p:txBody>
      </p:sp>
      <p:pic>
        <p:nvPicPr>
          <p:cNvPr id="20" name="Inhaltsplatzhalter 8">
            <a:extLst>
              <a:ext uri="{FF2B5EF4-FFF2-40B4-BE49-F238E27FC236}">
                <a16:creationId xmlns:a16="http://schemas.microsoft.com/office/drawing/2014/main" id="{018DED8F-A444-667D-FC7D-198D463DB5B2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3654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ukunftsstarke Gemeinschaft_Bech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68CBBA5D-EEC1-4F14-A8AB-D5F590EBDB37}"/>
              </a:ext>
            </a:extLst>
          </p:cNvPr>
          <p:cNvSpPr txBox="1">
            <a:spLocks/>
          </p:cNvSpPr>
          <p:nvPr userDrawn="1"/>
        </p:nvSpPr>
        <p:spPr>
          <a:xfrm>
            <a:off x="838200" y="365125"/>
            <a:ext cx="972378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de-CH"/>
              <a:t>Zukunftsstarke Gemeinschaft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E8607D1C-D143-4E8B-8688-DD29E5693D4E}"/>
              </a:ext>
            </a:extLst>
          </p:cNvPr>
          <p:cNvSpPr txBox="1"/>
          <p:nvPr userDrawn="1"/>
        </p:nvSpPr>
        <p:spPr>
          <a:xfrm>
            <a:off x="838200" y="1379621"/>
            <a:ext cx="6934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CH">
                <a:latin typeface="Arial" panose="020B0604020202020204" pitchFamily="34" charset="0"/>
                <a:cs typeface="Arial" panose="020B0604020202020204" pitchFamily="34" charset="0"/>
              </a:rPr>
              <a:t>Tochtergesellschaft von Bechtle AG – seit Januar 2018</a:t>
            </a:r>
          </a:p>
          <a:p>
            <a:endParaRPr lang="de-CH"/>
          </a:p>
        </p:txBody>
      </p:sp>
      <p:sp>
        <p:nvSpPr>
          <p:cNvPr id="26" name="Rechteck: abgerundete Ecken 25">
            <a:extLst>
              <a:ext uri="{FF2B5EF4-FFF2-40B4-BE49-F238E27FC236}">
                <a16:creationId xmlns:a16="http://schemas.microsoft.com/office/drawing/2014/main" id="{0D150BB2-636B-4FE4-A999-EC24E8A2B6F4}"/>
              </a:ext>
            </a:extLst>
          </p:cNvPr>
          <p:cNvSpPr/>
          <p:nvPr userDrawn="1"/>
        </p:nvSpPr>
        <p:spPr>
          <a:xfrm>
            <a:off x="838200" y="2152655"/>
            <a:ext cx="5220000" cy="3420000"/>
          </a:xfrm>
          <a:prstGeom prst="roundRect">
            <a:avLst/>
          </a:prstGeom>
          <a:solidFill>
            <a:srgbClr val="3C6CE8">
              <a:alpha val="99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endParaRPr lang="de-CH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7CFD9E67-A9A6-4611-B425-99EFDF61F9EF}"/>
              </a:ext>
            </a:extLst>
          </p:cNvPr>
          <p:cNvSpPr txBox="1"/>
          <p:nvPr userDrawn="1"/>
        </p:nvSpPr>
        <p:spPr>
          <a:xfrm>
            <a:off x="1271581" y="3182618"/>
            <a:ext cx="4327113" cy="1896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de-CH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Die Bechtle AG ist mit 12’000 Mitarbeitenden in Deutschland, Österreich und der Schweiz aktiv und zählt mit E-Commerce-Gesellschaften in 14 Ländern zu den führenden </a:t>
            </a:r>
            <a:br>
              <a:rPr lang="de-CH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CH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IT-Unternehmen in Europa. 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ED6CC329-227B-4310-8A25-0C350A275903}"/>
              </a:ext>
            </a:extLst>
          </p:cNvPr>
          <p:cNvSpPr txBox="1"/>
          <p:nvPr userDrawn="1"/>
        </p:nvSpPr>
        <p:spPr>
          <a:xfrm>
            <a:off x="1271582" y="2626498"/>
            <a:ext cx="4464548" cy="404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de-CH" sz="2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Ein Teil von Bechtle – unser Vorteil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B1E8C089-0BE4-44C1-BD26-6FEA4DEE0869}"/>
              </a:ext>
            </a:extLst>
          </p:cNvPr>
          <p:cNvSpPr txBox="1"/>
          <p:nvPr userDrawn="1"/>
        </p:nvSpPr>
        <p:spPr>
          <a:xfrm>
            <a:off x="7110261" y="4858260"/>
            <a:ext cx="4006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>
                <a:latin typeface="Arial" panose="020B0604020202020204" pitchFamily="34" charset="0"/>
                <a:ea typeface="Merriweather Light" charset="0"/>
                <a:cs typeface="Arial" panose="020B0604020202020204" pitchFamily="34" charset="0"/>
              </a:rPr>
              <a:t>Direkter Zugang zu </a:t>
            </a:r>
            <a:r>
              <a:rPr lang="de-DE" b="1">
                <a:latin typeface="Arial" panose="020B0604020202020204" pitchFamily="34" charset="0"/>
                <a:ea typeface="Merriweather Light" charset="0"/>
                <a:cs typeface="Arial" panose="020B0604020202020204" pitchFamily="34" charset="0"/>
              </a:rPr>
              <a:t>Microsoft</a:t>
            </a:r>
            <a:r>
              <a:rPr lang="de-DE">
                <a:latin typeface="Arial" panose="020B0604020202020204" pitchFamily="34" charset="0"/>
                <a:ea typeface="Merriweather Light" charset="0"/>
                <a:cs typeface="Arial" panose="020B0604020202020204" pitchFamily="34" charset="0"/>
              </a:rPr>
              <a:t>  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77E6C7DA-B106-49B8-ACA6-BD73A6CD86E0}"/>
              </a:ext>
            </a:extLst>
          </p:cNvPr>
          <p:cNvSpPr txBox="1"/>
          <p:nvPr userDrawn="1"/>
        </p:nvSpPr>
        <p:spPr>
          <a:xfrm>
            <a:off x="7110261" y="2438112"/>
            <a:ext cx="45202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>
                <a:latin typeface="Arial" panose="020B0604020202020204" pitchFamily="34" charset="0"/>
                <a:ea typeface="Merriweather Light" charset="0"/>
                <a:cs typeface="Arial" panose="020B0604020202020204" pitchFamily="34" charset="0"/>
              </a:rPr>
              <a:t>Umfassender</a:t>
            </a:r>
            <a:r>
              <a:rPr lang="de-DE" b="1">
                <a:latin typeface="Arial" panose="020B0604020202020204" pitchFamily="34" charset="0"/>
                <a:ea typeface="Merriweather Light" charset="0"/>
                <a:cs typeface="Arial" panose="020B0604020202020204" pitchFamily="34" charset="0"/>
              </a:rPr>
              <a:t> Ressourcenpool</a:t>
            </a:r>
            <a:r>
              <a:rPr lang="de-DE">
                <a:latin typeface="Arial" panose="020B0604020202020204" pitchFamily="34" charset="0"/>
                <a:ea typeface="Merriweather Light" charset="0"/>
                <a:cs typeface="Arial" panose="020B0604020202020204" pitchFamily="34" charset="0"/>
              </a:rPr>
              <a:t> an Fachspezialisten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18438583-44C3-4DE2-AAB4-2B43538B33E7}"/>
              </a:ext>
            </a:extLst>
          </p:cNvPr>
          <p:cNvSpPr txBox="1"/>
          <p:nvPr userDrawn="1"/>
        </p:nvSpPr>
        <p:spPr>
          <a:xfrm>
            <a:off x="7110261" y="3648186"/>
            <a:ext cx="53575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>
                <a:latin typeface="Arial" panose="020B0604020202020204" pitchFamily="34" charset="0"/>
                <a:ea typeface="Merriweather Light" charset="0"/>
                <a:cs typeface="Arial" panose="020B0604020202020204" pitchFamily="34" charset="0"/>
              </a:rPr>
              <a:t>Wir agieren </a:t>
            </a:r>
            <a:r>
              <a:rPr lang="de-DE" b="1">
                <a:latin typeface="Arial" panose="020B0604020202020204" pitchFamily="34" charset="0"/>
                <a:ea typeface="Merriweather Light" charset="0"/>
                <a:cs typeface="Arial" panose="020B0604020202020204" pitchFamily="34" charset="0"/>
              </a:rPr>
              <a:t>eigenständig </a:t>
            </a:r>
            <a:r>
              <a:rPr lang="de-DE">
                <a:latin typeface="Arial" panose="020B0604020202020204" pitchFamily="34" charset="0"/>
                <a:ea typeface="Merriweather Light" charset="0"/>
                <a:cs typeface="Arial" panose="020B0604020202020204" pitchFamily="34" charset="0"/>
              </a:rPr>
              <a:t>als </a:t>
            </a:r>
          </a:p>
          <a:p>
            <a:r>
              <a:rPr lang="de-DE">
                <a:latin typeface="Arial" panose="020B0604020202020204" pitchFamily="34" charset="0"/>
                <a:ea typeface="Merriweather Light" charset="0"/>
                <a:cs typeface="Arial" panose="020B0604020202020204" pitchFamily="34" charset="0"/>
              </a:rPr>
              <a:t>KMU in der Gruppe</a:t>
            </a:r>
          </a:p>
        </p:txBody>
      </p:sp>
      <p:pic>
        <p:nvPicPr>
          <p:cNvPr id="34" name="Grafik 33">
            <a:extLst>
              <a:ext uri="{FF2B5EF4-FFF2-40B4-BE49-F238E27FC236}">
                <a16:creationId xmlns:a16="http://schemas.microsoft.com/office/drawing/2014/main" id="{6DD704ED-92FD-4CA2-A9A3-64E2844375C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91582" y="2544443"/>
            <a:ext cx="563478" cy="540000"/>
          </a:xfrm>
          <a:prstGeom prst="rect">
            <a:avLst/>
          </a:prstGeom>
        </p:spPr>
      </p:pic>
      <p:pic>
        <p:nvPicPr>
          <p:cNvPr id="35" name="Grafik 34">
            <a:extLst>
              <a:ext uri="{FF2B5EF4-FFF2-40B4-BE49-F238E27FC236}">
                <a16:creationId xmlns:a16="http://schemas.microsoft.com/office/drawing/2014/main" id="{6A229188-FC56-4D1C-B897-0E77E105217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90902" y="3738445"/>
            <a:ext cx="563478" cy="540000"/>
          </a:xfrm>
          <a:prstGeom prst="rect">
            <a:avLst/>
          </a:prstGeom>
        </p:spPr>
      </p:pic>
      <p:pic>
        <p:nvPicPr>
          <p:cNvPr id="36" name="Grafik 35">
            <a:extLst>
              <a:ext uri="{FF2B5EF4-FFF2-40B4-BE49-F238E27FC236}">
                <a16:creationId xmlns:a16="http://schemas.microsoft.com/office/drawing/2014/main" id="{89B681AA-0CB4-4C75-8FFF-0523E36299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90902" y="4826689"/>
            <a:ext cx="516522" cy="540000"/>
          </a:xfrm>
          <a:prstGeom prst="rect">
            <a:avLst/>
          </a:prstGeom>
        </p:spPr>
      </p:pic>
      <p:pic>
        <p:nvPicPr>
          <p:cNvPr id="15" name="Inhaltsplatzhalter 8">
            <a:extLst>
              <a:ext uri="{FF2B5EF4-FFF2-40B4-BE49-F238E27FC236}">
                <a16:creationId xmlns:a16="http://schemas.microsoft.com/office/drawing/2014/main" id="{46194A26-65DD-2B8F-AFED-912C3836751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  <p:sp>
        <p:nvSpPr>
          <p:cNvPr id="16" name="Rechteck 15">
            <a:extLst>
              <a:ext uri="{FF2B5EF4-FFF2-40B4-BE49-F238E27FC236}">
                <a16:creationId xmlns:a16="http://schemas.microsoft.com/office/drawing/2014/main" id="{B76382EE-0672-0555-9CD6-E90AF454EB9B}"/>
              </a:ext>
            </a:extLst>
          </p:cNvPr>
          <p:cNvSpPr/>
          <p:nvPr userDrawn="1"/>
        </p:nvSpPr>
        <p:spPr>
          <a:xfrm>
            <a:off x="0" y="6680100"/>
            <a:ext cx="12192000" cy="180000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5619922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ösungsportfol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nhaltsplatzhalter 8">
            <a:extLst>
              <a:ext uri="{FF2B5EF4-FFF2-40B4-BE49-F238E27FC236}">
                <a16:creationId xmlns:a16="http://schemas.microsoft.com/office/drawing/2014/main" id="{46194A26-65DD-2B8F-AFED-912C383675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  <p:sp>
        <p:nvSpPr>
          <p:cNvPr id="16" name="Rechteck 15">
            <a:extLst>
              <a:ext uri="{FF2B5EF4-FFF2-40B4-BE49-F238E27FC236}">
                <a16:creationId xmlns:a16="http://schemas.microsoft.com/office/drawing/2014/main" id="{B76382EE-0672-0555-9CD6-E90AF454EB9B}"/>
              </a:ext>
            </a:extLst>
          </p:cNvPr>
          <p:cNvSpPr/>
          <p:nvPr userDrawn="1"/>
        </p:nvSpPr>
        <p:spPr>
          <a:xfrm>
            <a:off x="0" y="6680100"/>
            <a:ext cx="12192000" cy="180000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790A82BF-D485-5C37-5E53-290348755D2A}"/>
              </a:ext>
            </a:extLst>
          </p:cNvPr>
          <p:cNvSpPr/>
          <p:nvPr userDrawn="1"/>
        </p:nvSpPr>
        <p:spPr>
          <a:xfrm>
            <a:off x="452586" y="2909701"/>
            <a:ext cx="4858949" cy="1008465"/>
          </a:xfrm>
          <a:prstGeom prst="round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1A2C1CFC-811E-420E-AC65-C54B19C907D3}"/>
              </a:ext>
            </a:extLst>
          </p:cNvPr>
          <p:cNvSpPr txBox="1">
            <a:spLocks/>
          </p:cNvSpPr>
          <p:nvPr userDrawn="1"/>
        </p:nvSpPr>
        <p:spPr>
          <a:xfrm>
            <a:off x="416780" y="2065357"/>
            <a:ext cx="6200691" cy="10084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de-CH" sz="4400" dirty="0">
                <a:solidFill>
                  <a:srgbClr val="3C6CE8"/>
                </a:solidFill>
              </a:rPr>
              <a:t>Aproda</a:t>
            </a:r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F8548FA7-F16E-66BE-5DC7-114604EBC4B6}"/>
              </a:ext>
            </a:extLst>
          </p:cNvPr>
          <p:cNvSpPr txBox="1">
            <a:spLocks/>
          </p:cNvSpPr>
          <p:nvPr userDrawn="1"/>
        </p:nvSpPr>
        <p:spPr>
          <a:xfrm>
            <a:off x="486356" y="2569121"/>
            <a:ext cx="5029323" cy="16306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CH" sz="4400" dirty="0">
                <a:solidFill>
                  <a:schemeClr val="bg1"/>
                </a:solidFill>
              </a:rPr>
              <a:t>Lösungsportfolio</a:t>
            </a:r>
          </a:p>
        </p:txBody>
      </p:sp>
      <p:pic>
        <p:nvPicPr>
          <p:cNvPr id="3" name="Grafik 2" descr="Ein Bild, das Text, Screenshot, Kreis enthält.&#10;&#10;Automatisch generierte Beschreibung">
            <a:extLst>
              <a:ext uri="{FF2B5EF4-FFF2-40B4-BE49-F238E27FC236}">
                <a16:creationId xmlns:a16="http://schemas.microsoft.com/office/drawing/2014/main" id="{F9D6B934-7B9E-6845-34DC-963DEBEB542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515679" y="533663"/>
            <a:ext cx="5790674" cy="5790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7371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uproje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nhaltsplatzhalter 8">
            <a:extLst>
              <a:ext uri="{FF2B5EF4-FFF2-40B4-BE49-F238E27FC236}">
                <a16:creationId xmlns:a16="http://schemas.microsoft.com/office/drawing/2014/main" id="{46194A26-65DD-2B8F-AFED-912C383675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  <p:sp>
        <p:nvSpPr>
          <p:cNvPr id="16" name="Rechteck 15">
            <a:extLst>
              <a:ext uri="{FF2B5EF4-FFF2-40B4-BE49-F238E27FC236}">
                <a16:creationId xmlns:a16="http://schemas.microsoft.com/office/drawing/2014/main" id="{B76382EE-0672-0555-9CD6-E90AF454EB9B}"/>
              </a:ext>
            </a:extLst>
          </p:cNvPr>
          <p:cNvSpPr/>
          <p:nvPr userDrawn="1"/>
        </p:nvSpPr>
        <p:spPr>
          <a:xfrm>
            <a:off x="0" y="6680100"/>
            <a:ext cx="12192000" cy="180000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8" name="Rechteck: abgerundete Ecken 17">
            <a:extLst>
              <a:ext uri="{FF2B5EF4-FFF2-40B4-BE49-F238E27FC236}">
                <a16:creationId xmlns:a16="http://schemas.microsoft.com/office/drawing/2014/main" id="{D72DDDBB-C3FC-3C40-6026-066190A28A81}"/>
              </a:ext>
            </a:extLst>
          </p:cNvPr>
          <p:cNvSpPr/>
          <p:nvPr userDrawn="1"/>
        </p:nvSpPr>
        <p:spPr>
          <a:xfrm>
            <a:off x="938464" y="1665466"/>
            <a:ext cx="1628775" cy="2759743"/>
          </a:xfrm>
          <a:prstGeom prst="roundRect">
            <a:avLst/>
          </a:prstGeom>
          <a:solidFill>
            <a:schemeClr val="bg1"/>
          </a:solidFill>
          <a:ln w="41275">
            <a:solidFill>
              <a:srgbClr val="3C6CE8"/>
            </a:solidFill>
            <a:prstDash val="lgDash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7D0FAFBE-4FC2-9287-93A8-FD58363B5AFB}"/>
              </a:ext>
            </a:extLst>
          </p:cNvPr>
          <p:cNvSpPr/>
          <p:nvPr userDrawn="1"/>
        </p:nvSpPr>
        <p:spPr>
          <a:xfrm>
            <a:off x="2891594" y="1665466"/>
            <a:ext cx="2619375" cy="2759744"/>
          </a:xfrm>
          <a:prstGeom prst="roundRect">
            <a:avLst/>
          </a:prstGeom>
          <a:solidFill>
            <a:srgbClr val="3C6CE8"/>
          </a:solidFill>
          <a:ln>
            <a:solidFill>
              <a:srgbClr val="3C6C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0" name="Rechteck: abgerundete Ecken 19">
            <a:extLst>
              <a:ext uri="{FF2B5EF4-FFF2-40B4-BE49-F238E27FC236}">
                <a16:creationId xmlns:a16="http://schemas.microsoft.com/office/drawing/2014/main" id="{489B4B2D-506E-6BD1-1FF4-34A6557A1219}"/>
              </a:ext>
            </a:extLst>
          </p:cNvPr>
          <p:cNvSpPr/>
          <p:nvPr userDrawn="1"/>
        </p:nvSpPr>
        <p:spPr>
          <a:xfrm>
            <a:off x="5863393" y="1665465"/>
            <a:ext cx="5462333" cy="2759744"/>
          </a:xfrm>
          <a:prstGeom prst="roundRect">
            <a:avLst/>
          </a:prstGeom>
          <a:solidFill>
            <a:srgbClr val="3C6CE8"/>
          </a:solidFill>
          <a:ln>
            <a:solidFill>
              <a:srgbClr val="3C6C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77C47FDE-3CBA-1252-100E-BDCEBC980BED}"/>
              </a:ext>
            </a:extLst>
          </p:cNvPr>
          <p:cNvCxnSpPr>
            <a:cxnSpLocks/>
          </p:cNvCxnSpPr>
          <p:nvPr userDrawn="1"/>
        </p:nvCxnSpPr>
        <p:spPr>
          <a:xfrm>
            <a:off x="3082094" y="4646792"/>
            <a:ext cx="2428875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1D26AFA6-7A56-13F7-556A-7B9F1401F524}"/>
              </a:ext>
            </a:extLst>
          </p:cNvPr>
          <p:cNvCxnSpPr>
            <a:cxnSpLocks/>
          </p:cNvCxnSpPr>
          <p:nvPr userDrawn="1"/>
        </p:nvCxnSpPr>
        <p:spPr>
          <a:xfrm>
            <a:off x="5863394" y="4646792"/>
            <a:ext cx="5338006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Pfeil: Chevron 22">
            <a:extLst>
              <a:ext uri="{FF2B5EF4-FFF2-40B4-BE49-F238E27FC236}">
                <a16:creationId xmlns:a16="http://schemas.microsoft.com/office/drawing/2014/main" id="{E26FB2DF-05A3-EE79-E36D-86D85BA90BF7}"/>
              </a:ext>
            </a:extLst>
          </p:cNvPr>
          <p:cNvSpPr/>
          <p:nvPr userDrawn="1"/>
        </p:nvSpPr>
        <p:spPr>
          <a:xfrm>
            <a:off x="838200" y="5285229"/>
            <a:ext cx="4887482" cy="392948"/>
          </a:xfrm>
          <a:prstGeom prst="chevron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>
              <a:solidFill>
                <a:schemeClr val="tx1"/>
              </a:solidFill>
            </a:endParaRP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F8EF7184-28AF-6F99-8B0D-1FC7D3B14760}"/>
              </a:ext>
            </a:extLst>
          </p:cNvPr>
          <p:cNvSpPr txBox="1"/>
          <p:nvPr userDrawn="1"/>
        </p:nvSpPr>
        <p:spPr>
          <a:xfrm>
            <a:off x="3224969" y="1828545"/>
            <a:ext cx="1628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b="1">
                <a:solidFill>
                  <a:schemeClr val="bg1"/>
                </a:solidFill>
              </a:rPr>
              <a:t>Prototyp</a:t>
            </a:r>
            <a:r>
              <a:rPr lang="de-CH"/>
              <a:t> 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531E5525-A950-2549-574E-8F0E9DE950D1}"/>
              </a:ext>
            </a:extLst>
          </p:cNvPr>
          <p:cNvSpPr txBox="1"/>
          <p:nvPr userDrawn="1"/>
        </p:nvSpPr>
        <p:spPr>
          <a:xfrm>
            <a:off x="3467235" y="2266695"/>
            <a:ext cx="1543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>
                <a:solidFill>
                  <a:schemeClr val="bg1"/>
                </a:solidFill>
              </a:rPr>
              <a:t>Funktionen</a:t>
            </a:r>
            <a:endParaRPr lang="de-CH"/>
          </a:p>
        </p:txBody>
      </p:sp>
      <p:pic>
        <p:nvPicPr>
          <p:cNvPr id="27" name="Grafik 26" descr="Chevronpfeile Silhouette">
            <a:extLst>
              <a:ext uri="{FF2B5EF4-FFF2-40B4-BE49-F238E27FC236}">
                <a16:creationId xmlns:a16="http://schemas.microsoft.com/office/drawing/2014/main" id="{41B8770E-78F1-8309-66B0-50AAC67C7E6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82094" y="2274940"/>
            <a:ext cx="369332" cy="369332"/>
          </a:xfrm>
          <a:prstGeom prst="rect">
            <a:avLst/>
          </a:prstGeom>
        </p:spPr>
      </p:pic>
      <p:sp>
        <p:nvSpPr>
          <p:cNvPr id="28" name="Textfeld 27">
            <a:extLst>
              <a:ext uri="{FF2B5EF4-FFF2-40B4-BE49-F238E27FC236}">
                <a16:creationId xmlns:a16="http://schemas.microsoft.com/office/drawing/2014/main" id="{1783087B-6522-0EE3-EA96-8159A37D0FC3}"/>
              </a:ext>
            </a:extLst>
          </p:cNvPr>
          <p:cNvSpPr txBox="1"/>
          <p:nvPr userDrawn="1"/>
        </p:nvSpPr>
        <p:spPr>
          <a:xfrm>
            <a:off x="3467235" y="2666313"/>
            <a:ext cx="1543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>
                <a:solidFill>
                  <a:schemeClr val="bg1"/>
                </a:solidFill>
              </a:rPr>
              <a:t>Daten Set </a:t>
            </a:r>
            <a:endParaRPr lang="de-CH"/>
          </a:p>
        </p:txBody>
      </p:sp>
      <p:pic>
        <p:nvPicPr>
          <p:cNvPr id="37" name="Grafik 36" descr="Chevronpfeile Silhouette">
            <a:extLst>
              <a:ext uri="{FF2B5EF4-FFF2-40B4-BE49-F238E27FC236}">
                <a16:creationId xmlns:a16="http://schemas.microsoft.com/office/drawing/2014/main" id="{ED044AB0-5827-5F2F-5962-89807418C60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82094" y="2674558"/>
            <a:ext cx="369332" cy="369332"/>
          </a:xfrm>
          <a:prstGeom prst="rect">
            <a:avLst/>
          </a:prstGeom>
        </p:spPr>
      </p:pic>
      <p:sp>
        <p:nvSpPr>
          <p:cNvPr id="38" name="Textfeld 37">
            <a:extLst>
              <a:ext uri="{FF2B5EF4-FFF2-40B4-BE49-F238E27FC236}">
                <a16:creationId xmlns:a16="http://schemas.microsoft.com/office/drawing/2014/main" id="{F76AC4F5-B4A2-5359-2EE3-1BEDD813DEBC}"/>
              </a:ext>
            </a:extLst>
          </p:cNvPr>
          <p:cNvSpPr txBox="1"/>
          <p:nvPr userDrawn="1"/>
        </p:nvSpPr>
        <p:spPr>
          <a:xfrm>
            <a:off x="3467235" y="3065931"/>
            <a:ext cx="1543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>
                <a:solidFill>
                  <a:schemeClr val="bg1"/>
                </a:solidFill>
              </a:rPr>
              <a:t>Belege</a:t>
            </a:r>
            <a:r>
              <a:rPr lang="de-CH"/>
              <a:t> </a:t>
            </a:r>
          </a:p>
        </p:txBody>
      </p:sp>
      <p:pic>
        <p:nvPicPr>
          <p:cNvPr id="39" name="Grafik 38" descr="Chevronpfeile Silhouette">
            <a:extLst>
              <a:ext uri="{FF2B5EF4-FFF2-40B4-BE49-F238E27FC236}">
                <a16:creationId xmlns:a16="http://schemas.microsoft.com/office/drawing/2014/main" id="{2C20BBC0-CDE7-2247-CAD2-D3C72A41A9E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82094" y="3074176"/>
            <a:ext cx="369332" cy="369332"/>
          </a:xfrm>
          <a:prstGeom prst="rect">
            <a:avLst/>
          </a:prstGeom>
        </p:spPr>
      </p:pic>
      <p:sp>
        <p:nvSpPr>
          <p:cNvPr id="40" name="Textfeld 39">
            <a:extLst>
              <a:ext uri="{FF2B5EF4-FFF2-40B4-BE49-F238E27FC236}">
                <a16:creationId xmlns:a16="http://schemas.microsoft.com/office/drawing/2014/main" id="{579E34E3-F59D-6689-5896-3D8577DBFCCD}"/>
              </a:ext>
            </a:extLst>
          </p:cNvPr>
          <p:cNvSpPr txBox="1"/>
          <p:nvPr userDrawn="1"/>
        </p:nvSpPr>
        <p:spPr>
          <a:xfrm>
            <a:off x="3467235" y="3460818"/>
            <a:ext cx="1543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>
                <a:solidFill>
                  <a:schemeClr val="bg1"/>
                </a:solidFill>
              </a:rPr>
              <a:t>Reports / BI</a:t>
            </a:r>
            <a:endParaRPr lang="de-CH"/>
          </a:p>
        </p:txBody>
      </p:sp>
      <p:pic>
        <p:nvPicPr>
          <p:cNvPr id="41" name="Grafik 40" descr="Chevronpfeile Silhouette">
            <a:extLst>
              <a:ext uri="{FF2B5EF4-FFF2-40B4-BE49-F238E27FC236}">
                <a16:creationId xmlns:a16="http://schemas.microsoft.com/office/drawing/2014/main" id="{A2441726-255D-992B-F8B0-33A4E3BA460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82094" y="3469063"/>
            <a:ext cx="369332" cy="369332"/>
          </a:xfrm>
          <a:prstGeom prst="rect">
            <a:avLst/>
          </a:prstGeom>
        </p:spPr>
      </p:pic>
      <p:sp>
        <p:nvSpPr>
          <p:cNvPr id="42" name="Textfeld 41">
            <a:extLst>
              <a:ext uri="{FF2B5EF4-FFF2-40B4-BE49-F238E27FC236}">
                <a16:creationId xmlns:a16="http://schemas.microsoft.com/office/drawing/2014/main" id="{74CA003F-278E-FD53-EBD6-D605E305D394}"/>
              </a:ext>
            </a:extLst>
          </p:cNvPr>
          <p:cNvSpPr txBox="1"/>
          <p:nvPr userDrawn="1"/>
        </p:nvSpPr>
        <p:spPr>
          <a:xfrm>
            <a:off x="1033410" y="2197877"/>
            <a:ext cx="154305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/>
              <a:t>Prozess Definition </a:t>
            </a:r>
          </a:p>
          <a:p>
            <a:endParaRPr lang="de-CH"/>
          </a:p>
          <a:p>
            <a:r>
              <a:rPr lang="de-CH"/>
              <a:t>Daten Definition</a:t>
            </a:r>
          </a:p>
          <a:p>
            <a:endParaRPr lang="de-CH"/>
          </a:p>
          <a:p>
            <a:r>
              <a:rPr lang="de-CH"/>
              <a:t>Schnittstellen</a:t>
            </a:r>
          </a:p>
          <a:p>
            <a:endParaRPr lang="de-CH"/>
          </a:p>
          <a:p>
            <a:endParaRPr lang="de-CH"/>
          </a:p>
          <a:p>
            <a:endParaRPr lang="de-CH"/>
          </a:p>
        </p:txBody>
      </p:sp>
      <p:graphicFrame>
        <p:nvGraphicFramePr>
          <p:cNvPr id="43" name="Tabelle 34">
            <a:extLst>
              <a:ext uri="{FF2B5EF4-FFF2-40B4-BE49-F238E27FC236}">
                <a16:creationId xmlns:a16="http://schemas.microsoft.com/office/drawing/2014/main" id="{D48ADE4C-5067-EDF1-2115-2D07945002D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748687112"/>
              </p:ext>
            </p:extLst>
          </p:nvPr>
        </p:nvGraphicFramePr>
        <p:xfrm>
          <a:off x="6224336" y="1827040"/>
          <a:ext cx="4708358" cy="2314840"/>
        </p:xfrm>
        <a:graphic>
          <a:graphicData uri="http://schemas.openxmlformats.org/drawingml/2006/table">
            <a:tbl>
              <a:tblPr firstRow="1" bandRow="1">
                <a:effectLst/>
                <a:tableStyleId>{2D5ABB26-0587-4C30-8999-92F81FD0307C}</a:tableStyleId>
              </a:tblPr>
              <a:tblGrid>
                <a:gridCol w="2925562">
                  <a:extLst>
                    <a:ext uri="{9D8B030D-6E8A-4147-A177-3AD203B41FA5}">
                      <a16:colId xmlns:a16="http://schemas.microsoft.com/office/drawing/2014/main" val="2950714158"/>
                    </a:ext>
                  </a:extLst>
                </a:gridCol>
                <a:gridCol w="874257">
                  <a:extLst>
                    <a:ext uri="{9D8B030D-6E8A-4147-A177-3AD203B41FA5}">
                      <a16:colId xmlns:a16="http://schemas.microsoft.com/office/drawing/2014/main" val="2015855701"/>
                    </a:ext>
                  </a:extLst>
                </a:gridCol>
                <a:gridCol w="908539">
                  <a:extLst>
                    <a:ext uri="{9D8B030D-6E8A-4147-A177-3AD203B41FA5}">
                      <a16:colId xmlns:a16="http://schemas.microsoft.com/office/drawing/2014/main" val="18611695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CH" sz="10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Tasks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Prio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Aufwand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997173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Funktion Preisfindung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27h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2846631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Vereinfachungen VK Auftrag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4603776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Beleganpassungen RG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12h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276229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Nachladen Daten Artikel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83934407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Schnittstelle Web nachimplementieren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38h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3897150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de-CH" sz="10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….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….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….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55942806"/>
                  </a:ext>
                </a:extLst>
              </a:tr>
            </a:tbl>
          </a:graphicData>
        </a:graphic>
      </p:graphicFrame>
      <p:sp>
        <p:nvSpPr>
          <p:cNvPr id="44" name="Textfeld 43">
            <a:extLst>
              <a:ext uri="{FF2B5EF4-FFF2-40B4-BE49-F238E27FC236}">
                <a16:creationId xmlns:a16="http://schemas.microsoft.com/office/drawing/2014/main" id="{0CEB8CC0-98C6-9FC1-24E2-C80FB4FCF97E}"/>
              </a:ext>
            </a:extLst>
          </p:cNvPr>
          <p:cNvSpPr txBox="1"/>
          <p:nvPr userDrawn="1"/>
        </p:nvSpPr>
        <p:spPr>
          <a:xfrm>
            <a:off x="1195889" y="5334286"/>
            <a:ext cx="3184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1200" i="1">
                <a:solidFill>
                  <a:schemeClr val="bg1"/>
                </a:solidFill>
              </a:rPr>
              <a:t>P1: Spezifikation und </a:t>
            </a:r>
            <a:r>
              <a:rPr lang="en-US" sz="1200" i="1">
                <a:solidFill>
                  <a:schemeClr val="bg1"/>
                </a:solidFill>
              </a:rPr>
              <a:t>Build</a:t>
            </a:r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54215C2C-A8B4-E08A-C7E3-B716A63A58E2}"/>
              </a:ext>
            </a:extLst>
          </p:cNvPr>
          <p:cNvSpPr txBox="1"/>
          <p:nvPr userDrawn="1"/>
        </p:nvSpPr>
        <p:spPr>
          <a:xfrm>
            <a:off x="3082094" y="4698546"/>
            <a:ext cx="24288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1200" i="1">
                <a:solidFill>
                  <a:schemeClr val="bg1">
                    <a:lumMod val="50000"/>
                  </a:schemeClr>
                </a:solidFill>
              </a:rPr>
              <a:t>Fixpreis</a:t>
            </a:r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712ED4BD-42DA-B929-3638-8632701E0442}"/>
              </a:ext>
            </a:extLst>
          </p:cNvPr>
          <p:cNvSpPr txBox="1"/>
          <p:nvPr userDrawn="1"/>
        </p:nvSpPr>
        <p:spPr>
          <a:xfrm>
            <a:off x="5863394" y="4702054"/>
            <a:ext cx="53380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1200" i="1">
                <a:solidFill>
                  <a:schemeClr val="bg1">
                    <a:lumMod val="50000"/>
                  </a:schemeClr>
                </a:solidFill>
              </a:rPr>
              <a:t>Kontigent an Arbeitstagen für Finalisierung</a:t>
            </a:r>
          </a:p>
        </p:txBody>
      </p:sp>
      <p:cxnSp>
        <p:nvCxnSpPr>
          <p:cNvPr id="47" name="Gerade Verbindung mit Pfeil 7">
            <a:extLst>
              <a:ext uri="{FF2B5EF4-FFF2-40B4-BE49-F238E27FC236}">
                <a16:creationId xmlns:a16="http://schemas.microsoft.com/office/drawing/2014/main" id="{59DFD12E-08DA-3885-2AAC-D7A7241F6E75}"/>
              </a:ext>
            </a:extLst>
          </p:cNvPr>
          <p:cNvCxnSpPr>
            <a:cxnSpLocks/>
          </p:cNvCxnSpPr>
          <p:nvPr userDrawn="1"/>
        </p:nvCxnSpPr>
        <p:spPr>
          <a:xfrm>
            <a:off x="1128045" y="4646792"/>
            <a:ext cx="1239140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feld 35">
            <a:extLst>
              <a:ext uri="{FF2B5EF4-FFF2-40B4-BE49-F238E27FC236}">
                <a16:creationId xmlns:a16="http://schemas.microsoft.com/office/drawing/2014/main" id="{716641BA-E2DC-0D1E-52C6-7F501DD06B7B}"/>
              </a:ext>
            </a:extLst>
          </p:cNvPr>
          <p:cNvSpPr txBox="1"/>
          <p:nvPr userDrawn="1"/>
        </p:nvSpPr>
        <p:spPr>
          <a:xfrm>
            <a:off x="533177" y="4695850"/>
            <a:ext cx="24288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1200" i="1">
                <a:solidFill>
                  <a:schemeClr val="bg1">
                    <a:lumMod val="50000"/>
                  </a:schemeClr>
                </a:solidFill>
              </a:rPr>
              <a:t>Fixpreis</a:t>
            </a:r>
          </a:p>
        </p:txBody>
      </p:sp>
      <p:sp>
        <p:nvSpPr>
          <p:cNvPr id="49" name="Pfeil: Chevron 10">
            <a:extLst>
              <a:ext uri="{FF2B5EF4-FFF2-40B4-BE49-F238E27FC236}">
                <a16:creationId xmlns:a16="http://schemas.microsoft.com/office/drawing/2014/main" id="{C69399F5-5E6C-FF0D-7313-871EC7B5BE9A}"/>
              </a:ext>
            </a:extLst>
          </p:cNvPr>
          <p:cNvSpPr/>
          <p:nvPr userDrawn="1"/>
        </p:nvSpPr>
        <p:spPr>
          <a:xfrm>
            <a:off x="5947160" y="5292431"/>
            <a:ext cx="5462333" cy="392948"/>
          </a:xfrm>
          <a:prstGeom prst="chevron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>
              <a:solidFill>
                <a:schemeClr val="tx1"/>
              </a:solidFill>
            </a:endParaRPr>
          </a:p>
        </p:txBody>
      </p:sp>
      <p:sp>
        <p:nvSpPr>
          <p:cNvPr id="50" name="Ellipse 49">
            <a:extLst>
              <a:ext uri="{FF2B5EF4-FFF2-40B4-BE49-F238E27FC236}">
                <a16:creationId xmlns:a16="http://schemas.microsoft.com/office/drawing/2014/main" id="{9C662FAA-5AF8-467A-33A3-1CCF664228D7}"/>
              </a:ext>
            </a:extLst>
          </p:cNvPr>
          <p:cNvSpPr/>
          <p:nvPr userDrawn="1"/>
        </p:nvSpPr>
        <p:spPr>
          <a:xfrm>
            <a:off x="9972809" y="5031703"/>
            <a:ext cx="900000" cy="900000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 b="1"/>
              <a:t>Going Live</a:t>
            </a:r>
          </a:p>
        </p:txBody>
      </p:sp>
      <p:sp>
        <p:nvSpPr>
          <p:cNvPr id="51" name="Textfeld 34">
            <a:extLst>
              <a:ext uri="{FF2B5EF4-FFF2-40B4-BE49-F238E27FC236}">
                <a16:creationId xmlns:a16="http://schemas.microsoft.com/office/drawing/2014/main" id="{8B6C668C-40E0-CE09-A5CE-EAEAAB079883}"/>
              </a:ext>
            </a:extLst>
          </p:cNvPr>
          <p:cNvSpPr txBox="1"/>
          <p:nvPr userDrawn="1"/>
        </p:nvSpPr>
        <p:spPr>
          <a:xfrm>
            <a:off x="6625242" y="5350405"/>
            <a:ext cx="35303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1200" i="1">
                <a:solidFill>
                  <a:schemeClr val="bg1"/>
                </a:solidFill>
              </a:rPr>
              <a:t>P2: Schulung, Finalisierung und Optimierung</a:t>
            </a:r>
          </a:p>
        </p:txBody>
      </p:sp>
      <p:sp>
        <p:nvSpPr>
          <p:cNvPr id="52" name="Rectangle 12">
            <a:extLst>
              <a:ext uri="{FF2B5EF4-FFF2-40B4-BE49-F238E27FC236}">
                <a16:creationId xmlns:a16="http://schemas.microsoft.com/office/drawing/2014/main" id="{0FC52AC2-FC6A-3DA7-6633-27DC45F85073}"/>
              </a:ext>
            </a:extLst>
          </p:cNvPr>
          <p:cNvSpPr/>
          <p:nvPr userDrawn="1"/>
        </p:nvSpPr>
        <p:spPr>
          <a:xfrm>
            <a:off x="1128045" y="5838995"/>
            <a:ext cx="4007977" cy="2977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Ca. 40% der Projektzeit / ca. 50% des Budget</a:t>
            </a:r>
          </a:p>
          <a:p>
            <a:pPr algn="ctr"/>
            <a:r>
              <a:rPr lang="de-CH" sz="1200">
                <a:solidFill>
                  <a:schemeClr val="tx1"/>
                </a:solidFill>
              </a:rPr>
              <a:t>Lösung  ~80% fertig gebaut</a:t>
            </a:r>
            <a:endParaRPr lang="LID4096" sz="1200">
              <a:solidFill>
                <a:schemeClr val="tx1"/>
              </a:solidFill>
            </a:endParaRPr>
          </a:p>
        </p:txBody>
      </p:sp>
      <p:sp>
        <p:nvSpPr>
          <p:cNvPr id="53" name="Rectangle 38">
            <a:extLst>
              <a:ext uri="{FF2B5EF4-FFF2-40B4-BE49-F238E27FC236}">
                <a16:creationId xmlns:a16="http://schemas.microsoft.com/office/drawing/2014/main" id="{9D86B8B1-9C13-3A4F-237D-9C5CC6E09B4D}"/>
              </a:ext>
            </a:extLst>
          </p:cNvPr>
          <p:cNvSpPr/>
          <p:nvPr userDrawn="1"/>
        </p:nvSpPr>
        <p:spPr>
          <a:xfrm>
            <a:off x="5947160" y="5838995"/>
            <a:ext cx="4861518" cy="2977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Ca. 60% der Projektzeit / ca. 50% es Budgets</a:t>
            </a:r>
            <a:endParaRPr lang="LID4096" sz="1200">
              <a:solidFill>
                <a:schemeClr val="tx1"/>
              </a:solidFill>
            </a:endParaRPr>
          </a:p>
        </p:txBody>
      </p:sp>
      <p:sp>
        <p:nvSpPr>
          <p:cNvPr id="54" name="Textfeld 14">
            <a:extLst>
              <a:ext uri="{FF2B5EF4-FFF2-40B4-BE49-F238E27FC236}">
                <a16:creationId xmlns:a16="http://schemas.microsoft.com/office/drawing/2014/main" id="{94E74933-7905-9FBE-EC1A-B18F0B484280}"/>
              </a:ext>
            </a:extLst>
          </p:cNvPr>
          <p:cNvSpPr txBox="1"/>
          <p:nvPr userDrawn="1"/>
        </p:nvSpPr>
        <p:spPr>
          <a:xfrm>
            <a:off x="995980" y="1828545"/>
            <a:ext cx="1628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b="1"/>
              <a:t>Spezifikation</a:t>
            </a:r>
            <a:r>
              <a:rPr lang="de-CH"/>
              <a:t> 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07B7BDDB-51DA-72CD-9068-9358A96EFE20}"/>
              </a:ext>
            </a:extLst>
          </p:cNvPr>
          <p:cNvSpPr txBox="1"/>
          <p:nvPr userDrawn="1"/>
        </p:nvSpPr>
        <p:spPr>
          <a:xfrm>
            <a:off x="846988" y="647587"/>
            <a:ext cx="10515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4000" b="1"/>
              <a:t>Unsere Antwort für Neuprojekte</a:t>
            </a:r>
            <a:endParaRPr lang="de-DE" sz="4000" b="1"/>
          </a:p>
        </p:txBody>
      </p:sp>
    </p:spTree>
    <p:extLst>
      <p:ext uri="{BB962C8B-B14F-4D97-AF65-F5344CB8AC3E}">
        <p14:creationId xmlns:p14="http://schemas.microsoft.com/office/powerpoint/2010/main" val="38802688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Übersicht Business Cen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nhaltsplatzhalter 8">
            <a:extLst>
              <a:ext uri="{FF2B5EF4-FFF2-40B4-BE49-F238E27FC236}">
                <a16:creationId xmlns:a16="http://schemas.microsoft.com/office/drawing/2014/main" id="{E9D53DF6-28BF-1F76-86B0-35036C8862E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  <p:sp>
        <p:nvSpPr>
          <p:cNvPr id="23" name="Rechteck 22">
            <a:extLst>
              <a:ext uri="{FF2B5EF4-FFF2-40B4-BE49-F238E27FC236}">
                <a16:creationId xmlns:a16="http://schemas.microsoft.com/office/drawing/2014/main" id="{3AC58A76-8B57-C5A8-DD19-694270B429DC}"/>
              </a:ext>
            </a:extLst>
          </p:cNvPr>
          <p:cNvSpPr/>
          <p:nvPr userDrawn="1"/>
        </p:nvSpPr>
        <p:spPr>
          <a:xfrm>
            <a:off x="0" y="6680100"/>
            <a:ext cx="12192000" cy="180000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ECBEFDF4-5E48-D8F2-A8C1-52BC947DF5CA}"/>
              </a:ext>
            </a:extLst>
          </p:cNvPr>
          <p:cNvSpPr/>
          <p:nvPr userDrawn="1"/>
        </p:nvSpPr>
        <p:spPr>
          <a:xfrm>
            <a:off x="838200" y="1876324"/>
            <a:ext cx="3048100" cy="63955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8000" rtlCol="0" anchor="ctr"/>
          <a:lstStyle/>
          <a:p>
            <a:r>
              <a:rPr lang="de-CH" sz="1400"/>
              <a:t>Finanzen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99A185C2-7458-4270-22CF-FF7A2ABCEFEB}"/>
              </a:ext>
            </a:extLst>
          </p:cNvPr>
          <p:cNvSpPr/>
          <p:nvPr userDrawn="1"/>
        </p:nvSpPr>
        <p:spPr>
          <a:xfrm>
            <a:off x="838200" y="2597244"/>
            <a:ext cx="3048100" cy="63955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8000" rtlCol="0" anchor="ctr"/>
          <a:lstStyle/>
          <a:p>
            <a:r>
              <a:rPr lang="de-CH" sz="1400"/>
              <a:t>Verkauf &amp; Service</a:t>
            </a: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F072D6BF-E869-7706-6F03-50EE6F541EC8}"/>
              </a:ext>
            </a:extLst>
          </p:cNvPr>
          <p:cNvSpPr/>
          <p:nvPr userDrawn="1"/>
        </p:nvSpPr>
        <p:spPr>
          <a:xfrm>
            <a:off x="838200" y="3318164"/>
            <a:ext cx="3048100" cy="63955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8000" rtlCol="0" anchor="ctr"/>
          <a:lstStyle/>
          <a:p>
            <a:r>
              <a:rPr lang="de-CH" sz="1400"/>
              <a:t>Projekte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C67B8D4C-A1F9-B95B-DA21-F7E16A485877}"/>
              </a:ext>
            </a:extLst>
          </p:cNvPr>
          <p:cNvSpPr/>
          <p:nvPr userDrawn="1"/>
        </p:nvSpPr>
        <p:spPr>
          <a:xfrm>
            <a:off x="838200" y="4039084"/>
            <a:ext cx="3048100" cy="63955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8000" rtlCol="0" anchor="ctr"/>
          <a:lstStyle/>
          <a:p>
            <a:r>
              <a:rPr lang="de-CH" sz="1400"/>
              <a:t>Supply Chain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50861291-6D25-BB8B-FE72-11E07772FA88}"/>
              </a:ext>
            </a:extLst>
          </p:cNvPr>
          <p:cNvSpPr/>
          <p:nvPr userDrawn="1"/>
        </p:nvSpPr>
        <p:spPr>
          <a:xfrm>
            <a:off x="838200" y="4760004"/>
            <a:ext cx="3048100" cy="63955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8000" rtlCol="0" anchor="ctr"/>
          <a:lstStyle/>
          <a:p>
            <a:r>
              <a:rPr lang="de-CH" sz="1400" err="1"/>
              <a:t>Operations</a:t>
            </a:r>
            <a:endParaRPr lang="de-CH" sz="1400"/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293B3BBD-B955-A950-1597-5428ED55AB4B}"/>
              </a:ext>
            </a:extLst>
          </p:cNvPr>
          <p:cNvSpPr/>
          <p:nvPr userDrawn="1"/>
        </p:nvSpPr>
        <p:spPr>
          <a:xfrm>
            <a:off x="838200" y="5479239"/>
            <a:ext cx="3048100" cy="63955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8000" rtlCol="0" anchor="ctr"/>
          <a:lstStyle/>
          <a:p>
            <a:r>
              <a:rPr lang="de-CH" sz="1400"/>
              <a:t>Reporting &amp; Analyse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E23D4A8B-556A-554C-C3D9-C5C2B2E82B7D}"/>
              </a:ext>
            </a:extLst>
          </p:cNvPr>
          <p:cNvSpPr/>
          <p:nvPr userDrawn="1"/>
        </p:nvSpPr>
        <p:spPr>
          <a:xfrm>
            <a:off x="3977935" y="1876324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Finanz-Buchhaltung</a:t>
            </a:r>
            <a:br>
              <a:rPr lang="de-CH" sz="1200">
                <a:solidFill>
                  <a:schemeClr val="tx1"/>
                </a:solidFill>
              </a:rPr>
            </a:br>
            <a:r>
              <a:rPr lang="de-CH" sz="1200">
                <a:solidFill>
                  <a:schemeClr val="tx1"/>
                </a:solidFill>
              </a:rPr>
              <a:t>inkl. Nebenbücher</a:t>
            </a: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89A01D66-13B0-E0D0-EC5C-77E47AFDA929}"/>
              </a:ext>
            </a:extLst>
          </p:cNvPr>
          <p:cNvSpPr/>
          <p:nvPr userDrawn="1"/>
        </p:nvSpPr>
        <p:spPr>
          <a:xfrm>
            <a:off x="5912332" y="1866851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Bank- &amp; Liquiditäts-Management</a:t>
            </a: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EEE4AD82-760B-9A30-D232-60CFE77EC5D4}"/>
              </a:ext>
            </a:extLst>
          </p:cNvPr>
          <p:cNvSpPr/>
          <p:nvPr userDrawn="1"/>
        </p:nvSpPr>
        <p:spPr>
          <a:xfrm>
            <a:off x="7846729" y="1876323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Anlagen-Buchhaltung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D1AD610C-E023-1EF2-99C2-542D5E91A597}"/>
              </a:ext>
            </a:extLst>
          </p:cNvPr>
          <p:cNvSpPr/>
          <p:nvPr userDrawn="1"/>
        </p:nvSpPr>
        <p:spPr>
          <a:xfrm>
            <a:off x="9771294" y="1866851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Kostenrechnung</a:t>
            </a: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AE69A687-4692-9975-FBB5-3BE274740EF4}"/>
              </a:ext>
            </a:extLst>
          </p:cNvPr>
          <p:cNvSpPr/>
          <p:nvPr userDrawn="1"/>
        </p:nvSpPr>
        <p:spPr>
          <a:xfrm>
            <a:off x="3977935" y="2597244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CRM</a:t>
            </a: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FAF9A508-48B3-328A-016C-3F69F328D1F2}"/>
              </a:ext>
            </a:extLst>
          </p:cNvPr>
          <p:cNvSpPr/>
          <p:nvPr userDrawn="1"/>
        </p:nvSpPr>
        <p:spPr>
          <a:xfrm>
            <a:off x="5912332" y="2597244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Angebots-Verwaltung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C8DA4BF0-1A4E-7EE4-BA22-2343E35D5729}"/>
              </a:ext>
            </a:extLst>
          </p:cNvPr>
          <p:cNvSpPr/>
          <p:nvPr userDrawn="1"/>
        </p:nvSpPr>
        <p:spPr>
          <a:xfrm>
            <a:off x="7846729" y="2598406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Auftrags-Abwicklung</a:t>
            </a:r>
            <a:br>
              <a:rPr lang="de-CH" sz="1200">
                <a:solidFill>
                  <a:schemeClr val="tx1"/>
                </a:solidFill>
              </a:rPr>
            </a:br>
            <a:r>
              <a:rPr lang="de-CH" sz="1200">
                <a:solidFill>
                  <a:schemeClr val="tx1"/>
                </a:solidFill>
              </a:rPr>
              <a:t>(</a:t>
            </a:r>
            <a:r>
              <a:rPr lang="de-CH" sz="1200" err="1">
                <a:solidFill>
                  <a:schemeClr val="tx1"/>
                </a:solidFill>
              </a:rPr>
              <a:t>order</a:t>
            </a:r>
            <a:r>
              <a:rPr lang="de-CH" sz="1200">
                <a:solidFill>
                  <a:schemeClr val="tx1"/>
                </a:solidFill>
              </a:rPr>
              <a:t> to cash)</a:t>
            </a: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946EFF4A-0D69-708F-A8C0-BD8A0E9243CD}"/>
              </a:ext>
            </a:extLst>
          </p:cNvPr>
          <p:cNvSpPr/>
          <p:nvPr userDrawn="1"/>
        </p:nvSpPr>
        <p:spPr>
          <a:xfrm>
            <a:off x="9771294" y="2598406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Vertrags-Management</a:t>
            </a: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3AF7E5D6-4A08-C538-BB55-AB0688EF8631}"/>
              </a:ext>
            </a:extLst>
          </p:cNvPr>
          <p:cNvSpPr/>
          <p:nvPr userDrawn="1"/>
        </p:nvSpPr>
        <p:spPr>
          <a:xfrm>
            <a:off x="3977935" y="3318163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Budgetierung &amp;</a:t>
            </a:r>
            <a:br>
              <a:rPr lang="de-CH" sz="1200">
                <a:solidFill>
                  <a:schemeClr val="tx1"/>
                </a:solidFill>
              </a:rPr>
            </a:br>
            <a:r>
              <a:rPr lang="de-CH" sz="1200">
                <a:solidFill>
                  <a:schemeClr val="tx1"/>
                </a:solidFill>
              </a:rPr>
              <a:t>Planung</a:t>
            </a: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18BA958A-7FD9-E768-C67D-4E27D7FF8435}"/>
              </a:ext>
            </a:extLst>
          </p:cNvPr>
          <p:cNvSpPr/>
          <p:nvPr userDrawn="1"/>
        </p:nvSpPr>
        <p:spPr>
          <a:xfrm>
            <a:off x="3977935" y="4039084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Artikel- &amp; Material-Verwaltung</a:t>
            </a:r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38BE354E-9379-683E-4763-764723F12DA6}"/>
              </a:ext>
            </a:extLst>
          </p:cNvPr>
          <p:cNvSpPr/>
          <p:nvPr userDrawn="1"/>
        </p:nvSpPr>
        <p:spPr>
          <a:xfrm>
            <a:off x="3977935" y="4760004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Produktions-Kapazitäten</a:t>
            </a:r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61386745-C9BE-43AE-3762-219F5F6F45CD}"/>
              </a:ext>
            </a:extLst>
          </p:cNvPr>
          <p:cNvSpPr/>
          <p:nvPr userDrawn="1"/>
        </p:nvSpPr>
        <p:spPr>
          <a:xfrm>
            <a:off x="3977935" y="5479239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Absatz- &amp; Kunden-Analysen</a:t>
            </a:r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40D2A059-24C2-BFE8-F8B2-7CFD4D8E0A1E}"/>
              </a:ext>
            </a:extLst>
          </p:cNvPr>
          <p:cNvSpPr/>
          <p:nvPr userDrawn="1"/>
        </p:nvSpPr>
        <p:spPr>
          <a:xfrm>
            <a:off x="5912332" y="3318163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Ressourcen-Verwaltung</a:t>
            </a:r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5C3872EA-469F-A724-F11C-B32ECEE6FBEE}"/>
              </a:ext>
            </a:extLst>
          </p:cNvPr>
          <p:cNvSpPr/>
          <p:nvPr userDrawn="1"/>
        </p:nvSpPr>
        <p:spPr>
          <a:xfrm>
            <a:off x="5912332" y="4039084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Lager-Verwaltung</a:t>
            </a:r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2E468169-DE76-35E4-88F7-3933F0A2E1EA}"/>
              </a:ext>
            </a:extLst>
          </p:cNvPr>
          <p:cNvSpPr/>
          <p:nvPr userDrawn="1"/>
        </p:nvSpPr>
        <p:spPr>
          <a:xfrm>
            <a:off x="5912332" y="4760004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Absatz- &amp; Produktions-Planung</a:t>
            </a:r>
          </a:p>
        </p:txBody>
      </p:sp>
      <p:sp>
        <p:nvSpPr>
          <p:cNvPr id="46" name="Rechteck 45">
            <a:extLst>
              <a:ext uri="{FF2B5EF4-FFF2-40B4-BE49-F238E27FC236}">
                <a16:creationId xmlns:a16="http://schemas.microsoft.com/office/drawing/2014/main" id="{898F8C5C-C1BE-1D0A-A114-4B21B13B4117}"/>
              </a:ext>
            </a:extLst>
          </p:cNvPr>
          <p:cNvSpPr/>
          <p:nvPr userDrawn="1"/>
        </p:nvSpPr>
        <p:spPr>
          <a:xfrm>
            <a:off x="5912332" y="5479239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AdHoc-Auswertungen</a:t>
            </a: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687C0F12-11E9-F2FC-5574-C97218673367}"/>
              </a:ext>
            </a:extLst>
          </p:cNvPr>
          <p:cNvSpPr/>
          <p:nvPr userDrawn="1"/>
        </p:nvSpPr>
        <p:spPr>
          <a:xfrm>
            <a:off x="7846729" y="3318163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Leistungserfassung</a:t>
            </a:r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CB2CDF85-A27D-B8FD-F09C-BFA094C892C7}"/>
              </a:ext>
            </a:extLst>
          </p:cNvPr>
          <p:cNvSpPr/>
          <p:nvPr userDrawn="1"/>
        </p:nvSpPr>
        <p:spPr>
          <a:xfrm>
            <a:off x="7846729" y="4039084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Lieferanten- und Beschaffungs-Mgmt.</a:t>
            </a:r>
          </a:p>
        </p:txBody>
      </p:sp>
      <p:sp>
        <p:nvSpPr>
          <p:cNvPr id="49" name="Rechteck 48">
            <a:extLst>
              <a:ext uri="{FF2B5EF4-FFF2-40B4-BE49-F238E27FC236}">
                <a16:creationId xmlns:a16="http://schemas.microsoft.com/office/drawing/2014/main" id="{9D6B30C9-3985-5AAE-64DE-D80DB5B58761}"/>
              </a:ext>
            </a:extLst>
          </p:cNvPr>
          <p:cNvSpPr/>
          <p:nvPr userDrawn="1"/>
        </p:nvSpPr>
        <p:spPr>
          <a:xfrm>
            <a:off x="7846729" y="4760004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Fertigungs-Abwicklung</a:t>
            </a:r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EC363B09-48B7-52D9-A6AA-C448B3133012}"/>
              </a:ext>
            </a:extLst>
          </p:cNvPr>
          <p:cNvSpPr/>
          <p:nvPr userDrawn="1"/>
        </p:nvSpPr>
        <p:spPr>
          <a:xfrm>
            <a:off x="7846729" y="5479239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Dashboards</a:t>
            </a:r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1EB6F7EF-964A-7FDC-454F-91EBFF5A94A6}"/>
              </a:ext>
            </a:extLst>
          </p:cNvPr>
          <p:cNvSpPr/>
          <p:nvPr userDrawn="1"/>
        </p:nvSpPr>
        <p:spPr>
          <a:xfrm>
            <a:off x="9781126" y="3318164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Projekt-Controlling &amp;</a:t>
            </a:r>
            <a:br>
              <a:rPr lang="de-CH" sz="1200">
                <a:solidFill>
                  <a:schemeClr val="tx1"/>
                </a:solidFill>
              </a:rPr>
            </a:br>
            <a:r>
              <a:rPr lang="de-CH" sz="1200">
                <a:solidFill>
                  <a:schemeClr val="tx1"/>
                </a:solidFill>
              </a:rPr>
              <a:t>WIP</a:t>
            </a:r>
          </a:p>
        </p:txBody>
      </p:sp>
      <p:sp>
        <p:nvSpPr>
          <p:cNvPr id="52" name="Rechteck 51">
            <a:extLst>
              <a:ext uri="{FF2B5EF4-FFF2-40B4-BE49-F238E27FC236}">
                <a16:creationId xmlns:a16="http://schemas.microsoft.com/office/drawing/2014/main" id="{85FEFBDC-0E2C-D19E-0556-628FEBBC06C7}"/>
              </a:ext>
            </a:extLst>
          </p:cNvPr>
          <p:cNvSpPr/>
          <p:nvPr userDrawn="1"/>
        </p:nvSpPr>
        <p:spPr>
          <a:xfrm>
            <a:off x="9781126" y="4039085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Lagerbewertung und Optimierung</a:t>
            </a:r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1F6E7A76-B152-C0B5-E14C-1A9F66AE1C4C}"/>
              </a:ext>
            </a:extLst>
          </p:cNvPr>
          <p:cNvSpPr/>
          <p:nvPr userDrawn="1"/>
        </p:nvSpPr>
        <p:spPr>
          <a:xfrm>
            <a:off x="9781126" y="4760005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Lagerprozess-Steuerung</a:t>
            </a:r>
          </a:p>
        </p:txBody>
      </p:sp>
      <p:sp>
        <p:nvSpPr>
          <p:cNvPr id="54" name="Rechteck 53">
            <a:extLst>
              <a:ext uri="{FF2B5EF4-FFF2-40B4-BE49-F238E27FC236}">
                <a16:creationId xmlns:a16="http://schemas.microsoft.com/office/drawing/2014/main" id="{A41A2ABD-AA6A-B7E5-479D-0C7D2FCBCB76}"/>
              </a:ext>
            </a:extLst>
          </p:cNvPr>
          <p:cNvSpPr/>
          <p:nvPr userDrawn="1"/>
        </p:nvSpPr>
        <p:spPr>
          <a:xfrm>
            <a:off x="9781126" y="5479240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Obligatorisches Reporting</a:t>
            </a:r>
          </a:p>
        </p:txBody>
      </p:sp>
      <p:pic>
        <p:nvPicPr>
          <p:cNvPr id="55" name="Grafik 54" descr="Münzen mit einfarbiger Füllung">
            <a:extLst>
              <a:ext uri="{FF2B5EF4-FFF2-40B4-BE49-F238E27FC236}">
                <a16:creationId xmlns:a16="http://schemas.microsoft.com/office/drawing/2014/main" id="{6B8C9723-1301-E963-9652-709AFFEFC0D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5394" y="1925875"/>
            <a:ext cx="540000" cy="540000"/>
          </a:xfrm>
          <a:prstGeom prst="rect">
            <a:avLst/>
          </a:prstGeom>
        </p:spPr>
      </p:pic>
      <p:pic>
        <p:nvPicPr>
          <p:cNvPr id="56" name="Grafik 55" descr="Aufwärtstrend mit einfarbiger Füllung">
            <a:extLst>
              <a:ext uri="{FF2B5EF4-FFF2-40B4-BE49-F238E27FC236}">
                <a16:creationId xmlns:a16="http://schemas.microsoft.com/office/drawing/2014/main" id="{ADA4189B-5DFE-67C0-D0DF-9E608281230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965" y="5493214"/>
            <a:ext cx="540000" cy="540000"/>
          </a:xfrm>
          <a:prstGeom prst="rect">
            <a:avLst/>
          </a:prstGeom>
        </p:spPr>
      </p:pic>
      <p:pic>
        <p:nvPicPr>
          <p:cNvPr id="57" name="Grafik 56" descr="Laden mit einfarbiger Füllung">
            <a:extLst>
              <a:ext uri="{FF2B5EF4-FFF2-40B4-BE49-F238E27FC236}">
                <a16:creationId xmlns:a16="http://schemas.microsoft.com/office/drawing/2014/main" id="{06A92ACF-EE2D-40CA-5988-64EE983792C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1153" y="2618470"/>
            <a:ext cx="551018" cy="551018"/>
          </a:xfrm>
          <a:prstGeom prst="rect">
            <a:avLst/>
          </a:prstGeom>
        </p:spPr>
      </p:pic>
      <p:pic>
        <p:nvPicPr>
          <p:cNvPr id="58" name="Grafik 57" descr="Klemmbrett gemischt mit einfarbiger Füllung">
            <a:extLst>
              <a:ext uri="{FF2B5EF4-FFF2-40B4-BE49-F238E27FC236}">
                <a16:creationId xmlns:a16="http://schemas.microsoft.com/office/drawing/2014/main" id="{720D05A9-D9A9-7E68-9055-8C2BC10DAA2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1850" y="3359584"/>
            <a:ext cx="553453" cy="553453"/>
          </a:xfrm>
          <a:prstGeom prst="rect">
            <a:avLst/>
          </a:prstGeom>
        </p:spPr>
      </p:pic>
      <p:pic>
        <p:nvPicPr>
          <p:cNvPr id="59" name="Grafik 58" descr="Roboterhand mit einfarbiger Füllung">
            <a:extLst>
              <a:ext uri="{FF2B5EF4-FFF2-40B4-BE49-F238E27FC236}">
                <a16:creationId xmlns:a16="http://schemas.microsoft.com/office/drawing/2014/main" id="{D2CAC3D6-2353-0318-5960-8A1EF3CA79C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1312" y="4760005"/>
            <a:ext cx="588163" cy="588163"/>
          </a:xfrm>
          <a:prstGeom prst="rect">
            <a:avLst/>
          </a:prstGeom>
        </p:spPr>
      </p:pic>
      <p:pic>
        <p:nvPicPr>
          <p:cNvPr id="60" name="Grafik 59" descr="Lager mit einfarbiger Füllung">
            <a:extLst>
              <a:ext uri="{FF2B5EF4-FFF2-40B4-BE49-F238E27FC236}">
                <a16:creationId xmlns:a16="http://schemas.microsoft.com/office/drawing/2014/main" id="{CD8A2ABE-97CD-5FBC-B411-957B0E1CE5E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29929" y="4103826"/>
            <a:ext cx="510071" cy="510071"/>
          </a:xfrm>
          <a:prstGeom prst="rect">
            <a:avLst/>
          </a:prstGeom>
        </p:spPr>
      </p:pic>
      <p:sp>
        <p:nvSpPr>
          <p:cNvPr id="61" name="Textfeld 60">
            <a:extLst>
              <a:ext uri="{FF2B5EF4-FFF2-40B4-BE49-F238E27FC236}">
                <a16:creationId xmlns:a16="http://schemas.microsoft.com/office/drawing/2014/main" id="{12BF93B5-CF26-9EAC-0EE3-60B5AD710B0B}"/>
              </a:ext>
            </a:extLst>
          </p:cNvPr>
          <p:cNvSpPr txBox="1"/>
          <p:nvPr userDrawn="1"/>
        </p:nvSpPr>
        <p:spPr>
          <a:xfrm>
            <a:off x="846988" y="647587"/>
            <a:ext cx="10515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4000" b="1"/>
              <a:t>Dynamics Business Central als ERP</a:t>
            </a:r>
            <a:endParaRPr lang="de-DE" sz="4000" b="1"/>
          </a:p>
        </p:txBody>
      </p:sp>
    </p:spTree>
    <p:extLst>
      <p:ext uri="{BB962C8B-B14F-4D97-AF65-F5344CB8AC3E}">
        <p14:creationId xmlns:p14="http://schemas.microsoft.com/office/powerpoint/2010/main" val="4394722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870BE0-BE8A-434A-8222-3DB8A5DCC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8CBC3325-2E93-4304-9DDB-41B424720611}"/>
              </a:ext>
            </a:extLst>
          </p:cNvPr>
          <p:cNvSpPr/>
          <p:nvPr userDrawn="1"/>
        </p:nvSpPr>
        <p:spPr>
          <a:xfrm>
            <a:off x="838200" y="2152655"/>
            <a:ext cx="5220000" cy="3420000"/>
          </a:xfrm>
          <a:prstGeom prst="roundRect">
            <a:avLst/>
          </a:prstGeom>
          <a:solidFill>
            <a:srgbClr val="3C6CE8">
              <a:alpha val="99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endParaRPr lang="de-CH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16201D9D-38AE-4F12-84C8-19B6EB51DEE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26166" y="2385887"/>
            <a:ext cx="540000" cy="540000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0C6CA222-FBE7-447E-B92E-6B5FCCC483C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26166" y="3194732"/>
            <a:ext cx="540000" cy="540000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19CAA1C4-2DF0-4103-9C33-E9B075C7D49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26166" y="4003577"/>
            <a:ext cx="540000" cy="54000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26EF17B2-4F47-4F28-812A-44E8D6C17D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26166" y="4812422"/>
            <a:ext cx="540000" cy="540000"/>
          </a:xfrm>
          <a:prstGeom prst="rect">
            <a:avLst/>
          </a:prstGeom>
        </p:spPr>
      </p:pic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E6CA6F56-A83F-42DD-A1A8-30B89468DE9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7410558" y="2513265"/>
            <a:ext cx="3758984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None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Text hinzufügen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17" name="Inhaltsplatzhalter 2">
            <a:extLst>
              <a:ext uri="{FF2B5EF4-FFF2-40B4-BE49-F238E27FC236}">
                <a16:creationId xmlns:a16="http://schemas.microsoft.com/office/drawing/2014/main" id="{6AFE2F11-3DA4-491F-827B-714E490D3D1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410558" y="3335566"/>
            <a:ext cx="3758984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None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Text hinzufügen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CCC51CB5-078A-4427-B686-C47E67616168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7410558" y="4159019"/>
            <a:ext cx="3758984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None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Text hinzufügen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19" name="Inhaltsplatzhalter 2">
            <a:extLst>
              <a:ext uri="{FF2B5EF4-FFF2-40B4-BE49-F238E27FC236}">
                <a16:creationId xmlns:a16="http://schemas.microsoft.com/office/drawing/2014/main" id="{0FAC083C-F50E-4598-8D29-FA9945E0B11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410558" y="4983801"/>
            <a:ext cx="3758984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None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Text hinzufügen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21" name="Inhaltsplatzhalter 2">
            <a:extLst>
              <a:ext uri="{FF2B5EF4-FFF2-40B4-BE49-F238E27FC236}">
                <a16:creationId xmlns:a16="http://schemas.microsoft.com/office/drawing/2014/main" id="{CB102A6B-6B22-4C41-9EEA-4F6D2B06D37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271582" y="2592179"/>
            <a:ext cx="3758984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None/>
              <a:tabLst/>
              <a:defRPr lang="de-DE" sz="2200" b="1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buNone/>
              <a:defRPr lang="de-DE" sz="22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Text hinzufügen</a:t>
            </a:r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9F051876-ED06-43F3-B490-E5A2749F2CD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271582" y="3194732"/>
            <a:ext cx="3758984" cy="1956817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None/>
              <a:tabLst/>
              <a:defRPr lang="de-DE" sz="180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buNone/>
              <a:defRPr lang="de-DE" sz="22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Text hinzufügen</a:t>
            </a:r>
          </a:p>
        </p:txBody>
      </p:sp>
      <p:pic>
        <p:nvPicPr>
          <p:cNvPr id="20" name="Inhaltsplatzhalter 8">
            <a:extLst>
              <a:ext uri="{FF2B5EF4-FFF2-40B4-BE49-F238E27FC236}">
                <a16:creationId xmlns:a16="http://schemas.microsoft.com/office/drawing/2014/main" id="{E9D53DF6-28BF-1F76-86B0-35036C8862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  <p:sp>
        <p:nvSpPr>
          <p:cNvPr id="23" name="Rechteck 22">
            <a:extLst>
              <a:ext uri="{FF2B5EF4-FFF2-40B4-BE49-F238E27FC236}">
                <a16:creationId xmlns:a16="http://schemas.microsoft.com/office/drawing/2014/main" id="{3AC58A76-8B57-C5A8-DD19-694270B429DC}"/>
              </a:ext>
            </a:extLst>
          </p:cNvPr>
          <p:cNvSpPr/>
          <p:nvPr userDrawn="1"/>
        </p:nvSpPr>
        <p:spPr>
          <a:xfrm>
            <a:off x="0" y="6680100"/>
            <a:ext cx="12192000" cy="180000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51678110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da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2573DE9D-CC42-1596-D1B1-9B50B9C3425B}"/>
              </a:ext>
            </a:extLst>
          </p:cNvPr>
          <p:cNvSpPr/>
          <p:nvPr userDrawn="1"/>
        </p:nvSpPr>
        <p:spPr>
          <a:xfrm>
            <a:off x="0" y="4059252"/>
            <a:ext cx="12192000" cy="2042445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19" name="Grafik 18">
            <a:extLst>
              <a:ext uri="{FF2B5EF4-FFF2-40B4-BE49-F238E27FC236}">
                <a16:creationId xmlns:a16="http://schemas.microsoft.com/office/drawing/2014/main" id="{FE2D0342-DCDB-468A-83F4-173ECCCBA7C3}"/>
              </a:ext>
            </a:extLst>
          </p:cNvPr>
          <p:cNvPicPr/>
          <p:nvPr userDrawn="1"/>
        </p:nvPicPr>
        <p:blipFill rotWithShape="1">
          <a:blip r:embed="rId2">
            <a:alphaModFix amt="1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7" r="19529"/>
          <a:stretch/>
        </p:blipFill>
        <p:spPr bwMode="auto">
          <a:xfrm>
            <a:off x="-445077" y="-806220"/>
            <a:ext cx="10553700" cy="1061350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1" name="Inhaltsplatzhalter 2">
            <a:extLst>
              <a:ext uri="{FF2B5EF4-FFF2-40B4-BE49-F238E27FC236}">
                <a16:creationId xmlns:a16="http://schemas.microsoft.com/office/drawing/2014/main" id="{434B1A05-D9ED-4BA5-A97E-7478D9D4AB3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5514975" y="2043378"/>
            <a:ext cx="5893498" cy="416480"/>
          </a:xfrm>
        </p:spPr>
        <p:txBody>
          <a:bodyPr anchor="ctr"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None/>
              <a:tabLst/>
              <a:defRPr lang="de-DE" sz="2500" b="0" kern="1200" baseline="0" dirty="0" smtClean="0">
                <a:solidFill>
                  <a:schemeClr val="tx1"/>
                </a:solidFill>
                <a:latin typeface="+mj-lt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buNone/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Funktion</a:t>
            </a:r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0644825D-7967-4418-8ED0-512A02136E6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22647" y="1698805"/>
            <a:ext cx="5893498" cy="394208"/>
          </a:xfrm>
        </p:spPr>
        <p:txBody>
          <a:bodyPr anchor="ctr"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None/>
              <a:tabLst/>
              <a:defRPr lang="de-DE" sz="2500" b="1" kern="1200" baseline="0" dirty="0" smtClean="0">
                <a:solidFill>
                  <a:schemeClr val="tx1"/>
                </a:solidFill>
                <a:latin typeface="+mj-lt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buNone/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Vorname Nachname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28DA80E4-CFDE-4356-BEB6-E3B26190BE2C}"/>
              </a:ext>
            </a:extLst>
          </p:cNvPr>
          <p:cNvSpPr txBox="1"/>
          <p:nvPr userDrawn="1"/>
        </p:nvSpPr>
        <p:spPr>
          <a:xfrm>
            <a:off x="5514975" y="4261582"/>
            <a:ext cx="644945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Aproda AG</a:t>
            </a:r>
          </a:p>
          <a:p>
            <a:r>
              <a:rPr lang="de-CH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 Solutions </a:t>
            </a:r>
            <a:r>
              <a:rPr lang="de-CH" sz="1400" b="1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by</a:t>
            </a:r>
            <a:r>
              <a:rPr lang="de-CH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Bechtle</a:t>
            </a:r>
          </a:p>
          <a:p>
            <a:endParaRPr lang="de-CH" sz="14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CH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aproda.ch </a:t>
            </a:r>
            <a:endParaRPr lang="de-CH" sz="14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+41 58 200 10 10</a:t>
            </a:r>
          </a:p>
          <a:p>
            <a:endParaRPr lang="de-CH" sz="14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CH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Bern | Luzern | St. Gallen | Zürich</a:t>
            </a:r>
          </a:p>
        </p:txBody>
      </p:sp>
      <p:sp>
        <p:nvSpPr>
          <p:cNvPr id="26" name="Titel 1">
            <a:extLst>
              <a:ext uri="{FF2B5EF4-FFF2-40B4-BE49-F238E27FC236}">
                <a16:creationId xmlns:a16="http://schemas.microsoft.com/office/drawing/2014/main" id="{7039D44A-F6BD-49BA-9475-B4BE62C74F27}"/>
              </a:ext>
            </a:extLst>
          </p:cNvPr>
          <p:cNvSpPr txBox="1">
            <a:spLocks/>
          </p:cNvSpPr>
          <p:nvPr userDrawn="1"/>
        </p:nvSpPr>
        <p:spPr>
          <a:xfrm>
            <a:off x="5524500" y="392290"/>
            <a:ext cx="512445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de-DE"/>
              <a:t>Ihr Kontakt bei uns</a:t>
            </a:r>
            <a:endParaRPr lang="de-CH"/>
          </a:p>
        </p:txBody>
      </p:sp>
      <p:sp>
        <p:nvSpPr>
          <p:cNvPr id="29" name="Inhaltsplatzhalter 2">
            <a:extLst>
              <a:ext uri="{FF2B5EF4-FFF2-40B4-BE49-F238E27FC236}">
                <a16:creationId xmlns:a16="http://schemas.microsoft.com/office/drawing/2014/main" id="{B1391FC5-BF5F-43E6-9B2D-54FAAA6C505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524500" y="3157557"/>
            <a:ext cx="5893498" cy="416480"/>
          </a:xfrm>
        </p:spPr>
        <p:txBody>
          <a:bodyPr anchor="ctr"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None/>
              <a:tabLst/>
              <a:defRPr lang="de-DE" sz="2500" b="0" kern="1200" baseline="0" dirty="0" smtClean="0">
                <a:solidFill>
                  <a:schemeClr val="tx1"/>
                </a:solidFill>
                <a:latin typeface="+mj-lt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buNone/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+41 58 200 xx </a:t>
            </a:r>
            <a:r>
              <a:rPr lang="de-DE" err="1"/>
              <a:t>xx</a:t>
            </a:r>
            <a:endParaRPr lang="de-DE"/>
          </a:p>
        </p:txBody>
      </p:sp>
      <p:sp>
        <p:nvSpPr>
          <p:cNvPr id="30" name="Inhaltsplatzhalter 2">
            <a:extLst>
              <a:ext uri="{FF2B5EF4-FFF2-40B4-BE49-F238E27FC236}">
                <a16:creationId xmlns:a16="http://schemas.microsoft.com/office/drawing/2014/main" id="{8F5F6A79-4B10-49C7-B68D-5907A17B508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532172" y="2812984"/>
            <a:ext cx="5893498" cy="394208"/>
          </a:xfrm>
        </p:spPr>
        <p:txBody>
          <a:bodyPr anchor="ctr"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None/>
              <a:tabLst/>
              <a:defRPr lang="de-DE" sz="2500" b="0" kern="1200" baseline="0" dirty="0" smtClean="0">
                <a:solidFill>
                  <a:schemeClr val="tx1"/>
                </a:solidFill>
                <a:latin typeface="+mj-lt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buNone/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vorname.nachname@aproda.ch</a:t>
            </a:r>
          </a:p>
        </p:txBody>
      </p:sp>
    </p:spTree>
    <p:extLst>
      <p:ext uri="{BB962C8B-B14F-4D97-AF65-F5344CB8AC3E}">
        <p14:creationId xmlns:p14="http://schemas.microsoft.com/office/powerpoint/2010/main" val="242386049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2854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8" r:id="rId4"/>
    <p:sldLayoutId id="2147483674" r:id="rId5"/>
    <p:sldLayoutId id="2147483652" r:id="rId6"/>
    <p:sldLayoutId id="2147483663" r:id="rId7"/>
    <p:sldLayoutId id="2147483654" r:id="rId8"/>
    <p:sldLayoutId id="2147483655" r:id="rId9"/>
    <p:sldLayoutId id="2147483656" r:id="rId10"/>
    <p:sldLayoutId id="2147483671" r:id="rId11"/>
    <p:sldLayoutId id="2147483672" r:id="rId12"/>
    <p:sldLayoutId id="2147483678" r:id="rId13"/>
    <p:sldLayoutId id="2147483670" r:id="rId14"/>
    <p:sldLayoutId id="2147483677" r:id="rId15"/>
    <p:sldLayoutId id="2147483675" r:id="rId16"/>
    <p:sldLayoutId id="2147483676" r:id="rId17"/>
    <p:sldLayoutId id="2147483673" r:id="rId18"/>
    <p:sldLayoutId id="2147483666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A-ALDC &amp; BCQuality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r>
              <a:t>Theorie -&gt; Praxis: wo A-ALDC die Prinzipien umsetzt</a:t>
            </a:r>
          </a:p>
          <a:p>
            <a:r>
              <a:t>Aufbau &amp; Prozess von A-ALDC</a:t>
            </a:r>
          </a:p>
          <a:p>
            <a:r>
              <a:t>Agents im Ueberblick</a:t>
            </a:r>
          </a:p>
          <a:p>
            <a:r>
              <a:t>BCQuality: was, warum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/>
        </p:txBody>
      </p:sp>
      <p:sp>
        <p:nvSpPr>
          <p:cNvPr id="5" name="Content Placeholder 4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sp>
        <p:nvSpPr>
          <p:cNvPr id="6" name="Content Placeholder 5"/>
          <p:cNvSpPr>
            <a:spLocks noGrp="1"/>
          </p:cNvSpPr>
          <p:nvPr>
            <p:ph idx="14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Platzhalter: Architektur-Diagramm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Ende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Naechster Schritt: Format entscheiden, dann Inhalt fuellen.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-Design">
  <a:themeElements>
    <a:clrScheme name="Aproda AG">
      <a:dk1>
        <a:sysClr val="windowText" lastClr="000000"/>
      </a:dk1>
      <a:lt1>
        <a:sysClr val="window" lastClr="FFFFFF"/>
      </a:lt1>
      <a:dk2>
        <a:srgbClr val="3C6CE8"/>
      </a:dk2>
      <a:lt2>
        <a:srgbClr val="FFFFFF"/>
      </a:lt2>
      <a:accent1>
        <a:srgbClr val="CCECFF"/>
      </a:accent1>
      <a:accent2>
        <a:srgbClr val="99CCFF"/>
      </a:accent2>
      <a:accent3>
        <a:srgbClr val="6699FF"/>
      </a:accent3>
      <a:accent4>
        <a:srgbClr val="0000CC"/>
      </a:accent4>
      <a:accent5>
        <a:srgbClr val="003399"/>
      </a:accent5>
      <a:accent6>
        <a:srgbClr val="000066"/>
      </a:accent6>
      <a:hlink>
        <a:srgbClr val="004381"/>
      </a:hlink>
      <a:folHlink>
        <a:srgbClr val="A5A5A5"/>
      </a:folHlink>
    </a:clrScheme>
    <a:fontScheme name="alpha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315 Dynamics Standardprojekte ERP Handel Präsentation.pptx" id="{A31289B9-CA46-4BA5-A53A-CC9780B42740}" vid="{949A1F0E-CB0E-4CBF-9E5F-850DB38AAEEE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E35F5141EE90B840A2F1AD115416D046" ma:contentTypeVersion="13" ma:contentTypeDescription="Ein neues Dokument erstellen." ma:contentTypeScope="" ma:versionID="413f4466e2db1404f52b4030a0c4302a">
  <xsd:schema xmlns:xsd="http://www.w3.org/2001/XMLSchema" xmlns:xs="http://www.w3.org/2001/XMLSchema" xmlns:p="http://schemas.microsoft.com/office/2006/metadata/properties" xmlns:ns2="17c019f4-1b75-44a8-8999-745bd4dbaf64" xmlns:ns3="8a12fda9-9813-4d75-b500-f543d69906b5" targetNamespace="http://schemas.microsoft.com/office/2006/metadata/properties" ma:root="true" ma:fieldsID="c087fdb08c0adc3e0dc9321a60f7de03" ns2:_="" ns3:_="">
    <xsd:import namespace="17c019f4-1b75-44a8-8999-745bd4dbaf64"/>
    <xsd:import namespace="8a12fda9-9813-4d75-b500-f543d69906b5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OCR" minOccurs="0"/>
                <xsd:element ref="ns2:SharedWithUsers" minOccurs="0"/>
                <xsd:element ref="ns2:SharedWithDetails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c019f4-1b75-44a8-8999-745bd4dbaf64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Wert der Dokument-ID" ma:description="Der Wert der diesem Element zugewiesenen Dokument-ID." ma:internalName="_dlc_DocId" ma:readOnly="true">
      <xsd:simpleType>
        <xsd:restriction base="dms:Text"/>
      </xsd:simpleType>
    </xsd:element>
    <xsd:element name="_dlc_DocIdUrl" ma:index="9" nillable="true" ma:displayName="Dokument-ID" ma:description="Permanenter Hyperlink zu diesem Dok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20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12fda9-9813-4d75-b500-f543d69906b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17c019f4-1b75-44a8-8999-745bd4dbaf64">3TV6WZJT64PN-403098428-1132</_dlc_DocId>
    <_dlc_DocIdUrl xmlns="17c019f4-1b75-44a8-8999-745bd4dbaf64">
      <Url>https://aproda.sharepoint.com/sites/Officetemplates/_layouts/15/DocIdRedir.aspx?ID=3TV6WZJT64PN-403098428-1132</Url>
      <Description>3TV6WZJT64PN-403098428-1132</Description>
    </_dlc_DocIdUrl>
  </documentManagement>
</p:properties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27254374-3B13-4C34-9934-BC2C1C26BF8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7c019f4-1b75-44a8-8999-745bd4dbaf64"/>
    <ds:schemaRef ds:uri="8a12fda9-9813-4d75-b500-f543d69906b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B57AD0C-2241-49F5-BC7E-AA28A5E9644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9CEE728-6563-46C8-954D-458A210FE63C}">
  <ds:schemaRefs>
    <ds:schemaRef ds:uri="http://purl.org/dc/dcmitype/"/>
    <ds:schemaRef ds:uri="8a12fda9-9813-4d75-b500-f543d69906b5"/>
    <ds:schemaRef ds:uri="http://purl.org/dc/terms/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17c019f4-1b75-44a8-8999-745bd4dbaf64"/>
  </ds:schemaRefs>
</ds:datastoreItem>
</file>

<file path=customXml/itemProps4.xml><?xml version="1.0" encoding="utf-8"?>
<ds:datastoreItem xmlns:ds="http://schemas.openxmlformats.org/officeDocument/2006/customXml" ds:itemID="{967FAB79-181F-4A39-B81D-A60578B7C3E4}">
  <ds:schemaRefs>
    <ds:schemaRef ds:uri="http://schemas.microsoft.com/sharepoint/event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315 Dynamics Standardprojekte ERP Handel Präsentation</Template>
  <TotalTime>0</TotalTime>
  <Words>105</Words>
  <Application>Microsoft Office PowerPoint</Application>
  <PresentationFormat>Breitbild</PresentationFormat>
  <Paragraphs>37</Paragraphs>
  <Slides>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3" baseType="lpstr">
      <vt:lpstr>Arial</vt:lpstr>
      <vt:lpstr>Calibri</vt:lpstr>
      <vt:lpstr>Raleway</vt:lpstr>
      <vt:lpstr>Source Sans Pro Semibold</vt:lpstr>
      <vt:lpstr>Office-Design</vt:lpstr>
      <vt:lpstr>Microsoft Dynamics 365 Business Central</vt:lpstr>
      <vt:lpstr>PowerPoint-Präsentation</vt:lpstr>
      <vt:lpstr>PowerPoint-Präsentation</vt:lpstr>
      <vt:lpstr>Was haben wir verstanden</vt:lpstr>
      <vt:lpstr>Business Software von Microsoft</vt:lpstr>
      <vt:lpstr>Live Demo</vt:lpstr>
      <vt:lpstr>Vorschlag Aproda für nächste Schritte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Florian Köll</dc:creator>
  <cp:lastModifiedBy>Florian Köll</cp:lastModifiedBy>
  <cp:revision>2</cp:revision>
  <dcterms:created xsi:type="dcterms:W3CDTF">2026-09-14T17:14:18Z</dcterms:created>
  <dcterms:modified xsi:type="dcterms:W3CDTF">2026-09-14T17:32:32Z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0x010100E35F5141EE90B840A2F1AD115416D046</vt:lpwstr>
  </property>
  <property fmtid="{D5CDD505-2E9C-101B-9397-08002B2CF9AE}" pid="3" name="_dlc_DocIdItemGuid">
    <vt:lpwstr>b97d401d-9e07-468e-9f1f-3b50a7c471c2</vt:lpwstr>
  </property>
  <property fmtid="{D5CDD505-2E9C-101B-9397-08002B2CF9AE}" pid="4" name="MediaServiceImageTags">
    <vt:lpwstr/>
  </property>
</Properties>
</file>