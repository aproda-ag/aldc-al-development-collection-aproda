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E8"/>
    <a:srgbClr val="5B9BD5"/>
    <a:srgbClr val="3880E0"/>
    <a:srgbClr val="3C7FE2"/>
    <a:srgbClr val="3F70F2"/>
    <a:srgbClr val="5C84EC"/>
    <a:srgbClr val="417DE4"/>
    <a:srgbClr val="FFFFFF"/>
    <a:srgbClr val="4197DB"/>
    <a:srgbClr val="3E7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D6BCB-EBD4-4633-9530-688FB74DBCAC}" v="4" dt="2026-03-12T07:46:41.273"/>
    <p1510:client id="{A782FB05-1755-43D4-80D4-F679F3F5093F}" v="1" dt="2026-03-12T15:26:19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4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CEC9B-F224-F64C-92FC-7035C38D5865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5FDF5-DD4A-4F42-99FA-1C1D6036E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52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Übergang: 'Das war die Theorie - grosse Teile dieser Prinzipien finden wir in A-ALDC, einem Agentic Engineering Toolkit für BC 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Überblick über die Blöcke des Teils.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Bezug zum Harnisch/Skills-Vortrag herstellen.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Positionierung: Spec-Driven Development + TDD.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Kontrast pointiert vortragen.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Hub-and-Spoke: A-ALDC verbindet 5 Bausteine.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Agent kurz Rolle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Grobüberblick. Jeder Schritt wird auf den folgenden Folien vertieft.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 Einstiegspunkte: Supportfall via Triage, Neuanforderung via Komplexitätsentscheid.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req_name-Muster, ADO-Header, Azure-CLI-Abruf.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OnPrem-Gate: publish → sync/install → run tests → review, Loop bis grün.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Issue-Tracking-Datei, Loop-Sektionen,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Adaptive Waterfall: Sync -&gt; Resolve -&gt; Export/Apply -&gt; PoEdit -&gt;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Gates + Modul-Doku + BCQuality-Review konsolidiert.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Recap: fasst die gezeigten Diagramme zusammen, keine neuen Infos.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 Diagramm, das alle Teilprozesse zu einem Fluss verbindet.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Überleitung: wie A-ALDC in der Praxis eingesetzt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Konkreter Ablauf fuer den Support/Debug-Einstiegspunkt.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Anwendungsbeispiel: bestehendes Projekt auditieren und verbessern.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Reales Beispiel mit konkreten Zahlen (Azure Storage Proxy Function).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zweiten Themenblock.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Layer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Zweite Workspace-Root, read-only, Review-Konsultation.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Was der Fork zusätzlich bringt.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Backlog.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 extension-ideas-and-todos.md.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On-Demand BC-Container ueber GitHub-authentifizierte Azure Function + Terraform/AKS.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Freddy Kristiansen, freddysblog.com, 15.08.2026.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Fragen &amp;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microsoft.com/office/2007/relationships/hdphoto" Target="../media/hdphoto1.wdp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svg"/><Relationship Id="rId5" Type="http://schemas.openxmlformats.org/officeDocument/2006/relationships/image" Target="../media/image19.svg"/><Relationship Id="rId6" Type="http://schemas.openxmlformats.org/officeDocument/2006/relationships/image" Target="../media/image20.svg"/><Relationship Id="rId7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6.svg"/><Relationship Id="rId4" Type="http://schemas.openxmlformats.org/officeDocument/2006/relationships/image" Target="../media/image27.svg"/><Relationship Id="rId5" Type="http://schemas.openxmlformats.org/officeDocument/2006/relationships/image" Target="../media/image28.svg"/><Relationship Id="rId6" Type="http://schemas.openxmlformats.org/officeDocument/2006/relationships/image" Target="../media/image29.svg"/><Relationship Id="rId7" Type="http://schemas.openxmlformats.org/officeDocument/2006/relationships/image" Target="../media/image30.svg"/><Relationship Id="rId8" Type="http://schemas.openxmlformats.org/officeDocument/2006/relationships/image" Target="../media/image3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sv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nhaltsplatzhalter 8" descr="Ein Bild, das Text, drinnen, Person, schließen enthält.&#10;&#10;Automatisch generierte Beschreibung">
            <a:extLst>
              <a:ext uri="{FF2B5EF4-FFF2-40B4-BE49-F238E27FC236}">
                <a16:creationId xmlns:a16="http://schemas.microsoft.com/office/drawing/2014/main" id="{95893750-5EFF-4CC0-9960-D5EB556955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474"/>
          <a:stretch/>
        </p:blipFill>
        <p:spPr>
          <a:xfrm>
            <a:off x="-5540" y="0"/>
            <a:ext cx="12192000" cy="6863542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038EB23-AEFB-47FA-A846-3538CF2C7784}"/>
              </a:ext>
            </a:extLst>
          </p:cNvPr>
          <p:cNvSpPr/>
          <p:nvPr userDrawn="1"/>
        </p:nvSpPr>
        <p:spPr>
          <a:xfrm>
            <a:off x="-15630" y="-14068"/>
            <a:ext cx="12207630" cy="6886136"/>
          </a:xfrm>
          <a:prstGeom prst="rect">
            <a:avLst/>
          </a:prstGeom>
          <a:gradFill>
            <a:gsLst>
              <a:gs pos="42000">
                <a:srgbClr val="3C6CE8">
                  <a:alpha val="85000"/>
                </a:srgbClr>
              </a:gs>
              <a:gs pos="69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6"/>
          <p:cNvSpPr>
            <a:spLocks noGrp="1"/>
          </p:cNvSpPr>
          <p:nvPr>
            <p:ph type="title"/>
          </p:nvPr>
        </p:nvSpPr>
        <p:spPr>
          <a:xfrm>
            <a:off x="822570" y="4682326"/>
            <a:ext cx="10515600" cy="618385"/>
          </a:xfrm>
        </p:spPr>
        <p:txBody>
          <a:bodyPr>
            <a:noAutofit/>
          </a:bodyPr>
          <a:lstStyle>
            <a:lvl1pPr algn="l">
              <a:defRPr sz="35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3" name="Inhaltsplatzhalter 18"/>
          <p:cNvSpPr>
            <a:spLocks noGrp="1"/>
          </p:cNvSpPr>
          <p:nvPr>
            <p:ph sz="quarter" idx="10"/>
          </p:nvPr>
        </p:nvSpPr>
        <p:spPr>
          <a:xfrm>
            <a:off x="843330" y="5255551"/>
            <a:ext cx="10515600" cy="618385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2pPr>
            <a:lvl3pPr marL="9144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3pPr>
            <a:lvl4pPr marL="13716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4pPr>
            <a:lvl5pPr marL="1828800" indent="0" algn="ctr">
              <a:buNone/>
              <a:defRPr sz="2800" b="1" i="0">
                <a:solidFill>
                  <a:schemeClr val="bg1"/>
                </a:solidFill>
                <a:latin typeface="Source Sans Pro Semibold" charset="0"/>
                <a:ea typeface="Source Sans Pro Semibold" charset="0"/>
                <a:cs typeface="Source Sans Pro Semibold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F10C16B-3E01-4198-9976-3AFBAB400F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71812" y="457566"/>
            <a:ext cx="2553778" cy="648000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E7B73FA-5D48-4BC0-AA4F-35518997B995}"/>
              </a:ext>
            </a:extLst>
          </p:cNvPr>
          <p:cNvCxnSpPr>
            <a:cxnSpLocks/>
          </p:cNvCxnSpPr>
          <p:nvPr userDrawn="1"/>
        </p:nvCxnSpPr>
        <p:spPr>
          <a:xfrm>
            <a:off x="922215" y="5736923"/>
            <a:ext cx="1070337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27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723783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Folientitel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87ED5425-D056-4283-ADE8-FC31B150D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D07F7FA-0E22-4F8E-97D6-AE392A5040E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376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Person, Mann, drinnen enthält.&#10;&#10;Automatisch generierte Beschreibung">
            <a:extLst>
              <a:ext uri="{FF2B5EF4-FFF2-40B4-BE49-F238E27FC236}">
                <a16:creationId xmlns:a16="http://schemas.microsoft.com/office/drawing/2014/main" id="{84A1AEE4-AD5A-5823-B478-8F015515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4" r="559"/>
          <a:stretch/>
        </p:blipFill>
        <p:spPr>
          <a:xfrm>
            <a:off x="-11157" y="-5504"/>
            <a:ext cx="12211683" cy="685893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1157" y="3306349"/>
            <a:ext cx="12201614" cy="358496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B3FF59AD-8A3C-4F71-B6D3-AA43A0C93D49}"/>
              </a:ext>
            </a:extLst>
          </p:cNvPr>
          <p:cNvSpPr/>
          <p:nvPr userDrawn="1"/>
        </p:nvSpPr>
        <p:spPr>
          <a:xfrm>
            <a:off x="-9476" y="-10069"/>
            <a:ext cx="12222840" cy="6857999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9040CFB-404B-4911-B13D-9F30BB19BB05}"/>
              </a:ext>
            </a:extLst>
          </p:cNvPr>
          <p:cNvSpPr/>
          <p:nvPr userDrawn="1"/>
        </p:nvSpPr>
        <p:spPr>
          <a:xfrm>
            <a:off x="1138141" y="4878908"/>
            <a:ext cx="11062386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6" name="Grafik 5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B02E24D-6C29-4242-9EA8-792E80F7DAF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Person, Mann, drinnen enthält.&#10;&#10;Automatisch generierte Beschreibung">
            <a:extLst>
              <a:ext uri="{FF2B5EF4-FFF2-40B4-BE49-F238E27FC236}">
                <a16:creationId xmlns:a16="http://schemas.microsoft.com/office/drawing/2014/main" id="{13FEF0A5-7E69-4E85-99C3-12B2403FF2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706" b="1606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2822" y="-6016"/>
            <a:ext cx="12204822" cy="6858000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12822" y="4486275"/>
            <a:ext cx="12192000" cy="237774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C0467F9-DA1D-4F3B-B84B-E82D45C09D90}"/>
              </a:ext>
            </a:extLst>
          </p:cNvPr>
          <p:cNvSpPr/>
          <p:nvPr userDrawn="1"/>
        </p:nvSpPr>
        <p:spPr>
          <a:xfrm>
            <a:off x="1138140" y="4878908"/>
            <a:ext cx="11087291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34B01D47-5373-BA49-AF6C-0E7CD95F31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20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Abschnit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Person, Mann, stehend, Anzug enthält.&#10;&#10;Automatisch generierte Beschreibung">
            <a:extLst>
              <a:ext uri="{FF2B5EF4-FFF2-40B4-BE49-F238E27FC236}">
                <a16:creationId xmlns:a16="http://schemas.microsoft.com/office/drawing/2014/main" id="{D5CA5F0F-A69F-416A-ADA1-A614367C3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213" b="2511"/>
          <a:stretch/>
        </p:blipFill>
        <p:spPr>
          <a:xfrm>
            <a:off x="-9526" y="-1348"/>
            <a:ext cx="12198155" cy="6865364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9412744-06BB-40B2-A6DD-0AA045356BBA}"/>
              </a:ext>
            </a:extLst>
          </p:cNvPr>
          <p:cNvSpPr/>
          <p:nvPr userDrawn="1"/>
        </p:nvSpPr>
        <p:spPr>
          <a:xfrm>
            <a:off x="-17382" y="-8712"/>
            <a:ext cx="12211878" cy="6865364"/>
          </a:xfrm>
          <a:prstGeom prst="rect">
            <a:avLst/>
          </a:prstGeom>
          <a:gradFill>
            <a:gsLst>
              <a:gs pos="87611">
                <a:srgbClr val="3C6CE8">
                  <a:alpha val="20000"/>
                </a:srgbClr>
              </a:gs>
              <a:gs pos="15000">
                <a:srgbClr val="3C6CE8">
                  <a:alpha val="62000"/>
                </a:srgbClr>
              </a:gs>
              <a:gs pos="53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26"/>
          <a:stretch/>
        </p:blipFill>
        <p:spPr>
          <a:xfrm>
            <a:off x="-3297" y="4486275"/>
            <a:ext cx="12192000" cy="237774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5E02D0A-1F77-4B9F-B2BE-65D29431E5D5}"/>
              </a:ext>
            </a:extLst>
          </p:cNvPr>
          <p:cNvSpPr/>
          <p:nvPr userDrawn="1"/>
        </p:nvSpPr>
        <p:spPr>
          <a:xfrm>
            <a:off x="1138141" y="4878908"/>
            <a:ext cx="11053860" cy="1979092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5949901"/>
            <a:ext cx="10515600" cy="1500187"/>
          </a:xfrm>
        </p:spPr>
        <p:txBody>
          <a:bodyPr>
            <a:normAutofit/>
          </a:bodyPr>
          <a:lstStyle>
            <a:lvl1pPr marL="0" indent="0" algn="r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3070176"/>
            <a:ext cx="10515600" cy="2852737"/>
          </a:xfrm>
        </p:spPr>
        <p:txBody>
          <a:bodyPr anchor="b">
            <a:normAutofit/>
          </a:bodyPr>
          <a:lstStyle>
            <a:lvl1pPr algn="r"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B52924EF-33F8-C9ED-E51F-9DCB4736BF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8253" y="358070"/>
            <a:ext cx="198627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10530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1pPr>
            <a:lvl2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2pPr>
            <a:lvl3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3pPr>
            <a:lvl4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4pPr>
            <a:lvl5pPr>
              <a:defRPr b="0" i="0">
                <a:solidFill>
                  <a:schemeClr val="tx1"/>
                </a:solidFill>
                <a:latin typeface="+mj-lt"/>
                <a:ea typeface="Merriweather Light" charset="0"/>
                <a:cs typeface="Merriweather Light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7" name="Inhaltsplatzhalter 8">
            <a:extLst>
              <a:ext uri="{FF2B5EF4-FFF2-40B4-BE49-F238E27FC236}">
                <a16:creationId xmlns:a16="http://schemas.microsoft.com/office/drawing/2014/main" id="{72BDE464-F607-A09A-1668-F87FE0DD2D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AE7E6D43-1753-DEEB-4D7F-B9B5B7C6DD9D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670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0"/>
          </p:nvPr>
        </p:nvSpPr>
        <p:spPr>
          <a:xfrm>
            <a:off x="1441719" y="2430046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3274540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/>
          <p:nvPr userDrawn="1"/>
        </p:nvCxnSpPr>
        <p:spPr>
          <a:xfrm>
            <a:off x="5975683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820941" y="3448448"/>
            <a:ext cx="2169115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16"/>
          </p:nvPr>
        </p:nvSpPr>
        <p:spPr>
          <a:xfrm>
            <a:off x="820148" y="3789784"/>
            <a:ext cx="2169909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18"/>
          <p:cNvSpPr>
            <a:spLocks noGrp="1"/>
          </p:cNvSpPr>
          <p:nvPr>
            <p:ph type="pic" sz="quarter" idx="19"/>
          </p:nvPr>
        </p:nvSpPr>
        <p:spPr>
          <a:xfrm>
            <a:off x="4170514" y="2436454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3" name="Textplatzhalter 23"/>
          <p:cNvSpPr>
            <a:spLocks noGrp="1"/>
          </p:cNvSpPr>
          <p:nvPr>
            <p:ph type="body" sz="quarter" idx="20"/>
          </p:nvPr>
        </p:nvSpPr>
        <p:spPr>
          <a:xfrm>
            <a:off x="3530102" y="3451977"/>
            <a:ext cx="2170617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30"/>
          <p:cNvSpPr>
            <a:spLocks noGrp="1"/>
          </p:cNvSpPr>
          <p:nvPr>
            <p:ph type="body" sz="quarter" idx="21"/>
          </p:nvPr>
        </p:nvSpPr>
        <p:spPr>
          <a:xfrm>
            <a:off x="3529309" y="3793313"/>
            <a:ext cx="2171411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18"/>
          <p:cNvSpPr>
            <a:spLocks noGrp="1"/>
          </p:cNvSpPr>
          <p:nvPr>
            <p:ph type="pic" sz="quarter" idx="22"/>
          </p:nvPr>
        </p:nvSpPr>
        <p:spPr>
          <a:xfrm>
            <a:off x="6888033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Textplatzhalter 23"/>
          <p:cNvSpPr>
            <a:spLocks noGrp="1"/>
          </p:cNvSpPr>
          <p:nvPr>
            <p:ph type="body" sz="quarter" idx="23"/>
          </p:nvPr>
        </p:nvSpPr>
        <p:spPr>
          <a:xfrm>
            <a:off x="6236106" y="3451977"/>
            <a:ext cx="2173399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30"/>
          <p:cNvSpPr>
            <a:spLocks noGrp="1"/>
          </p:cNvSpPr>
          <p:nvPr>
            <p:ph type="body" sz="quarter" idx="24"/>
          </p:nvPr>
        </p:nvSpPr>
        <p:spPr>
          <a:xfrm>
            <a:off x="6235313" y="3793313"/>
            <a:ext cx="2174194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6" name="Gerader Verbinder 35"/>
          <p:cNvCxnSpPr/>
          <p:nvPr userDrawn="1"/>
        </p:nvCxnSpPr>
        <p:spPr>
          <a:xfrm>
            <a:off x="8677948" y="2361383"/>
            <a:ext cx="0" cy="2967025"/>
          </a:xfrm>
          <a:prstGeom prst="line">
            <a:avLst/>
          </a:prstGeom>
          <a:ln w="19050">
            <a:solidFill>
              <a:srgbClr val="3C6C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ildplatzhalter 18"/>
          <p:cNvSpPr>
            <a:spLocks noGrp="1"/>
          </p:cNvSpPr>
          <p:nvPr>
            <p:ph type="pic" sz="quarter" idx="25"/>
          </p:nvPr>
        </p:nvSpPr>
        <p:spPr>
          <a:xfrm>
            <a:off x="9593182" y="2433575"/>
            <a:ext cx="889000" cy="8159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Textplatzhalter 23"/>
          <p:cNvSpPr>
            <a:spLocks noGrp="1"/>
          </p:cNvSpPr>
          <p:nvPr>
            <p:ph type="body" sz="quarter" idx="26"/>
          </p:nvPr>
        </p:nvSpPr>
        <p:spPr>
          <a:xfrm>
            <a:off x="8928284" y="3451977"/>
            <a:ext cx="2175262" cy="320151"/>
          </a:xfrm>
        </p:spPr>
        <p:txBody>
          <a:bodyPr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30"/>
          <p:cNvSpPr>
            <a:spLocks noGrp="1"/>
          </p:cNvSpPr>
          <p:nvPr>
            <p:ph type="body" sz="quarter" idx="27"/>
          </p:nvPr>
        </p:nvSpPr>
        <p:spPr>
          <a:xfrm>
            <a:off x="8927490" y="3793313"/>
            <a:ext cx="2176058" cy="144570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1400"/>
            </a:lvl1pPr>
            <a:lvl2pPr marL="457200" indent="0" algn="ctr">
              <a:buFontTx/>
              <a:buNone/>
              <a:defRPr sz="1800"/>
            </a:lvl2pPr>
            <a:lvl3pPr marL="914400" indent="0" algn="ctr">
              <a:buFontTx/>
              <a:buNone/>
              <a:defRPr sz="1800"/>
            </a:lvl3pPr>
            <a:lvl4pPr marL="1371600" indent="0" algn="ctr">
              <a:buFontTx/>
              <a:buNone/>
              <a:defRPr sz="1800"/>
            </a:lvl4pPr>
            <a:lvl5pPr marL="1828800" indent="0" algn="ctr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5" name="Inhaltsplatzhalter 8">
            <a:extLst>
              <a:ext uri="{FF2B5EF4-FFF2-40B4-BE49-F238E27FC236}">
                <a16:creationId xmlns:a16="http://schemas.microsoft.com/office/drawing/2014/main" id="{2D092AF9-5E0A-D86A-D6DF-DA09A98DB7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3AF05A72-1305-2EBF-3480-ECF5E928AFF1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9787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 userDrawn="1">
          <p15:clr>
            <a:srgbClr val="FBAE40"/>
          </p15:clr>
        </p15:guide>
        <p15:guide id="2" pos="297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9697278" cy="1325563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77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8">
            <a:extLst>
              <a:ext uri="{FF2B5EF4-FFF2-40B4-BE49-F238E27FC236}">
                <a16:creationId xmlns:a16="http://schemas.microsoft.com/office/drawing/2014/main" id="{2915CA75-FF09-E2DB-CB15-34C112092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96BB39E-171F-CBCF-E190-857C34693764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59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7"/>
          <p:cNvSpPr txBox="1"/>
          <p:nvPr userDrawn="1"/>
        </p:nvSpPr>
        <p:spPr>
          <a:xfrm>
            <a:off x="1387638" y="2606370"/>
            <a:ext cx="2570749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000" b="1">
                <a:latin typeface="+mj-lt"/>
                <a:ea typeface="Raleway" charset="0"/>
                <a:cs typeface="Raleway" charset="0"/>
              </a:rPr>
              <a:t>Agenda</a:t>
            </a:r>
            <a:r>
              <a:rPr lang="en-US" sz="6000" b="1">
                <a:latin typeface="Raleway" charset="0"/>
                <a:ea typeface="Raleway" charset="0"/>
                <a:cs typeface="Raleway" charset="0"/>
              </a:rPr>
              <a:t>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F6568F7-1AC5-4EDC-9B9F-E940F6AD201A}"/>
              </a:ext>
            </a:extLst>
          </p:cNvPr>
          <p:cNvSpPr txBox="1"/>
          <p:nvPr userDrawn="1"/>
        </p:nvSpPr>
        <p:spPr>
          <a:xfrm>
            <a:off x="4712294" y="3021105"/>
            <a:ext cx="54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A475AB4-26B4-4356-8CA4-D9E7CBA9A709}"/>
              </a:ext>
            </a:extLst>
          </p:cNvPr>
          <p:cNvSpPr txBox="1"/>
          <p:nvPr userDrawn="1"/>
        </p:nvSpPr>
        <p:spPr>
          <a:xfrm>
            <a:off x="4715480" y="2261839"/>
            <a:ext cx="543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E8ADE85-A426-4338-BEAA-D7269617E958}"/>
              </a:ext>
            </a:extLst>
          </p:cNvPr>
          <p:cNvSpPr txBox="1"/>
          <p:nvPr userDrawn="1"/>
        </p:nvSpPr>
        <p:spPr>
          <a:xfrm>
            <a:off x="4717933" y="1512874"/>
            <a:ext cx="55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EDCB691-8A1D-46A6-AB5C-05D2EDA9B51F}"/>
              </a:ext>
            </a:extLst>
          </p:cNvPr>
          <p:cNvSpPr txBox="1"/>
          <p:nvPr userDrawn="1"/>
        </p:nvSpPr>
        <p:spPr>
          <a:xfrm>
            <a:off x="4712294" y="3777413"/>
            <a:ext cx="446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A9272B4-B669-4DDC-8BB1-E7C1D9C247C6}"/>
              </a:ext>
            </a:extLst>
          </p:cNvPr>
          <p:cNvSpPr txBox="1"/>
          <p:nvPr userDrawn="1"/>
        </p:nvSpPr>
        <p:spPr>
          <a:xfrm>
            <a:off x="4713326" y="4532615"/>
            <a:ext cx="55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CBA4D201-99FF-403F-A006-9C84424A7DF8}"/>
              </a:ext>
            </a:extLst>
          </p:cNvPr>
          <p:cNvSpPr/>
          <p:nvPr userDrawn="1"/>
        </p:nvSpPr>
        <p:spPr>
          <a:xfrm>
            <a:off x="5360064" y="137000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8EC7B7C-D019-4426-8ED8-1354EF08896C}"/>
              </a:ext>
            </a:extLst>
          </p:cNvPr>
          <p:cNvSpPr/>
          <p:nvPr userDrawn="1"/>
        </p:nvSpPr>
        <p:spPr>
          <a:xfrm>
            <a:off x="5360064" y="212411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E516E81-E480-4A67-ACD6-20272F61B19A}"/>
              </a:ext>
            </a:extLst>
          </p:cNvPr>
          <p:cNvSpPr/>
          <p:nvPr userDrawn="1"/>
        </p:nvSpPr>
        <p:spPr>
          <a:xfrm>
            <a:off x="5360066" y="2878277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B04D1FF-5285-4049-A82C-52016D02054B}"/>
              </a:ext>
            </a:extLst>
          </p:cNvPr>
          <p:cNvSpPr/>
          <p:nvPr userDrawn="1"/>
        </p:nvSpPr>
        <p:spPr>
          <a:xfrm>
            <a:off x="5360065" y="3634721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6D62C37D-FDFA-4F7F-B032-D10D134852B1}"/>
              </a:ext>
            </a:extLst>
          </p:cNvPr>
          <p:cNvSpPr/>
          <p:nvPr userDrawn="1"/>
        </p:nvSpPr>
        <p:spPr>
          <a:xfrm>
            <a:off x="5363073" y="4391165"/>
            <a:ext cx="5925553" cy="650158"/>
          </a:xfrm>
          <a:prstGeom prst="roundRect">
            <a:avLst/>
          </a:prstGeom>
          <a:noFill/>
          <a:ln w="9525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3FB73D8F-79F5-47A8-986D-85E497185C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064" y="1547974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71785D1A-6BE1-484D-8EA3-89249DA882B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60064" y="2302180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F98FA24-10EB-4317-96F0-675B7A1DA28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360063" y="3056386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033F31-7CC6-4CCE-9CBF-51BCE188E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63073" y="3813475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B2B87973-06A3-4F4B-89B6-AD17CE2077A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63073" y="4536341"/>
            <a:ext cx="5925553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err="1"/>
              <a:t>Agendapunkt</a:t>
            </a:r>
            <a:r>
              <a:rPr lang="de-DE"/>
              <a:t>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7" name="Inhaltsplatzhalter 8">
            <a:extLst>
              <a:ext uri="{FF2B5EF4-FFF2-40B4-BE49-F238E27FC236}">
                <a16:creationId xmlns:a16="http://schemas.microsoft.com/office/drawing/2014/main" id="{16BA1BBA-C5D4-1619-80D6-0CF871CE9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8" name="Rechteck 27">
            <a:extLst>
              <a:ext uri="{FF2B5EF4-FFF2-40B4-BE49-F238E27FC236}">
                <a16:creationId xmlns:a16="http://schemas.microsoft.com/office/drawing/2014/main" id="{822962D1-0317-F71C-1644-C24734F77CBF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134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 Aproda 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26ADB4D-F11E-0732-847D-BE1D57927ABF}"/>
              </a:ext>
            </a:extLst>
          </p:cNvPr>
          <p:cNvSpPr/>
          <p:nvPr userDrawn="1"/>
        </p:nvSpPr>
        <p:spPr>
          <a:xfrm rot="5400000">
            <a:off x="2667000" y="-2667000"/>
            <a:ext cx="6858000" cy="12192000"/>
          </a:xfrm>
          <a:prstGeom prst="rect">
            <a:avLst/>
          </a:prstGeom>
          <a:gradFill>
            <a:gsLst>
              <a:gs pos="0">
                <a:srgbClr val="3C6CE8">
                  <a:alpha val="85000"/>
                </a:srgbClr>
              </a:gs>
              <a:gs pos="30000">
                <a:srgbClr val="3C6CE8">
                  <a:alpha val="85000"/>
                </a:srgbClr>
              </a:gs>
              <a:gs pos="100000">
                <a:srgbClr val="3C6CE8">
                  <a:alpha val="2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4" name="Grafik 3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6ED1F3E1-4275-DC2F-6C51-0436336E65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8334" y="5929445"/>
            <a:ext cx="1459488" cy="370332"/>
          </a:xfrm>
          <a:prstGeom prst="rect">
            <a:avLst/>
          </a:prstGeom>
        </p:spPr>
      </p:pic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F814D57-4410-303F-CBD0-85BBCC6093B7}"/>
              </a:ext>
            </a:extLst>
          </p:cNvPr>
          <p:cNvSpPr/>
          <p:nvPr userDrawn="1"/>
        </p:nvSpPr>
        <p:spPr>
          <a:xfrm>
            <a:off x="887838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508FF483-6F44-5B14-E96F-854734F56D3E}"/>
              </a:ext>
            </a:extLst>
          </p:cNvPr>
          <p:cNvSpPr/>
          <p:nvPr userDrawn="1"/>
        </p:nvSpPr>
        <p:spPr>
          <a:xfrm>
            <a:off x="887838" y="3463626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76D2531-A496-9B95-4757-80615A38EA99}"/>
              </a:ext>
            </a:extLst>
          </p:cNvPr>
          <p:cNvSpPr/>
          <p:nvPr userDrawn="1"/>
        </p:nvSpPr>
        <p:spPr>
          <a:xfrm>
            <a:off x="5915084" y="182629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6FF1530C-2A8F-7915-3E10-FA07731AA188}"/>
              </a:ext>
            </a:extLst>
          </p:cNvPr>
          <p:cNvSpPr/>
          <p:nvPr userDrawn="1"/>
        </p:nvSpPr>
        <p:spPr>
          <a:xfrm>
            <a:off x="5915084" y="3463623"/>
            <a:ext cx="4983837" cy="15891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05A477D-6CC6-A4EC-C92C-3D53B0E89EC4}"/>
              </a:ext>
            </a:extLst>
          </p:cNvPr>
          <p:cNvSpPr txBox="1">
            <a:spLocks/>
          </p:cNvSpPr>
          <p:nvPr userDrawn="1"/>
        </p:nvSpPr>
        <p:spPr>
          <a:xfrm>
            <a:off x="1247876" y="2076786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150 Mitarbeitende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3B46EEA3-FD3F-6975-E089-73B1376A4420}"/>
              </a:ext>
            </a:extLst>
          </p:cNvPr>
          <p:cNvSpPr txBox="1">
            <a:spLocks/>
          </p:cNvSpPr>
          <p:nvPr userDrawn="1"/>
        </p:nvSpPr>
        <p:spPr>
          <a:xfrm>
            <a:off x="1247876" y="2224272"/>
            <a:ext cx="3721377" cy="118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Consultants | Software Engineers |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System Engineers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E51A5F7F-FB86-4626-88C5-CEAB9701E3AF}"/>
              </a:ext>
            </a:extLst>
          </p:cNvPr>
          <p:cNvSpPr txBox="1">
            <a:spLocks/>
          </p:cNvSpPr>
          <p:nvPr userDrawn="1"/>
        </p:nvSpPr>
        <p:spPr>
          <a:xfrm>
            <a:off x="1247876" y="368763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Branchenkompetenz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142F4639-E356-F1A6-20A8-702D0DC1485F}"/>
              </a:ext>
            </a:extLst>
          </p:cNvPr>
          <p:cNvSpPr txBox="1">
            <a:spLocks/>
          </p:cNvSpPr>
          <p:nvPr userDrawn="1"/>
        </p:nvSpPr>
        <p:spPr>
          <a:xfrm>
            <a:off x="1247875" y="3835239"/>
            <a:ext cx="3721377" cy="1225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Lebensmittel | Grosshandel |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Fertigung Produktion | Medtech</a:t>
            </a:r>
            <a:endParaRPr lang="de-CH" sz="1300" b="0" dirty="0">
              <a:solidFill>
                <a:srgbClr val="3C6CE8"/>
              </a:solidFill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8A43E02-EAAC-D3EF-DFA9-4ABF2DA63429}"/>
              </a:ext>
            </a:extLst>
          </p:cNvPr>
          <p:cNvSpPr txBox="1">
            <a:spLocks/>
          </p:cNvSpPr>
          <p:nvPr userDrawn="1"/>
        </p:nvSpPr>
        <p:spPr>
          <a:xfrm>
            <a:off x="6280054" y="2076533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Produkte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9525335-C8C6-63B7-8C89-52DDC9C63453}"/>
              </a:ext>
            </a:extLst>
          </p:cNvPr>
          <p:cNvSpPr txBox="1">
            <a:spLocks/>
          </p:cNvSpPr>
          <p:nvPr userDrawn="1"/>
        </p:nvSpPr>
        <p:spPr>
          <a:xfrm>
            <a:off x="6286664" y="2243615"/>
            <a:ext cx="4612257" cy="1166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Dynamics 365 Business Central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Dynamics 365 </a:t>
            </a:r>
            <a:r>
              <a:rPr lang="de-CH" sz="1300" dirty="0">
                <a:solidFill>
                  <a:srgbClr val="3C6CE8"/>
                </a:solidFill>
              </a:rPr>
              <a:t>S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ales 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365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Microsoft Power BI | Power </a:t>
            </a:r>
            <a:r>
              <a:rPr lang="de-CH" sz="1300" dirty="0" err="1">
                <a:solidFill>
                  <a:srgbClr val="3C6CE8"/>
                </a:solidFill>
              </a:rPr>
              <a:t>Platform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95C08744-15CF-00EE-DB19-6C2E931DC699}"/>
              </a:ext>
            </a:extLst>
          </p:cNvPr>
          <p:cNvSpPr txBox="1">
            <a:spLocks/>
          </p:cNvSpPr>
          <p:nvPr userDrawn="1"/>
        </p:nvSpPr>
        <p:spPr>
          <a:xfrm>
            <a:off x="6277196" y="3691898"/>
            <a:ext cx="2451870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 dirty="0"/>
              <a:t>Unsere Mission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37353C96-6CC5-F0FA-BD0A-B23AF48DDD86}"/>
              </a:ext>
            </a:extLst>
          </p:cNvPr>
          <p:cNvSpPr txBox="1">
            <a:spLocks/>
          </p:cNvSpPr>
          <p:nvPr userDrawn="1"/>
        </p:nvSpPr>
        <p:spPr>
          <a:xfrm>
            <a:off x="6285146" y="3848221"/>
            <a:ext cx="2641683" cy="1204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Mehrwert für unsere Kunden durch passgenaue </a:t>
            </a:r>
            <a:br>
              <a:rPr lang="de-CH" sz="1300" dirty="0">
                <a:solidFill>
                  <a:srgbClr val="3C6CE8"/>
                </a:solidFill>
              </a:rPr>
            </a:br>
            <a:r>
              <a:rPr lang="de-CH" sz="1300" dirty="0">
                <a:solidFill>
                  <a:srgbClr val="3C6CE8"/>
                </a:solidFill>
              </a:rPr>
              <a:t>IT-Lösungen</a:t>
            </a:r>
            <a:endParaRPr lang="de-CH" sz="1300" dirty="0">
              <a:solidFill>
                <a:srgbClr val="3C6CE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4E60340-77CC-B012-B2BA-FF11A5919F02}"/>
              </a:ext>
            </a:extLst>
          </p:cNvPr>
          <p:cNvSpPr txBox="1">
            <a:spLocks/>
          </p:cNvSpPr>
          <p:nvPr userDrawn="1"/>
        </p:nvSpPr>
        <p:spPr>
          <a:xfrm>
            <a:off x="9044604" y="3704861"/>
            <a:ext cx="1530087" cy="34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1100" b="0"/>
              <a:t>Unsere Werte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317FD85-2285-175D-13BA-60D91CB0002A}"/>
              </a:ext>
            </a:extLst>
          </p:cNvPr>
          <p:cNvSpPr txBox="1">
            <a:spLocks/>
          </p:cNvSpPr>
          <p:nvPr userDrawn="1"/>
        </p:nvSpPr>
        <p:spPr>
          <a:xfrm>
            <a:off x="9056608" y="3865603"/>
            <a:ext cx="2259521" cy="1187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Vertrauen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Erfolg</a:t>
            </a:r>
          </a:p>
          <a:p>
            <a:pPr>
              <a:lnSpc>
                <a:spcPct val="100000"/>
              </a:lnSpc>
            </a:pPr>
            <a:r>
              <a:rPr lang="de-CH" sz="1300" dirty="0">
                <a:solidFill>
                  <a:srgbClr val="3C6CE8"/>
                </a:solidFill>
              </a:rPr>
              <a:t>N</a:t>
            </a:r>
            <a:r>
              <a:rPr lang="de-CH" sz="1300" dirty="0">
                <a:solidFill>
                  <a:srgbClr val="3C6CE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achhaltigkeit</a:t>
            </a:r>
          </a:p>
        </p:txBody>
      </p:sp>
      <p:pic>
        <p:nvPicPr>
          <p:cNvPr id="22" name="Grafik 21" descr="Ein Bild, das Schrift, Grafiken, Text, Typografie enthält.&#10;&#10;Automatisch generierte Beschreibung">
            <a:extLst>
              <a:ext uri="{FF2B5EF4-FFF2-40B4-BE49-F238E27FC236}">
                <a16:creationId xmlns:a16="http://schemas.microsoft.com/office/drawing/2014/main" id="{90E42375-DFCD-A0ED-1DD1-756F20B5AC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78399" y="5811080"/>
            <a:ext cx="1819390" cy="607062"/>
          </a:xfrm>
          <a:prstGeom prst="rect">
            <a:avLst/>
          </a:prstGeom>
        </p:spPr>
      </p:pic>
      <p:pic>
        <p:nvPicPr>
          <p:cNvPr id="23" name="Grafik 22" descr="Ein Bild, das Grafiken, Entwurf, Kunst, Reihe enthält.&#10;&#10;Automatisch generierte Beschreibung">
            <a:extLst>
              <a:ext uri="{FF2B5EF4-FFF2-40B4-BE49-F238E27FC236}">
                <a16:creationId xmlns:a16="http://schemas.microsoft.com/office/drawing/2014/main" id="{6E1CD2BD-2088-3DD4-DE2A-180F78778B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3588" r="17061"/>
          <a:stretch/>
        </p:blipFill>
        <p:spPr>
          <a:xfrm>
            <a:off x="8649478" y="859844"/>
            <a:ext cx="2662489" cy="2523407"/>
          </a:xfrm>
          <a:prstGeom prst="rect">
            <a:avLst/>
          </a:prstGeom>
        </p:spPr>
      </p:pic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34329BE2-B38E-1B9C-897B-0A7B38FA81D8}"/>
              </a:ext>
            </a:extLst>
          </p:cNvPr>
          <p:cNvSpPr/>
          <p:nvPr userDrawn="1"/>
        </p:nvSpPr>
        <p:spPr>
          <a:xfrm>
            <a:off x="888334" y="5122128"/>
            <a:ext cx="10010587" cy="428801"/>
          </a:xfrm>
          <a:prstGeom prst="roundRect">
            <a:avLst/>
          </a:prstGeom>
          <a:solidFill>
            <a:srgbClr val="3C6CE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5" name="Grafik 24" descr="Ein Bild, das Tisch, Zeichnung enthält.&#10;&#10;Automatisch generierte Beschreibung">
            <a:extLst>
              <a:ext uri="{FF2B5EF4-FFF2-40B4-BE49-F238E27FC236}">
                <a16:creationId xmlns:a16="http://schemas.microsoft.com/office/drawing/2014/main" id="{540E3050-E6BE-A774-F223-E09E59A30B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34187" y="5269204"/>
            <a:ext cx="323075" cy="161538"/>
          </a:xfrm>
          <a:prstGeom prst="rect">
            <a:avLst/>
          </a:prstGeom>
        </p:spPr>
      </p:pic>
      <p:pic>
        <p:nvPicPr>
          <p:cNvPr id="26" name="Picture 4" descr="Alessandro Radice Haushaltapparate">
            <a:extLst>
              <a:ext uri="{FF2B5EF4-FFF2-40B4-BE49-F238E27FC236}">
                <a16:creationId xmlns:a16="http://schemas.microsoft.com/office/drawing/2014/main" id="{7E8D3592-28E7-C7CB-67C3-FAE2C6A5A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33" y="5201066"/>
            <a:ext cx="660207" cy="2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Gewürz Nüsse">
            <a:extLst>
              <a:ext uri="{FF2B5EF4-FFF2-40B4-BE49-F238E27FC236}">
                <a16:creationId xmlns:a16="http://schemas.microsoft.com/office/drawing/2014/main" id="{9569E97F-D593-5399-5E40-6EECCF0258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801" y="5261242"/>
            <a:ext cx="519704" cy="1781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 descr="Ein Bild, das Text, Schrift, Grafiken, Logo enthält.&#10;&#10;Automatisch generierte Beschreibung">
            <a:extLst>
              <a:ext uri="{FF2B5EF4-FFF2-40B4-BE49-F238E27FC236}">
                <a16:creationId xmlns:a16="http://schemas.microsoft.com/office/drawing/2014/main" id="{77784F0A-ECD4-719F-EC96-12F182A0546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9700356" y="5250325"/>
            <a:ext cx="769652" cy="193674"/>
          </a:xfrm>
          <a:prstGeom prst="rect">
            <a:avLst/>
          </a:prstGeom>
        </p:spPr>
      </p:pic>
      <p:pic>
        <p:nvPicPr>
          <p:cNvPr id="29" name="Grafik 2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D20D7C55-70B4-10A3-60AB-8053AAFC490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biLevel thresh="25000"/>
          </a:blip>
          <a:stretch>
            <a:fillRect/>
          </a:stretch>
        </p:blipFill>
        <p:spPr>
          <a:xfrm>
            <a:off x="6231523" y="5284958"/>
            <a:ext cx="922325" cy="15904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99DCEA3D-F6BD-161E-0D1D-59B4ADB01C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14653" y="5243198"/>
            <a:ext cx="660208" cy="213235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1DA40D96-DA54-BDEC-FBFE-618EE3532989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>
                <a:solidFill>
                  <a:schemeClr val="bg1"/>
                </a:solidFill>
              </a:rPr>
              <a:t>Aproda | </a:t>
            </a:r>
            <a:r>
              <a:rPr lang="de-DE" sz="3000" b="0">
                <a:solidFill>
                  <a:schemeClr val="bg1"/>
                </a:solidFill>
              </a:rPr>
              <a:t>ERP. CRM. IT.</a:t>
            </a:r>
          </a:p>
        </p:txBody>
      </p:sp>
    </p:spTree>
    <p:extLst>
      <p:ext uri="{BB962C8B-B14F-4D97-AF65-F5344CB8AC3E}">
        <p14:creationId xmlns:p14="http://schemas.microsoft.com/office/powerpoint/2010/main" val="3571593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ächste Schr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69BF3-935E-425C-9DD7-785F46F95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Das sind die nächsten Schritte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AB406E7-8BE8-4D94-A928-3BFAB81802BB}"/>
              </a:ext>
            </a:extLst>
          </p:cNvPr>
          <p:cNvSpPr/>
          <p:nvPr userDrawn="1"/>
        </p:nvSpPr>
        <p:spPr>
          <a:xfrm>
            <a:off x="3475121" y="2442219"/>
            <a:ext cx="2620880" cy="2434579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r>
              <a:rPr lang="de-CH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8551B27-613E-4D9B-8FF2-3C32566DAC89}"/>
              </a:ext>
            </a:extLst>
          </p:cNvPr>
          <p:cNvSpPr/>
          <p:nvPr userDrawn="1"/>
        </p:nvSpPr>
        <p:spPr>
          <a:xfrm>
            <a:off x="712871" y="2442219"/>
            <a:ext cx="2620880" cy="2434580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A6053A0-9ECF-425E-A779-DA88D0A2BFE1}"/>
              </a:ext>
            </a:extLst>
          </p:cNvPr>
          <p:cNvSpPr/>
          <p:nvPr userDrawn="1"/>
        </p:nvSpPr>
        <p:spPr>
          <a:xfrm>
            <a:off x="6237371" y="2442218"/>
            <a:ext cx="2620880" cy="2434577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68FD347-D05A-4207-B639-81885DFCC546}"/>
              </a:ext>
            </a:extLst>
          </p:cNvPr>
          <p:cNvSpPr/>
          <p:nvPr userDrawn="1"/>
        </p:nvSpPr>
        <p:spPr>
          <a:xfrm>
            <a:off x="8999621" y="2457173"/>
            <a:ext cx="2620880" cy="2419621"/>
          </a:xfrm>
          <a:prstGeom prst="roundRect">
            <a:avLst/>
          </a:prstGeom>
          <a:noFill/>
          <a:ln w="57150">
            <a:solidFill>
              <a:srgbClr val="3C6C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3F0BC11-CB20-4F20-B492-A2570EBE0A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38199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6392A279-B830-4A48-B23B-A3C0B18CD85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98443" y="2592231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DC34721-16C9-4CD2-8E5E-840E975749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0694" y="2600665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74EBDC3-F25C-460E-BCE0-9EDA057F5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22943" y="2598498"/>
            <a:ext cx="2374233" cy="2149504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Punkt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D428E5D5-5EB2-4A93-954A-745633B9C60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96127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1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26E2063-0D03-4C37-B5D3-7E61D9ABA63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00974" y="2004042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2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B897AC6-6153-4983-8584-34C3FE8E9BC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05821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3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ECE6AAB4-CD24-4F5B-B618-368ADADFC94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210668" y="2007758"/>
            <a:ext cx="2031336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 lang="de-DE" sz="1800" b="1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Schritt 4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pic>
        <p:nvPicPr>
          <p:cNvPr id="21" name="Inhaltsplatzhalter 8">
            <a:extLst>
              <a:ext uri="{FF2B5EF4-FFF2-40B4-BE49-F238E27FC236}">
                <a16:creationId xmlns:a16="http://schemas.microsoft.com/office/drawing/2014/main" id="{7B341E73-A4B2-B218-A5AC-9C487B90B7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04F9FAF2-D559-449A-79B5-190DA2080248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7157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sere LO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042701D0-DC92-7B9D-F7B4-C287B576AA9C}"/>
              </a:ext>
            </a:extLst>
          </p:cNvPr>
          <p:cNvSpPr/>
          <p:nvPr userDrawn="1"/>
        </p:nvSpPr>
        <p:spPr>
          <a:xfrm>
            <a:off x="452586" y="2909701"/>
            <a:ext cx="5063093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BCE768A-CC48-D915-398F-1E1D5FA8BFCA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5000">
                <a:solidFill>
                  <a:srgbClr val="3C6CE8"/>
                </a:solidFill>
              </a:rPr>
              <a:t>Line of </a:t>
            </a:r>
            <a:endParaRPr lang="de-CH" sz="5000" dirty="0">
              <a:solidFill>
                <a:srgbClr val="3C6CE8"/>
              </a:solidFill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930B64A-96CF-CE17-CD86-9815C0E8614B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5000" dirty="0">
                <a:solidFill>
                  <a:schemeClr val="bg1"/>
                </a:solidFill>
              </a:rPr>
              <a:t>Business (LOB)</a:t>
            </a:r>
          </a:p>
        </p:txBody>
      </p:sp>
      <p:pic>
        <p:nvPicPr>
          <p:cNvPr id="6" name="Grafik 5" descr="Ein Bild, das Himmel, Screenshot, Symbol enthält.&#10;&#10;Automatisch generierte Beschreibung">
            <a:extLst>
              <a:ext uri="{FF2B5EF4-FFF2-40B4-BE49-F238E27FC236}">
                <a16:creationId xmlns:a16="http://schemas.microsoft.com/office/drawing/2014/main" id="{AE61C0D9-C67D-34A0-589C-6D23BE1764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62575" y="510941"/>
            <a:ext cx="6587242" cy="658724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B81DABE-280A-6787-57A0-6461931C99EE}"/>
              </a:ext>
            </a:extLst>
          </p:cNvPr>
          <p:cNvSpPr txBox="1"/>
          <p:nvPr userDrawn="1"/>
        </p:nvSpPr>
        <p:spPr>
          <a:xfrm>
            <a:off x="5973548" y="1978037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NEUPROJEKTE </a:t>
            </a:r>
          </a:p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DYNAMICS 365</a:t>
            </a:r>
            <a:endParaRPr lang="de-CH" sz="20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CD02C6-0AD4-E140-6E69-6050C1149D1D}"/>
              </a:ext>
            </a:extLst>
          </p:cNvPr>
          <p:cNvSpPr txBox="1"/>
          <p:nvPr userDrawn="1"/>
        </p:nvSpPr>
        <p:spPr>
          <a:xfrm>
            <a:off x="8862079" y="1979913"/>
            <a:ext cx="25265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CLOUD PRODUKTE D365 (STANDARD)</a:t>
            </a:r>
            <a:endParaRPr lang="de-DE" sz="2000" b="1" dirty="0">
              <a:solidFill>
                <a:schemeClr val="bg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F61F78-B111-9906-D397-9B578BB43F3D}"/>
              </a:ext>
            </a:extLst>
          </p:cNvPr>
          <p:cNvSpPr txBox="1"/>
          <p:nvPr userDrawn="1"/>
        </p:nvSpPr>
        <p:spPr>
          <a:xfrm>
            <a:off x="5966310" y="4932885"/>
            <a:ext cx="252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BESTANDS-</a:t>
            </a:r>
            <a:b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</a:b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</a:rPr>
              <a:t>KUNDEN </a:t>
            </a:r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D365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9170D2-0A31-29E9-FB6F-B833597B641E}"/>
              </a:ext>
            </a:extLst>
          </p:cNvPr>
          <p:cNvSpPr txBox="1"/>
          <p:nvPr userDrawn="1"/>
        </p:nvSpPr>
        <p:spPr>
          <a:xfrm>
            <a:off x="8859160" y="4933224"/>
            <a:ext cx="19033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>
                <a:solidFill>
                  <a:srgbClr val="3C6CE8"/>
                </a:solidFill>
                <a:latin typeface="Arial"/>
                <a:cs typeface="Arial"/>
                <a:sym typeface="Wingdings" panose="05000000000000000000" pitchFamily="2" charset="2"/>
              </a:rPr>
              <a:t>IT-SERVICES</a:t>
            </a:r>
          </a:p>
        </p:txBody>
      </p:sp>
      <p:pic>
        <p:nvPicPr>
          <p:cNvPr id="11" name="Grafik 10" descr="Marke 1 mit einfarbiger Füllung">
            <a:extLst>
              <a:ext uri="{FF2B5EF4-FFF2-40B4-BE49-F238E27FC236}">
                <a16:creationId xmlns:a16="http://schemas.microsoft.com/office/drawing/2014/main" id="{CC8DF133-3F00-B492-86F4-9E66D8176F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0059" y="1056411"/>
            <a:ext cx="504000" cy="504000"/>
          </a:xfrm>
          <a:prstGeom prst="rect">
            <a:avLst/>
          </a:prstGeom>
        </p:spPr>
      </p:pic>
      <p:pic>
        <p:nvPicPr>
          <p:cNvPr id="12" name="Grafik 11" descr="Abzeichen mit einfarbiger Füllung">
            <a:extLst>
              <a:ext uri="{FF2B5EF4-FFF2-40B4-BE49-F238E27FC236}">
                <a16:creationId xmlns:a16="http://schemas.microsoft.com/office/drawing/2014/main" id="{49158F65-FB37-BDA6-387E-EA911397E0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059" y="3979786"/>
            <a:ext cx="504000" cy="504000"/>
          </a:xfrm>
          <a:prstGeom prst="rect">
            <a:avLst/>
          </a:prstGeom>
        </p:spPr>
      </p:pic>
      <p:pic>
        <p:nvPicPr>
          <p:cNvPr id="13" name="Grafik 12" descr="Marke 3 mit einfarbiger Füllung">
            <a:extLst>
              <a:ext uri="{FF2B5EF4-FFF2-40B4-BE49-F238E27FC236}">
                <a16:creationId xmlns:a16="http://schemas.microsoft.com/office/drawing/2014/main" id="{B1C554E4-1B9F-1BAC-C192-DF1EBD3CE8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3927" y="1049628"/>
            <a:ext cx="504000" cy="504000"/>
          </a:xfrm>
          <a:prstGeom prst="rect">
            <a:avLst/>
          </a:prstGeom>
        </p:spPr>
      </p:pic>
      <p:pic>
        <p:nvPicPr>
          <p:cNvPr id="14" name="Grafik 13" descr="Marke 4 mit einfarbiger Füllung">
            <a:extLst>
              <a:ext uri="{FF2B5EF4-FFF2-40B4-BE49-F238E27FC236}">
                <a16:creationId xmlns:a16="http://schemas.microsoft.com/office/drawing/2014/main" id="{CA5CAF58-E511-B80F-E65C-9D5403BB2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927" y="3967263"/>
            <a:ext cx="504000" cy="50400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744C9A66-6B6E-7DEB-220C-07C111FE950E}"/>
              </a:ext>
            </a:extLst>
          </p:cNvPr>
          <p:cNvSpPr txBox="1"/>
          <p:nvPr userDrawn="1"/>
        </p:nvSpPr>
        <p:spPr>
          <a:xfrm>
            <a:off x="5975816" y="1713771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D24E5C6-02E1-4B2D-F0BE-67F108755653}"/>
              </a:ext>
            </a:extLst>
          </p:cNvPr>
          <p:cNvSpPr txBox="1"/>
          <p:nvPr userDrawn="1"/>
        </p:nvSpPr>
        <p:spPr>
          <a:xfrm>
            <a:off x="8859007" y="171109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B8F55EA-424E-A95B-F5F4-398DB606DE79}"/>
              </a:ext>
            </a:extLst>
          </p:cNvPr>
          <p:cNvSpPr txBox="1"/>
          <p:nvPr userDrawn="1"/>
        </p:nvSpPr>
        <p:spPr>
          <a:xfrm>
            <a:off x="5977794" y="4666564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091AD35-F95E-FDF5-8305-680D1B840FD8}"/>
              </a:ext>
            </a:extLst>
          </p:cNvPr>
          <p:cNvSpPr txBox="1"/>
          <p:nvPr userDrawn="1"/>
        </p:nvSpPr>
        <p:spPr>
          <a:xfrm>
            <a:off x="8868359" y="4663887"/>
            <a:ext cx="6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LOB</a:t>
            </a:r>
            <a:endParaRPr lang="de-CH" sz="1200" dirty="0"/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018DED8F-A444-667D-FC7D-198D463DB5B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65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kunftsstarke Gemeinschaft_Bech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8CBBA5D-EEC1-4F14-A8AB-D5F590EBDB37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97237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/>
              <a:t>Zukunftsstarke Gemeinschaft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607D1C-D143-4E8B-8688-DD29E5693D4E}"/>
              </a:ext>
            </a:extLst>
          </p:cNvPr>
          <p:cNvSpPr txBox="1"/>
          <p:nvPr userDrawn="1"/>
        </p:nvSpPr>
        <p:spPr>
          <a:xfrm>
            <a:off x="838200" y="1379621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>
                <a:latin typeface="Arial" panose="020B0604020202020204" pitchFamily="34" charset="0"/>
                <a:cs typeface="Arial" panose="020B0604020202020204" pitchFamily="34" charset="0"/>
              </a:rPr>
              <a:t>Tochtergesellschaft von Bechtle AG – seit Januar 2018</a:t>
            </a:r>
          </a:p>
          <a:p>
            <a:endParaRPr lang="de-CH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D150BB2-636B-4FE4-A999-EC24E8A2B6F4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7CFD9E67-A9A6-4611-B425-99EFDF61F9EF}"/>
              </a:ext>
            </a:extLst>
          </p:cNvPr>
          <p:cNvSpPr txBox="1"/>
          <p:nvPr userDrawn="1"/>
        </p:nvSpPr>
        <p:spPr>
          <a:xfrm>
            <a:off x="1271581" y="3182618"/>
            <a:ext cx="4327113" cy="189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Bechtle AG ist mit 12’000 Mitarbeitenden in Deutschland, Österreich und der Schweiz aktiv und zählt mit E-Commerce-Gesellschaften in 14 Ländern zu den führenden </a:t>
            </a:r>
            <a:b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IT-Unternehmen in Europa. 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D6CC329-227B-4310-8A25-0C350A275903}"/>
              </a:ext>
            </a:extLst>
          </p:cNvPr>
          <p:cNvSpPr txBox="1"/>
          <p:nvPr userDrawn="1"/>
        </p:nvSpPr>
        <p:spPr>
          <a:xfrm>
            <a:off x="1271582" y="2626498"/>
            <a:ext cx="4464548" cy="40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de-CH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 Teil von Bechtle – unser Vorteil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1E8C089-0BE4-44C1-BD26-6FEA4DEE0869}"/>
              </a:ext>
            </a:extLst>
          </p:cNvPr>
          <p:cNvSpPr txBox="1"/>
          <p:nvPr userDrawn="1"/>
        </p:nvSpPr>
        <p:spPr>
          <a:xfrm>
            <a:off x="7110261" y="4858260"/>
            <a:ext cx="400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Direkter Zugang zu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Microsoft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 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7E6C7DA-B106-49B8-ACA6-BD73A6CD86E0}"/>
              </a:ext>
            </a:extLst>
          </p:cNvPr>
          <p:cNvSpPr txBox="1"/>
          <p:nvPr userDrawn="1"/>
        </p:nvSpPr>
        <p:spPr>
          <a:xfrm>
            <a:off x="7110261" y="2438112"/>
            <a:ext cx="4520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Umfassender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 Ressourcenpool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 an Fachspezialisten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8438583-44C3-4DE2-AAB4-2B43538B33E7}"/>
              </a:ext>
            </a:extLst>
          </p:cNvPr>
          <p:cNvSpPr txBox="1"/>
          <p:nvPr userDrawn="1"/>
        </p:nvSpPr>
        <p:spPr>
          <a:xfrm>
            <a:off x="7110261" y="3648186"/>
            <a:ext cx="5357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Wir agieren </a:t>
            </a:r>
            <a:r>
              <a:rPr lang="de-DE" b="1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eigenständig </a:t>
            </a:r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als </a:t>
            </a:r>
          </a:p>
          <a:p>
            <a:r>
              <a:rPr lang="de-DE">
                <a:latin typeface="Arial" panose="020B0604020202020204" pitchFamily="34" charset="0"/>
                <a:ea typeface="Merriweather Light" charset="0"/>
                <a:cs typeface="Arial" panose="020B0604020202020204" pitchFamily="34" charset="0"/>
              </a:rPr>
              <a:t>KMU in der Gruppe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6DD704ED-92FD-4CA2-A9A3-64E284437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1582" y="2544443"/>
            <a:ext cx="563478" cy="54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6A229188-FC56-4D1C-B897-0E77E1052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902" y="3738445"/>
            <a:ext cx="563478" cy="54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9B681AA-0CB4-4C75-8FFF-0523E36299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902" y="4826689"/>
            <a:ext cx="516522" cy="540000"/>
          </a:xfrm>
          <a:prstGeom prst="rect">
            <a:avLst/>
          </a:prstGeom>
        </p:spPr>
      </p:pic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1992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ösungs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790A82BF-D485-5C37-5E53-290348755D2A}"/>
              </a:ext>
            </a:extLst>
          </p:cNvPr>
          <p:cNvSpPr/>
          <p:nvPr userDrawn="1"/>
        </p:nvSpPr>
        <p:spPr>
          <a:xfrm>
            <a:off x="452586" y="2909701"/>
            <a:ext cx="4858949" cy="1008465"/>
          </a:xfrm>
          <a:prstGeom prst="round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A2C1CFC-811E-420E-AC65-C54B19C907D3}"/>
              </a:ext>
            </a:extLst>
          </p:cNvPr>
          <p:cNvSpPr txBox="1">
            <a:spLocks/>
          </p:cNvSpPr>
          <p:nvPr userDrawn="1"/>
        </p:nvSpPr>
        <p:spPr>
          <a:xfrm>
            <a:off x="416780" y="2065357"/>
            <a:ext cx="6200691" cy="10084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rgbClr val="3C6CE8"/>
                </a:solidFill>
              </a:rPr>
              <a:t>Aproda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8548FA7-F16E-66BE-5DC7-114604EBC4B6}"/>
              </a:ext>
            </a:extLst>
          </p:cNvPr>
          <p:cNvSpPr txBox="1">
            <a:spLocks/>
          </p:cNvSpPr>
          <p:nvPr userDrawn="1"/>
        </p:nvSpPr>
        <p:spPr>
          <a:xfrm>
            <a:off x="486356" y="2569121"/>
            <a:ext cx="5029323" cy="1630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CH" sz="4400" dirty="0">
                <a:solidFill>
                  <a:schemeClr val="bg1"/>
                </a:solidFill>
              </a:rPr>
              <a:t>Lösungsportfolio</a:t>
            </a:r>
          </a:p>
        </p:txBody>
      </p:sp>
      <p:pic>
        <p:nvPicPr>
          <p:cNvPr id="3" name="Grafik 2" descr="Ein Bild, das Text, Screenshot, Kreis enthält.&#10;&#10;Automatisch generierte Beschreibung">
            <a:extLst>
              <a:ext uri="{FF2B5EF4-FFF2-40B4-BE49-F238E27FC236}">
                <a16:creationId xmlns:a16="http://schemas.microsoft.com/office/drawing/2014/main" id="{F9D6B934-7B9E-6845-34DC-963DEBEB54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15679" y="533663"/>
            <a:ext cx="5790674" cy="579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37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pro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8">
            <a:extLst>
              <a:ext uri="{FF2B5EF4-FFF2-40B4-BE49-F238E27FC236}">
                <a16:creationId xmlns:a16="http://schemas.microsoft.com/office/drawing/2014/main" id="{46194A26-65DD-2B8F-AFED-912C383675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B76382EE-0672-0555-9CD6-E90AF454EB9B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D72DDDBB-C3FC-3C40-6026-066190A28A81}"/>
              </a:ext>
            </a:extLst>
          </p:cNvPr>
          <p:cNvSpPr/>
          <p:nvPr userDrawn="1"/>
        </p:nvSpPr>
        <p:spPr>
          <a:xfrm>
            <a:off x="938464" y="1665466"/>
            <a:ext cx="1628775" cy="2759743"/>
          </a:xfrm>
          <a:prstGeom prst="roundRect">
            <a:avLst/>
          </a:prstGeom>
          <a:solidFill>
            <a:schemeClr val="bg1"/>
          </a:solidFill>
          <a:ln w="41275">
            <a:solidFill>
              <a:srgbClr val="3C6CE8"/>
            </a:solidFill>
            <a:prstDash val="lgDash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D0FAFBE-4FC2-9287-93A8-FD58363B5AFB}"/>
              </a:ext>
            </a:extLst>
          </p:cNvPr>
          <p:cNvSpPr/>
          <p:nvPr userDrawn="1"/>
        </p:nvSpPr>
        <p:spPr>
          <a:xfrm>
            <a:off x="2891594" y="1665466"/>
            <a:ext cx="2619375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489B4B2D-506E-6BD1-1FF4-34A6557A1219}"/>
              </a:ext>
            </a:extLst>
          </p:cNvPr>
          <p:cNvSpPr/>
          <p:nvPr userDrawn="1"/>
        </p:nvSpPr>
        <p:spPr>
          <a:xfrm>
            <a:off x="5863393" y="1665465"/>
            <a:ext cx="5462333" cy="2759744"/>
          </a:xfrm>
          <a:prstGeom prst="roundRect">
            <a:avLst/>
          </a:prstGeom>
          <a:solidFill>
            <a:srgbClr val="3C6CE8"/>
          </a:solidFill>
          <a:ln>
            <a:solidFill>
              <a:srgbClr val="3C6C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7C47FDE-3CBA-1252-100E-BDCEBC980BED}"/>
              </a:ext>
            </a:extLst>
          </p:cNvPr>
          <p:cNvCxnSpPr>
            <a:cxnSpLocks/>
          </p:cNvCxnSpPr>
          <p:nvPr userDrawn="1"/>
        </p:nvCxnSpPr>
        <p:spPr>
          <a:xfrm>
            <a:off x="3082094" y="4646792"/>
            <a:ext cx="242887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26AFA6-7A56-13F7-556A-7B9F1401F524}"/>
              </a:ext>
            </a:extLst>
          </p:cNvPr>
          <p:cNvCxnSpPr>
            <a:cxnSpLocks/>
          </p:cNvCxnSpPr>
          <p:nvPr userDrawn="1"/>
        </p:nvCxnSpPr>
        <p:spPr>
          <a:xfrm>
            <a:off x="5863394" y="4646792"/>
            <a:ext cx="533800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feil: Chevron 22">
            <a:extLst>
              <a:ext uri="{FF2B5EF4-FFF2-40B4-BE49-F238E27FC236}">
                <a16:creationId xmlns:a16="http://schemas.microsoft.com/office/drawing/2014/main" id="{E26FB2DF-05A3-EE79-E36D-86D85BA90BF7}"/>
              </a:ext>
            </a:extLst>
          </p:cNvPr>
          <p:cNvSpPr/>
          <p:nvPr userDrawn="1"/>
        </p:nvSpPr>
        <p:spPr>
          <a:xfrm>
            <a:off x="838200" y="5285229"/>
            <a:ext cx="4887482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8EF7184-28AF-6F99-8B0D-1FC7D3B14760}"/>
              </a:ext>
            </a:extLst>
          </p:cNvPr>
          <p:cNvSpPr txBox="1"/>
          <p:nvPr userDrawn="1"/>
        </p:nvSpPr>
        <p:spPr>
          <a:xfrm>
            <a:off x="3224969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>
                <a:solidFill>
                  <a:schemeClr val="bg1"/>
                </a:solidFill>
              </a:rPr>
              <a:t>Prototyp</a:t>
            </a:r>
            <a:r>
              <a:rPr lang="de-CH"/>
              <a:t> 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31E5525-A950-2549-574E-8F0E9DE950D1}"/>
              </a:ext>
            </a:extLst>
          </p:cNvPr>
          <p:cNvSpPr txBox="1"/>
          <p:nvPr userDrawn="1"/>
        </p:nvSpPr>
        <p:spPr>
          <a:xfrm>
            <a:off x="3467235" y="2266695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Funktionen</a:t>
            </a:r>
            <a:endParaRPr lang="de-CH"/>
          </a:p>
        </p:txBody>
      </p:sp>
      <p:pic>
        <p:nvPicPr>
          <p:cNvPr id="27" name="Grafik 26" descr="Chevronpfeile Silhouette">
            <a:extLst>
              <a:ext uri="{FF2B5EF4-FFF2-40B4-BE49-F238E27FC236}">
                <a16:creationId xmlns:a16="http://schemas.microsoft.com/office/drawing/2014/main" id="{41B8770E-78F1-8309-66B0-50AAC67C7E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274940"/>
            <a:ext cx="369332" cy="369332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1783087B-6522-0EE3-EA96-8159A37D0FC3}"/>
              </a:ext>
            </a:extLst>
          </p:cNvPr>
          <p:cNvSpPr txBox="1"/>
          <p:nvPr userDrawn="1"/>
        </p:nvSpPr>
        <p:spPr>
          <a:xfrm>
            <a:off x="3467235" y="2666313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Daten Set </a:t>
            </a:r>
            <a:endParaRPr lang="de-CH"/>
          </a:p>
        </p:txBody>
      </p:sp>
      <p:pic>
        <p:nvPicPr>
          <p:cNvPr id="37" name="Grafik 36" descr="Chevronpfeile Silhouette">
            <a:extLst>
              <a:ext uri="{FF2B5EF4-FFF2-40B4-BE49-F238E27FC236}">
                <a16:creationId xmlns:a16="http://schemas.microsoft.com/office/drawing/2014/main" id="{ED044AB0-5827-5F2F-5962-89807418C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2674558"/>
            <a:ext cx="369332" cy="369332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F76AC4F5-B4A2-5359-2EE3-1BEDD813DEBC}"/>
              </a:ext>
            </a:extLst>
          </p:cNvPr>
          <p:cNvSpPr txBox="1"/>
          <p:nvPr userDrawn="1"/>
        </p:nvSpPr>
        <p:spPr>
          <a:xfrm>
            <a:off x="3467235" y="3065931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Belege</a:t>
            </a:r>
            <a:r>
              <a:rPr lang="de-CH"/>
              <a:t> </a:t>
            </a:r>
          </a:p>
        </p:txBody>
      </p:sp>
      <p:pic>
        <p:nvPicPr>
          <p:cNvPr id="39" name="Grafik 38" descr="Chevronpfeile Silhouette">
            <a:extLst>
              <a:ext uri="{FF2B5EF4-FFF2-40B4-BE49-F238E27FC236}">
                <a16:creationId xmlns:a16="http://schemas.microsoft.com/office/drawing/2014/main" id="{2C20BBC0-CDE7-2247-CAD2-D3C72A41A9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074176"/>
            <a:ext cx="369332" cy="369332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579E34E3-F59D-6689-5896-3D8577DBFCCD}"/>
              </a:ext>
            </a:extLst>
          </p:cNvPr>
          <p:cNvSpPr txBox="1"/>
          <p:nvPr userDrawn="1"/>
        </p:nvSpPr>
        <p:spPr>
          <a:xfrm>
            <a:off x="3467235" y="3460818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>
                <a:solidFill>
                  <a:schemeClr val="bg1"/>
                </a:solidFill>
              </a:rPr>
              <a:t>Reports / BI</a:t>
            </a:r>
            <a:endParaRPr lang="de-CH"/>
          </a:p>
        </p:txBody>
      </p:sp>
      <p:pic>
        <p:nvPicPr>
          <p:cNvPr id="41" name="Grafik 40" descr="Chevronpfeile Silhouette">
            <a:extLst>
              <a:ext uri="{FF2B5EF4-FFF2-40B4-BE49-F238E27FC236}">
                <a16:creationId xmlns:a16="http://schemas.microsoft.com/office/drawing/2014/main" id="{A2441726-255D-992B-F8B0-33A4E3BA46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2094" y="3469063"/>
            <a:ext cx="369332" cy="369332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74CA003F-278E-FD53-EBD6-D605E305D394}"/>
              </a:ext>
            </a:extLst>
          </p:cNvPr>
          <p:cNvSpPr txBox="1"/>
          <p:nvPr userDrawn="1"/>
        </p:nvSpPr>
        <p:spPr>
          <a:xfrm>
            <a:off x="1033410" y="2197877"/>
            <a:ext cx="1543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Prozess Definition </a:t>
            </a:r>
          </a:p>
          <a:p>
            <a:endParaRPr lang="de-CH"/>
          </a:p>
          <a:p>
            <a:r>
              <a:rPr lang="de-CH"/>
              <a:t>Daten Definition</a:t>
            </a:r>
          </a:p>
          <a:p>
            <a:endParaRPr lang="de-CH"/>
          </a:p>
          <a:p>
            <a:r>
              <a:rPr lang="de-CH"/>
              <a:t>Schnittstellen</a:t>
            </a:r>
          </a:p>
          <a:p>
            <a:endParaRPr lang="de-CH"/>
          </a:p>
          <a:p>
            <a:endParaRPr lang="de-CH"/>
          </a:p>
          <a:p>
            <a:endParaRPr lang="de-CH"/>
          </a:p>
        </p:txBody>
      </p:sp>
      <p:graphicFrame>
        <p:nvGraphicFramePr>
          <p:cNvPr id="43" name="Tabelle 34">
            <a:extLst>
              <a:ext uri="{FF2B5EF4-FFF2-40B4-BE49-F238E27FC236}">
                <a16:creationId xmlns:a16="http://schemas.microsoft.com/office/drawing/2014/main" id="{D48ADE4C-5067-EDF1-2115-2D07945002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8687112"/>
              </p:ext>
            </p:extLst>
          </p:nvPr>
        </p:nvGraphicFramePr>
        <p:xfrm>
          <a:off x="6224336" y="1827040"/>
          <a:ext cx="4708358" cy="2314840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925562">
                  <a:extLst>
                    <a:ext uri="{9D8B030D-6E8A-4147-A177-3AD203B41FA5}">
                      <a16:colId xmlns:a16="http://schemas.microsoft.com/office/drawing/2014/main" val="2950714158"/>
                    </a:ext>
                  </a:extLst>
                </a:gridCol>
                <a:gridCol w="874257">
                  <a:extLst>
                    <a:ext uri="{9D8B030D-6E8A-4147-A177-3AD203B41FA5}">
                      <a16:colId xmlns:a16="http://schemas.microsoft.com/office/drawing/2014/main" val="2015855701"/>
                    </a:ext>
                  </a:extLst>
                </a:gridCol>
                <a:gridCol w="908539">
                  <a:extLst>
                    <a:ext uri="{9D8B030D-6E8A-4147-A177-3AD203B41FA5}">
                      <a16:colId xmlns:a16="http://schemas.microsoft.com/office/drawing/2014/main" val="1861169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Tasks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Aufwand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9717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Funktion Preisfindung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27h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46631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Vereinfachungen VK Auftrag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60377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Beleganpassungen RG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76229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Nachladen Daten Artikel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39344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Schnittstelle Web nachimplementieren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9715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942806"/>
                  </a:ext>
                </a:extLst>
              </a:tr>
            </a:tbl>
          </a:graphicData>
        </a:graphic>
      </p:graphicFrame>
      <p:sp>
        <p:nvSpPr>
          <p:cNvPr id="44" name="Textfeld 43">
            <a:extLst>
              <a:ext uri="{FF2B5EF4-FFF2-40B4-BE49-F238E27FC236}">
                <a16:creationId xmlns:a16="http://schemas.microsoft.com/office/drawing/2014/main" id="{0CEB8CC0-98C6-9FC1-24E2-C80FB4FCF97E}"/>
              </a:ext>
            </a:extLst>
          </p:cNvPr>
          <p:cNvSpPr txBox="1"/>
          <p:nvPr userDrawn="1"/>
        </p:nvSpPr>
        <p:spPr>
          <a:xfrm>
            <a:off x="1195889" y="5334286"/>
            <a:ext cx="31849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P1: Spezifikation und </a:t>
            </a:r>
            <a:r>
              <a:rPr lang="en-US" sz="1200" i="1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4215C2C-A8B4-E08A-C7E3-B716A63A58E2}"/>
              </a:ext>
            </a:extLst>
          </p:cNvPr>
          <p:cNvSpPr txBox="1"/>
          <p:nvPr userDrawn="1"/>
        </p:nvSpPr>
        <p:spPr>
          <a:xfrm>
            <a:off x="3082094" y="4698546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12ED4BD-42DA-B929-3638-8632701E0442}"/>
              </a:ext>
            </a:extLst>
          </p:cNvPr>
          <p:cNvSpPr txBox="1"/>
          <p:nvPr userDrawn="1"/>
        </p:nvSpPr>
        <p:spPr>
          <a:xfrm>
            <a:off x="5863394" y="4702054"/>
            <a:ext cx="5338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Kontigent an Arbeitstagen für Finalisierung</a:t>
            </a:r>
          </a:p>
        </p:txBody>
      </p:sp>
      <p:cxnSp>
        <p:nvCxnSpPr>
          <p:cNvPr id="47" name="Gerade Verbindung mit Pfeil 7">
            <a:extLst>
              <a:ext uri="{FF2B5EF4-FFF2-40B4-BE49-F238E27FC236}">
                <a16:creationId xmlns:a16="http://schemas.microsoft.com/office/drawing/2014/main" id="{59DFD12E-08DA-3885-2AAC-D7A7241F6E75}"/>
              </a:ext>
            </a:extLst>
          </p:cNvPr>
          <p:cNvCxnSpPr>
            <a:cxnSpLocks/>
          </p:cNvCxnSpPr>
          <p:nvPr userDrawn="1"/>
        </p:nvCxnSpPr>
        <p:spPr>
          <a:xfrm>
            <a:off x="1128045" y="4646792"/>
            <a:ext cx="123914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35">
            <a:extLst>
              <a:ext uri="{FF2B5EF4-FFF2-40B4-BE49-F238E27FC236}">
                <a16:creationId xmlns:a16="http://schemas.microsoft.com/office/drawing/2014/main" id="{716641BA-E2DC-0D1E-52C6-7F501DD06B7B}"/>
              </a:ext>
            </a:extLst>
          </p:cNvPr>
          <p:cNvSpPr txBox="1"/>
          <p:nvPr userDrawn="1"/>
        </p:nvSpPr>
        <p:spPr>
          <a:xfrm>
            <a:off x="533177" y="4695850"/>
            <a:ext cx="2428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>
                    <a:lumMod val="50000"/>
                  </a:schemeClr>
                </a:solidFill>
              </a:rPr>
              <a:t>Fixpreis</a:t>
            </a:r>
          </a:p>
        </p:txBody>
      </p:sp>
      <p:sp>
        <p:nvSpPr>
          <p:cNvPr id="49" name="Pfeil: Chevron 10">
            <a:extLst>
              <a:ext uri="{FF2B5EF4-FFF2-40B4-BE49-F238E27FC236}">
                <a16:creationId xmlns:a16="http://schemas.microsoft.com/office/drawing/2014/main" id="{C69399F5-5E6C-FF0D-7313-871EC7B5BE9A}"/>
              </a:ext>
            </a:extLst>
          </p:cNvPr>
          <p:cNvSpPr/>
          <p:nvPr userDrawn="1"/>
        </p:nvSpPr>
        <p:spPr>
          <a:xfrm>
            <a:off x="5947160" y="5292431"/>
            <a:ext cx="5462333" cy="392948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9C662FAA-5AF8-467A-33A3-1CCF664228D7}"/>
              </a:ext>
            </a:extLst>
          </p:cNvPr>
          <p:cNvSpPr/>
          <p:nvPr userDrawn="1"/>
        </p:nvSpPr>
        <p:spPr>
          <a:xfrm>
            <a:off x="9972809" y="5031703"/>
            <a:ext cx="900000" cy="900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b="1"/>
              <a:t>Going Live</a:t>
            </a:r>
          </a:p>
        </p:txBody>
      </p:sp>
      <p:sp>
        <p:nvSpPr>
          <p:cNvPr id="51" name="Textfeld 34">
            <a:extLst>
              <a:ext uri="{FF2B5EF4-FFF2-40B4-BE49-F238E27FC236}">
                <a16:creationId xmlns:a16="http://schemas.microsoft.com/office/drawing/2014/main" id="{8B6C668C-40E0-CE09-A5CE-EAEAAB079883}"/>
              </a:ext>
            </a:extLst>
          </p:cNvPr>
          <p:cNvSpPr txBox="1"/>
          <p:nvPr userDrawn="1"/>
        </p:nvSpPr>
        <p:spPr>
          <a:xfrm>
            <a:off x="6625242" y="5350405"/>
            <a:ext cx="3530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200" i="1">
                <a:solidFill>
                  <a:schemeClr val="bg1"/>
                </a:solidFill>
              </a:rPr>
              <a:t>P2: Schulung, Finalisierung und Optimierung</a:t>
            </a:r>
          </a:p>
        </p:txBody>
      </p:sp>
      <p:sp>
        <p:nvSpPr>
          <p:cNvPr id="52" name="Rectangle 12">
            <a:extLst>
              <a:ext uri="{FF2B5EF4-FFF2-40B4-BE49-F238E27FC236}">
                <a16:creationId xmlns:a16="http://schemas.microsoft.com/office/drawing/2014/main" id="{0FC52AC2-FC6A-3DA7-6633-27DC45F85073}"/>
              </a:ext>
            </a:extLst>
          </p:cNvPr>
          <p:cNvSpPr/>
          <p:nvPr userDrawn="1"/>
        </p:nvSpPr>
        <p:spPr>
          <a:xfrm>
            <a:off x="1128045" y="5838995"/>
            <a:ext cx="4007977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40% der Projektzeit / ca. 50% des Budget</a:t>
            </a:r>
          </a:p>
          <a:p>
            <a:pPr algn="ctr"/>
            <a:r>
              <a:rPr lang="de-CH" sz="1200">
                <a:solidFill>
                  <a:schemeClr val="tx1"/>
                </a:solidFill>
              </a:rPr>
              <a:t>Lösung  ~80% fertig gebaut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3" name="Rectangle 38">
            <a:extLst>
              <a:ext uri="{FF2B5EF4-FFF2-40B4-BE49-F238E27FC236}">
                <a16:creationId xmlns:a16="http://schemas.microsoft.com/office/drawing/2014/main" id="{9D86B8B1-9C13-3A4F-237D-9C5CC6E09B4D}"/>
              </a:ext>
            </a:extLst>
          </p:cNvPr>
          <p:cNvSpPr/>
          <p:nvPr userDrawn="1"/>
        </p:nvSpPr>
        <p:spPr>
          <a:xfrm>
            <a:off x="5947160" y="5838995"/>
            <a:ext cx="4861518" cy="297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Ca. 60% der Projektzeit / ca. 50% es Budgets</a:t>
            </a:r>
            <a:endParaRPr lang="LID4096" sz="1200">
              <a:solidFill>
                <a:schemeClr val="tx1"/>
              </a:solidFill>
            </a:endParaRPr>
          </a:p>
        </p:txBody>
      </p:sp>
      <p:sp>
        <p:nvSpPr>
          <p:cNvPr id="54" name="Textfeld 14">
            <a:extLst>
              <a:ext uri="{FF2B5EF4-FFF2-40B4-BE49-F238E27FC236}">
                <a16:creationId xmlns:a16="http://schemas.microsoft.com/office/drawing/2014/main" id="{94E74933-7905-9FBE-EC1A-B18F0B484280}"/>
              </a:ext>
            </a:extLst>
          </p:cNvPr>
          <p:cNvSpPr txBox="1"/>
          <p:nvPr userDrawn="1"/>
        </p:nvSpPr>
        <p:spPr>
          <a:xfrm>
            <a:off x="995980" y="1828545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/>
              <a:t>Spezifikation</a:t>
            </a:r>
            <a:r>
              <a:rPr lang="de-CH"/>
              <a:t> 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07B7BDDB-51DA-72CD-9068-9358A96EFE20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Unsere Antwort für Neuprojekte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3880268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Business 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CBEFDF4-5E48-D8F2-A8C1-52BC947DF5CA}"/>
              </a:ext>
            </a:extLst>
          </p:cNvPr>
          <p:cNvSpPr/>
          <p:nvPr userDrawn="1"/>
        </p:nvSpPr>
        <p:spPr>
          <a:xfrm>
            <a:off x="838200" y="187632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Finanzen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9A185C2-7458-4270-22CF-FF7A2ABCEFEB}"/>
              </a:ext>
            </a:extLst>
          </p:cNvPr>
          <p:cNvSpPr/>
          <p:nvPr userDrawn="1"/>
        </p:nvSpPr>
        <p:spPr>
          <a:xfrm>
            <a:off x="838200" y="259724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Verkauf &amp; Service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072D6BF-E869-7706-6F03-50EE6F541EC8}"/>
              </a:ext>
            </a:extLst>
          </p:cNvPr>
          <p:cNvSpPr/>
          <p:nvPr userDrawn="1"/>
        </p:nvSpPr>
        <p:spPr>
          <a:xfrm>
            <a:off x="838200" y="331816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Projekte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C67B8D4C-A1F9-B95B-DA21-F7E16A485877}"/>
              </a:ext>
            </a:extLst>
          </p:cNvPr>
          <p:cNvSpPr/>
          <p:nvPr userDrawn="1"/>
        </p:nvSpPr>
        <p:spPr>
          <a:xfrm>
            <a:off x="838200" y="403908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Supply Chain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50861291-6D25-BB8B-FE72-11E07772FA88}"/>
              </a:ext>
            </a:extLst>
          </p:cNvPr>
          <p:cNvSpPr/>
          <p:nvPr userDrawn="1"/>
        </p:nvSpPr>
        <p:spPr>
          <a:xfrm>
            <a:off x="838200" y="4760004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 err="1"/>
              <a:t>Operations</a:t>
            </a:r>
            <a:endParaRPr lang="de-CH" sz="140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93B3BBD-B955-A950-1597-5428ED55AB4B}"/>
              </a:ext>
            </a:extLst>
          </p:cNvPr>
          <p:cNvSpPr/>
          <p:nvPr userDrawn="1"/>
        </p:nvSpPr>
        <p:spPr>
          <a:xfrm>
            <a:off x="838200" y="5479239"/>
            <a:ext cx="3048100" cy="6395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tlCol="0" anchor="ctr"/>
          <a:lstStyle/>
          <a:p>
            <a:r>
              <a:rPr lang="de-CH" sz="1400"/>
              <a:t>Reporting &amp; Analyse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23D4A8B-556A-554C-C3D9-C5C2B2E82B7D}"/>
              </a:ext>
            </a:extLst>
          </p:cNvPr>
          <p:cNvSpPr/>
          <p:nvPr userDrawn="1"/>
        </p:nvSpPr>
        <p:spPr>
          <a:xfrm>
            <a:off x="3977935" y="187632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Finanz-Buchhaltung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inkl. Nebenbücher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9A01D66-13B0-E0D0-EC5C-77E47AFDA929}"/>
              </a:ext>
            </a:extLst>
          </p:cNvPr>
          <p:cNvSpPr/>
          <p:nvPr userDrawn="1"/>
        </p:nvSpPr>
        <p:spPr>
          <a:xfrm>
            <a:off x="5912332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Bank- &amp; Liquiditäts-Management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EE4AD82-760B-9A30-D232-60CFE77EC5D4}"/>
              </a:ext>
            </a:extLst>
          </p:cNvPr>
          <p:cNvSpPr/>
          <p:nvPr userDrawn="1"/>
        </p:nvSpPr>
        <p:spPr>
          <a:xfrm>
            <a:off x="7846729" y="187632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Anlagen-Buchhaltung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1AD610C-E023-1EF2-99C2-542D5E91A597}"/>
              </a:ext>
            </a:extLst>
          </p:cNvPr>
          <p:cNvSpPr/>
          <p:nvPr userDrawn="1"/>
        </p:nvSpPr>
        <p:spPr>
          <a:xfrm>
            <a:off x="9771294" y="1866851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Kostenrechnung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E69A687-4692-9975-FBB5-3BE274740EF4}"/>
              </a:ext>
            </a:extLst>
          </p:cNvPr>
          <p:cNvSpPr/>
          <p:nvPr userDrawn="1"/>
        </p:nvSpPr>
        <p:spPr>
          <a:xfrm>
            <a:off x="3977935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CRM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FAF9A508-48B3-328A-016C-3F69F328D1F2}"/>
              </a:ext>
            </a:extLst>
          </p:cNvPr>
          <p:cNvSpPr/>
          <p:nvPr userDrawn="1"/>
        </p:nvSpPr>
        <p:spPr>
          <a:xfrm>
            <a:off x="5912332" y="259724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Angebots-Verwaltung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DA4BF0-1A4E-7EE4-BA22-2343E35D5729}"/>
              </a:ext>
            </a:extLst>
          </p:cNvPr>
          <p:cNvSpPr/>
          <p:nvPr userDrawn="1"/>
        </p:nvSpPr>
        <p:spPr>
          <a:xfrm>
            <a:off x="7846729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Auftrags-Abwicklung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(</a:t>
            </a:r>
            <a:r>
              <a:rPr lang="de-CH" sz="1200" err="1">
                <a:solidFill>
                  <a:schemeClr val="tx1"/>
                </a:solidFill>
              </a:rPr>
              <a:t>order</a:t>
            </a:r>
            <a:r>
              <a:rPr lang="de-CH" sz="1200">
                <a:solidFill>
                  <a:schemeClr val="tx1"/>
                </a:solidFill>
              </a:rPr>
              <a:t> to cash)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46EFF4A-0D69-708F-A8C0-BD8A0E9243CD}"/>
              </a:ext>
            </a:extLst>
          </p:cNvPr>
          <p:cNvSpPr/>
          <p:nvPr userDrawn="1"/>
        </p:nvSpPr>
        <p:spPr>
          <a:xfrm>
            <a:off x="9771294" y="2598406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Vertrags-Management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AF7E5D6-4A08-C538-BB55-AB0688EF8631}"/>
              </a:ext>
            </a:extLst>
          </p:cNvPr>
          <p:cNvSpPr/>
          <p:nvPr userDrawn="1"/>
        </p:nvSpPr>
        <p:spPr>
          <a:xfrm>
            <a:off x="3977935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Budgetierung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Planung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8BA958A-7FD9-E768-C67D-4E27D7FF8435}"/>
              </a:ext>
            </a:extLst>
          </p:cNvPr>
          <p:cNvSpPr/>
          <p:nvPr userDrawn="1"/>
        </p:nvSpPr>
        <p:spPr>
          <a:xfrm>
            <a:off x="3977935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Artikel- &amp; Material-Verwaltung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8BE354E-9379-683E-4763-764723F12DA6}"/>
              </a:ext>
            </a:extLst>
          </p:cNvPr>
          <p:cNvSpPr/>
          <p:nvPr userDrawn="1"/>
        </p:nvSpPr>
        <p:spPr>
          <a:xfrm>
            <a:off x="3977935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Produktions-Kapazitäten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61386745-C9BE-43AE-3762-219F5F6F45CD}"/>
              </a:ext>
            </a:extLst>
          </p:cNvPr>
          <p:cNvSpPr/>
          <p:nvPr userDrawn="1"/>
        </p:nvSpPr>
        <p:spPr>
          <a:xfrm>
            <a:off x="3977935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Kunden-Analysen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0D2A059-24C2-BFE8-F8B2-7CFD4D8E0A1E}"/>
              </a:ext>
            </a:extLst>
          </p:cNvPr>
          <p:cNvSpPr/>
          <p:nvPr userDrawn="1"/>
        </p:nvSpPr>
        <p:spPr>
          <a:xfrm>
            <a:off x="5912332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Ressourcen-Verwaltung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5C3872EA-469F-A724-F11C-B32ECEE6FBEE}"/>
              </a:ext>
            </a:extLst>
          </p:cNvPr>
          <p:cNvSpPr/>
          <p:nvPr userDrawn="1"/>
        </p:nvSpPr>
        <p:spPr>
          <a:xfrm>
            <a:off x="5912332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Lager-Verwaltung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E468169-DE76-35E4-88F7-3933F0A2E1EA}"/>
              </a:ext>
            </a:extLst>
          </p:cNvPr>
          <p:cNvSpPr/>
          <p:nvPr userDrawn="1"/>
        </p:nvSpPr>
        <p:spPr>
          <a:xfrm>
            <a:off x="5912332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Absatz- &amp; Produktions-Planung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898F8C5C-C1BE-1D0A-A114-4B21B13B4117}"/>
              </a:ext>
            </a:extLst>
          </p:cNvPr>
          <p:cNvSpPr/>
          <p:nvPr userDrawn="1"/>
        </p:nvSpPr>
        <p:spPr>
          <a:xfrm>
            <a:off x="5912332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AdHoc-Auswertungen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87C0F12-11E9-F2FC-5574-C97218673367}"/>
              </a:ext>
            </a:extLst>
          </p:cNvPr>
          <p:cNvSpPr/>
          <p:nvPr userDrawn="1"/>
        </p:nvSpPr>
        <p:spPr>
          <a:xfrm>
            <a:off x="7846729" y="3318163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Leistungserfassung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B2CDF85-A27D-B8FD-F09C-BFA094C892C7}"/>
              </a:ext>
            </a:extLst>
          </p:cNvPr>
          <p:cNvSpPr/>
          <p:nvPr userDrawn="1"/>
        </p:nvSpPr>
        <p:spPr>
          <a:xfrm>
            <a:off x="7846729" y="403908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Lieferanten- und Beschaffungs-Mgmt.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D6B30C9-3985-5AAE-64DE-D80DB5B58761}"/>
              </a:ext>
            </a:extLst>
          </p:cNvPr>
          <p:cNvSpPr/>
          <p:nvPr userDrawn="1"/>
        </p:nvSpPr>
        <p:spPr>
          <a:xfrm>
            <a:off x="7846729" y="476000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Fertigungs-Abwicklung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C363B09-48B7-52D9-A6AA-C448B3133012}"/>
              </a:ext>
            </a:extLst>
          </p:cNvPr>
          <p:cNvSpPr/>
          <p:nvPr userDrawn="1"/>
        </p:nvSpPr>
        <p:spPr>
          <a:xfrm>
            <a:off x="7846729" y="5479239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Dashboards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EB6F7EF-964A-7FDC-454F-91EBFF5A94A6}"/>
              </a:ext>
            </a:extLst>
          </p:cNvPr>
          <p:cNvSpPr/>
          <p:nvPr userDrawn="1"/>
        </p:nvSpPr>
        <p:spPr>
          <a:xfrm>
            <a:off x="9781126" y="3318164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Projekt-Controlling &amp;</a:t>
            </a:r>
            <a:br>
              <a:rPr lang="de-CH" sz="1200">
                <a:solidFill>
                  <a:schemeClr val="tx1"/>
                </a:solidFill>
              </a:rPr>
            </a:br>
            <a:r>
              <a:rPr lang="de-CH" sz="1200">
                <a:solidFill>
                  <a:schemeClr val="tx1"/>
                </a:solidFill>
              </a:rPr>
              <a:t>WIP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5FEFBDC-0E2C-D19E-0556-628FEBBC06C7}"/>
              </a:ext>
            </a:extLst>
          </p:cNvPr>
          <p:cNvSpPr/>
          <p:nvPr userDrawn="1"/>
        </p:nvSpPr>
        <p:spPr>
          <a:xfrm>
            <a:off x="9781126" y="403908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Lagerbewertung und Optimierung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F6E7A76-B152-C0B5-E14C-1A9F66AE1C4C}"/>
              </a:ext>
            </a:extLst>
          </p:cNvPr>
          <p:cNvSpPr/>
          <p:nvPr userDrawn="1"/>
        </p:nvSpPr>
        <p:spPr>
          <a:xfrm>
            <a:off x="9781126" y="4760005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Lagerprozess-Steuerung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A41A2ABD-AA6A-B7E5-479D-0C7D2FCBCB76}"/>
              </a:ext>
            </a:extLst>
          </p:cNvPr>
          <p:cNvSpPr/>
          <p:nvPr userDrawn="1"/>
        </p:nvSpPr>
        <p:spPr>
          <a:xfrm>
            <a:off x="9781126" y="5479240"/>
            <a:ext cx="1842762" cy="639557"/>
          </a:xfrm>
          <a:prstGeom prst="rect">
            <a:avLst/>
          </a:prstGeom>
          <a:solidFill>
            <a:srgbClr val="DCD9DC"/>
          </a:solidFill>
          <a:ln>
            <a:solidFill>
              <a:srgbClr val="DCD9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r>
              <a:rPr lang="de-CH" sz="1200">
                <a:solidFill>
                  <a:schemeClr val="tx1"/>
                </a:solidFill>
              </a:rPr>
              <a:t>Obligatorisches Reporting</a:t>
            </a:r>
          </a:p>
        </p:txBody>
      </p:sp>
      <p:pic>
        <p:nvPicPr>
          <p:cNvPr id="55" name="Grafik 54" descr="Münzen mit einfarbiger Füllung">
            <a:extLst>
              <a:ext uri="{FF2B5EF4-FFF2-40B4-BE49-F238E27FC236}">
                <a16:creationId xmlns:a16="http://schemas.microsoft.com/office/drawing/2014/main" id="{6B8C9723-1301-E963-9652-709AFFEFC0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94" y="1925875"/>
            <a:ext cx="540000" cy="540000"/>
          </a:xfrm>
          <a:prstGeom prst="rect">
            <a:avLst/>
          </a:prstGeom>
        </p:spPr>
      </p:pic>
      <p:pic>
        <p:nvPicPr>
          <p:cNvPr id="56" name="Grafik 55" descr="Aufwärtstrend mit einfarbiger Füllung">
            <a:extLst>
              <a:ext uri="{FF2B5EF4-FFF2-40B4-BE49-F238E27FC236}">
                <a16:creationId xmlns:a16="http://schemas.microsoft.com/office/drawing/2014/main" id="{ADA4189B-5DFE-67C0-D0DF-9E60828123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965" y="5493214"/>
            <a:ext cx="540000" cy="540000"/>
          </a:xfrm>
          <a:prstGeom prst="rect">
            <a:avLst/>
          </a:prstGeom>
        </p:spPr>
      </p:pic>
      <p:pic>
        <p:nvPicPr>
          <p:cNvPr id="57" name="Grafik 56" descr="Laden mit einfarbiger Füllung">
            <a:extLst>
              <a:ext uri="{FF2B5EF4-FFF2-40B4-BE49-F238E27FC236}">
                <a16:creationId xmlns:a16="http://schemas.microsoft.com/office/drawing/2014/main" id="{06A92ACF-EE2D-40CA-5988-64EE983792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153" y="2618470"/>
            <a:ext cx="551018" cy="551018"/>
          </a:xfrm>
          <a:prstGeom prst="rect">
            <a:avLst/>
          </a:prstGeom>
        </p:spPr>
      </p:pic>
      <p:pic>
        <p:nvPicPr>
          <p:cNvPr id="58" name="Grafik 57" descr="Klemmbrett gemischt mit einfarbiger Füllung">
            <a:extLst>
              <a:ext uri="{FF2B5EF4-FFF2-40B4-BE49-F238E27FC236}">
                <a16:creationId xmlns:a16="http://schemas.microsoft.com/office/drawing/2014/main" id="{720D05A9-D9A9-7E68-9055-8C2BC10DAA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850" y="3359584"/>
            <a:ext cx="553453" cy="553453"/>
          </a:xfrm>
          <a:prstGeom prst="rect">
            <a:avLst/>
          </a:prstGeom>
        </p:spPr>
      </p:pic>
      <p:pic>
        <p:nvPicPr>
          <p:cNvPr id="59" name="Grafik 58" descr="Roboterhand mit einfarbiger Füllung">
            <a:extLst>
              <a:ext uri="{FF2B5EF4-FFF2-40B4-BE49-F238E27FC236}">
                <a16:creationId xmlns:a16="http://schemas.microsoft.com/office/drawing/2014/main" id="{D2CAC3D6-2353-0318-5960-8A1EF3CA79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312" y="4760005"/>
            <a:ext cx="588163" cy="588163"/>
          </a:xfrm>
          <a:prstGeom prst="rect">
            <a:avLst/>
          </a:prstGeom>
        </p:spPr>
      </p:pic>
      <p:pic>
        <p:nvPicPr>
          <p:cNvPr id="60" name="Grafik 59" descr="Lager mit einfarbiger Füllung">
            <a:extLst>
              <a:ext uri="{FF2B5EF4-FFF2-40B4-BE49-F238E27FC236}">
                <a16:creationId xmlns:a16="http://schemas.microsoft.com/office/drawing/2014/main" id="{CD8A2ABE-97CD-5FBC-B411-957B0E1CE5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929" y="4103826"/>
            <a:ext cx="510071" cy="510071"/>
          </a:xfrm>
          <a:prstGeom prst="rect">
            <a:avLst/>
          </a:prstGeom>
        </p:spPr>
      </p:pic>
      <p:sp>
        <p:nvSpPr>
          <p:cNvPr id="61" name="Textfeld 60">
            <a:extLst>
              <a:ext uri="{FF2B5EF4-FFF2-40B4-BE49-F238E27FC236}">
                <a16:creationId xmlns:a16="http://schemas.microsoft.com/office/drawing/2014/main" id="{12BF93B5-CF26-9EAC-0EE3-60B5AD710B0B}"/>
              </a:ext>
            </a:extLst>
          </p:cNvPr>
          <p:cNvSpPr txBox="1"/>
          <p:nvPr userDrawn="1"/>
        </p:nvSpPr>
        <p:spPr>
          <a:xfrm>
            <a:off x="846988" y="6475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4000" b="1"/>
              <a:t>Dynamics Business Central als ERP</a:t>
            </a:r>
            <a:endParaRPr lang="de-DE" sz="4000" b="1"/>
          </a:p>
        </p:txBody>
      </p:sp>
    </p:spTree>
    <p:extLst>
      <p:ext uri="{BB962C8B-B14F-4D97-AF65-F5344CB8AC3E}">
        <p14:creationId xmlns:p14="http://schemas.microsoft.com/office/powerpoint/2010/main" val="439472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70BE0-BE8A-434A-8222-3DB8A5DC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CBC3325-2E93-4304-9DDB-41B424720611}"/>
              </a:ext>
            </a:extLst>
          </p:cNvPr>
          <p:cNvSpPr/>
          <p:nvPr userDrawn="1"/>
        </p:nvSpPr>
        <p:spPr>
          <a:xfrm>
            <a:off x="838200" y="2152655"/>
            <a:ext cx="5220000" cy="3420000"/>
          </a:xfrm>
          <a:prstGeom prst="roundRect">
            <a:avLst/>
          </a:prstGeom>
          <a:solidFill>
            <a:srgbClr val="3C6CE8">
              <a:alpha val="99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anchor="ctr" anchorCtr="0">
            <a:noAutofit/>
          </a:bodyPr>
          <a:lstStyle/>
          <a:p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6201D9D-38AE-4F12-84C8-19B6EB51D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2385887"/>
            <a:ext cx="540000" cy="54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C6CA222-FBE7-447E-B92E-6B5FCCC483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3194732"/>
            <a:ext cx="540000" cy="54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9CAA1C4-2DF0-4103-9C33-E9B075C7D4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003577"/>
            <a:ext cx="540000" cy="54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EF17B2-4F47-4F28-812A-44E8D6C17D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6166" y="4812422"/>
            <a:ext cx="540000" cy="54000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6CA6F56-A83F-42DD-A1A8-30B89468DE9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0558" y="2513265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6AFE2F11-3DA4-491F-827B-714E490D3D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10558" y="3335566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CCC51CB5-078A-4427-B686-C47E676161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410558" y="415901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0FAC083C-F50E-4598-8D29-FA9945E0B1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10558" y="4983801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  <a:p>
            <a:pPr lvl="0"/>
            <a:endParaRPr lang="de-DE"/>
          </a:p>
          <a:p>
            <a:pPr lvl="3"/>
            <a:endParaRPr lang="de-DE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CB102A6B-6B22-4C41-9EEA-4F6D2B06D3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1582" y="2592179"/>
            <a:ext cx="3758984" cy="359455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200" b="1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F051876-ED06-43F3-B490-E5A2749F2CD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1582" y="3194732"/>
            <a:ext cx="3758984" cy="1956817"/>
          </a:xfrm>
        </p:spPr>
        <p:txBody>
          <a:bodyPr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180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22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Text hinzufügen</a:t>
            </a:r>
          </a:p>
        </p:txBody>
      </p:sp>
      <p:pic>
        <p:nvPicPr>
          <p:cNvPr id="20" name="Inhaltsplatzhalter 8">
            <a:extLst>
              <a:ext uri="{FF2B5EF4-FFF2-40B4-BE49-F238E27FC236}">
                <a16:creationId xmlns:a16="http://schemas.microsoft.com/office/drawing/2014/main" id="{E9D53DF6-28BF-1F76-86B0-35036C8862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700" y="365125"/>
            <a:ext cx="1986271" cy="50400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3AC58A76-8B57-C5A8-DD19-694270B429DC}"/>
              </a:ext>
            </a:extLst>
          </p:cNvPr>
          <p:cNvSpPr/>
          <p:nvPr userDrawn="1"/>
        </p:nvSpPr>
        <p:spPr>
          <a:xfrm>
            <a:off x="0" y="6680100"/>
            <a:ext cx="12192000" cy="180000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6781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da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573DE9D-CC42-1596-D1B1-9B50B9C3425B}"/>
              </a:ext>
            </a:extLst>
          </p:cNvPr>
          <p:cNvSpPr/>
          <p:nvPr userDrawn="1"/>
        </p:nvSpPr>
        <p:spPr>
          <a:xfrm>
            <a:off x="0" y="4059252"/>
            <a:ext cx="12192000" cy="2042445"/>
          </a:xfrm>
          <a:prstGeom prst="rect">
            <a:avLst/>
          </a:prstGeom>
          <a:solidFill>
            <a:srgbClr val="3C6C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FE2D0342-DCDB-468A-83F4-173ECCCBA7C3}"/>
              </a:ext>
            </a:extLst>
          </p:cNvPr>
          <p:cNvPicPr/>
          <p:nvPr userDrawn="1"/>
        </p:nvPicPr>
        <p:blipFill rotWithShape="1">
          <a:blip r:embed="rId2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7" r="19529"/>
          <a:stretch/>
        </p:blipFill>
        <p:spPr bwMode="auto">
          <a:xfrm>
            <a:off x="-445077" y="-806220"/>
            <a:ext cx="10553700" cy="106135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434B1A05-D9ED-4BA5-A97E-7478D9D4AB3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514975" y="2043378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Funktion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0644825D-7967-4418-8ED0-512A02136E6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22647" y="1698805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1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28DA80E4-CFDE-4356-BEB6-E3B26190BE2C}"/>
              </a:ext>
            </a:extLst>
          </p:cNvPr>
          <p:cNvSpPr txBox="1"/>
          <p:nvPr userDrawn="1"/>
        </p:nvSpPr>
        <p:spPr>
          <a:xfrm>
            <a:off x="5514975" y="4261582"/>
            <a:ext cx="64494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 AG</a:t>
            </a:r>
          </a:p>
          <a:p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Solutions </a:t>
            </a:r>
            <a:r>
              <a:rPr lang="de-CH" sz="14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CH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Bechtle</a:t>
            </a:r>
          </a:p>
          <a:p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aproda.ch </a:t>
            </a:r>
            <a:endParaRPr lang="de-CH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+41 58 200 10 10</a:t>
            </a:r>
          </a:p>
          <a:p>
            <a:endParaRPr lang="de-CH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 | Luzern | St. Gallen | Zürich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7039D44A-F6BD-49BA-9475-B4BE62C74F27}"/>
              </a:ext>
            </a:extLst>
          </p:cNvPr>
          <p:cNvSpPr txBox="1">
            <a:spLocks/>
          </p:cNvSpPr>
          <p:nvPr userDrawn="1"/>
        </p:nvSpPr>
        <p:spPr>
          <a:xfrm>
            <a:off x="5524500" y="392290"/>
            <a:ext cx="5124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/>
              <a:t>Ihr Kontakt bei uns</a:t>
            </a:r>
            <a:endParaRPr lang="de-CH"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B1391FC5-BF5F-43E6-9B2D-54FAAA6C50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24500" y="3157557"/>
            <a:ext cx="5893498" cy="416480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+41 58 200 xx </a:t>
            </a:r>
            <a:r>
              <a:rPr lang="de-DE" err="1"/>
              <a:t>xx</a:t>
            </a:r>
            <a:endParaRPr lang="de-DE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8F5F6A79-4B10-49C7-B68D-5907A17B508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532172" y="2812984"/>
            <a:ext cx="5893498" cy="394208"/>
          </a:xfrm>
        </p:spPr>
        <p:txBody>
          <a:bodyPr anchor="ctr">
            <a:normAutofit/>
          </a:bodyPr>
          <a:lstStyle>
            <a:lvl1pPr marL="0" marR="0" indent="-228600" algn="l" defTabSz="4572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None/>
              <a:tabLst/>
              <a:defRPr lang="de-DE" sz="2500" b="0" kern="1200" baseline="0" dirty="0" smtClean="0">
                <a:solidFill>
                  <a:schemeClr val="tx1"/>
                </a:solidFill>
                <a:latin typeface="+mj-lt"/>
                <a:ea typeface="Calibri Light" charset="0"/>
                <a:cs typeface="Arial" panose="020B0604020202020204" pitchFamily="34" charset="0"/>
              </a:defRPr>
            </a:lvl1pPr>
            <a:lvl2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2pPr>
            <a:lvl3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3pPr>
            <a:lvl4pPr marL="0" algn="l" defTabSz="457200" rtl="0" eaLnBrk="1" latinLnBrk="0" hangingPunct="1">
              <a:lnSpc>
                <a:spcPts val="1700"/>
              </a:lnSpc>
              <a:buClr>
                <a:schemeClr val="bg1"/>
              </a:buClr>
              <a:buNone/>
              <a:defRPr lang="de-DE" sz="1800" kern="1200" dirty="0" smtClean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4pPr>
            <a:lvl5pPr marL="0" algn="l" defTabSz="457200" rtl="0" eaLnBrk="1" latinLnBrk="0" hangingPunct="1">
              <a:buClr>
                <a:schemeClr val="bg1"/>
              </a:buClr>
              <a:defRPr lang="de-DE" sz="1800" kern="1200" dirty="0">
                <a:solidFill>
                  <a:schemeClr val="tx1"/>
                </a:solidFill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vorname.nachname@aproda.ch</a:t>
            </a:r>
          </a:p>
        </p:txBody>
      </p:sp>
    </p:spTree>
    <p:extLst>
      <p:ext uri="{BB962C8B-B14F-4D97-AF65-F5344CB8AC3E}">
        <p14:creationId xmlns:p14="http://schemas.microsoft.com/office/powerpoint/2010/main" val="24238604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85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8" r:id="rId4"/>
    <p:sldLayoutId id="2147483674" r:id="rId5"/>
    <p:sldLayoutId id="2147483652" r:id="rId6"/>
    <p:sldLayoutId id="2147483663" r:id="rId7"/>
    <p:sldLayoutId id="2147483654" r:id="rId8"/>
    <p:sldLayoutId id="2147483655" r:id="rId9"/>
    <p:sldLayoutId id="2147483656" r:id="rId10"/>
    <p:sldLayoutId id="2147483671" r:id="rId11"/>
    <p:sldLayoutId id="2147483672" r:id="rId12"/>
    <p:sldLayoutId id="2147483678" r:id="rId13"/>
    <p:sldLayoutId id="2147483670" r:id="rId14"/>
    <p:sldLayoutId id="2147483677" r:id="rId15"/>
    <p:sldLayoutId id="2147483675" r:id="rId16"/>
    <p:sldLayoutId id="2147483676" r:id="rId17"/>
    <p:sldLayoutId id="2147483673" r:id="rId18"/>
    <p:sldLayoutId id="2147483666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Agentic Engineering Toolkit für Business Central AL</a:t>
            </a:r>
          </a:p>
        </p:txBody>
      </p:sp>
      <p:pic>
        <p:nvPicPr>
          <p:cNvPr id="4" name="Picture 3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20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pic>
        <p:nvPicPr>
          <p:cNvPr id="3" name="Picture 2" descr="a-ald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C6CE8"/>
                </a:solidFill>
              </a:defRPr>
            </a:pPr>
            <a:r>
              <a:t>1.  Von der Theorie zur Praxis: A-ALDC im Überblick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2.  Architektur &amp; Prozess von A-ALDC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3.  Agents im Überblick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4.  BCQuality: was &amp; warum</a:t>
            </a:r>
          </a:p>
          <a:p>
            <a:pPr>
              <a:spcAft>
                <a:spcPts val="1600"/>
              </a:spcAft>
              <a:defRPr sz="2200">
                <a:solidFill>
                  <a:srgbClr val="1C2833"/>
                </a:solidFill>
              </a:defRPr>
            </a:pPr>
            <a:r>
              <a:t>5.  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 A-ALDC die vorgestellten Prinzipien (Harnisch, Skills, Agents) konkret umsetzt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Von der Theorie zur Praxis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A-ALDC?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Ersetzt Ad-hoc-KI-Codegenerierung durch kontrollierten Engineering-Prozess</a:t>
            </a:r>
          </a:p>
          <a:p>
            <a:r>
              <a:t>Spec-Driven Development: Spec → Architektur → Tests → Code → Review</a:t>
            </a:r>
          </a:p>
          <a:p>
            <a:r>
              <a:t>TDD-Prinzipien fest im Ablauf verankert</a:t>
            </a:r>
          </a:p>
          <a:p>
            <a:r>
              <a:t>Aproda-Fork erweitert um echte AL-Testausführung, HITL-Tracking, ADO-Integration, Modul-Doku, KI-Übersetzung</a:t>
            </a:r>
          </a:p>
          <a:p>
            <a:r>
              <a:t>Spezialisierte Agent-Rollen je Aufgabe und Komplexität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Ohne vs. mit 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Ohne A-ALDC</a:t>
            </a:r>
          </a:p>
          <a:p>
            <a:r>
              <a:t>Vibe Coding - Ergebnis unvorhersehbar</a:t>
            </a:r>
          </a:p>
          <a:p>
            <a:r>
              <a:t>Tests zuletzt (oder nie)</a:t>
            </a:r>
          </a:p>
          <a:p>
            <a:r>
              <a:t>Reviews: „sieht gut aus“</a:t>
            </a:r>
          </a:p>
          <a:p>
            <a:r>
              <a:t>Kein OnPrem-Gate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Mit A-ALDC</a:t>
            </a:r>
          </a:p>
          <a:p>
            <a:r>
              <a:t>Spec-getrieben - KI arbeitet gegen einen Vertrag</a:t>
            </a:r>
          </a:p>
          <a:p>
            <a:r>
              <a:t>Integriertes Test-Driven-Development-Enforcement</a:t>
            </a:r>
          </a:p>
          <a:p>
            <a:r>
              <a:t>BCQuality-zitierte Prüfungen</a:t>
            </a:r>
          </a:p>
          <a:p>
            <a:r>
              <a:t>Deploy-Run-Verify Cycle: deploy → run → fix → grün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 im Überblick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6080760" y="1965959"/>
            <a:ext cx="0" cy="1783080"/>
          </a:xfrm>
          <a:prstGeom prst="line">
            <a:avLst/>
          </a:prstGeom>
          <a:ln w="2540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080760" y="3198037"/>
            <a:ext cx="2174115" cy="551002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80760" y="3749039"/>
            <a:ext cx="1343677" cy="1442543"/>
          </a:xfrm>
          <a:prstGeom prst="line">
            <a:avLst/>
          </a:prstGeom>
          <a:ln w="2540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4737082" y="3749039"/>
            <a:ext cx="1343678" cy="1442543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3906644" y="3198037"/>
            <a:ext cx="2174116" cy="551002"/>
          </a:xfrm>
          <a:prstGeom prst="line">
            <a:avLst/>
          </a:prstGeom>
          <a:ln w="25400">
            <a:solidFill>
              <a:srgbClr val="0000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3291839"/>
            <a:ext cx="2011680" cy="9144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A-ALDC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485899"/>
            <a:ext cx="2286000" cy="9601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1875" y="2717977"/>
            <a:ext cx="2286000" cy="9601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437" y="4711522"/>
            <a:ext cx="2286000" cy="9601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4082" y="4711522"/>
            <a:ext cx="2286000" cy="96012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Instructions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3644" y="2717977"/>
            <a:ext cx="2286000" cy="96012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Plans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Kern-Agents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 - Lösungsdesign, Datenmodell, Integrationsstrategie (MEDIUM/HIGH)</a:t>
            </a:r>
          </a:p>
          <a:p>
            <a:r>
              <a:t>Conductor - orchestriert Planung → Implementierung → Review (voller TDD-Zyklus)</a:t>
            </a:r>
          </a:p>
          <a:p>
            <a:r>
              <a:t>Implementation Specialist - taktischer Code, direkte Änderungen, Debugging</a:t>
            </a:r>
          </a:p>
          <a:p>
            <a:r>
              <a:t>Triage - Reproduktion, Ursachenanalyse, Fix-Empfehlung bei Bugs</a:t>
            </a:r>
          </a:p>
          <a:p>
            <a:r>
              <a:t>Pre-Sales - PERT-Schätzung, SWOT, Kostenaufstellung</a:t>
            </a:r>
          </a:p>
          <a:p>
            <a:r>
              <a:t>Dredd - unabhängiger, BCQuality-zitierter Audit-Agent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Entwicklungsprozess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1/6 – Überblick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017520"/>
            <a:ext cx="1965960" cy="118872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ADO /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7893" y="26517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Architect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7893" y="3017520"/>
            <a:ext cx="1965960" cy="11887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Architektur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2867" y="26517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Conductor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12867" y="3017520"/>
            <a:ext cx="1965960" cy="11887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Implementierung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17841" y="26517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Entwickler / Kunde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17841" y="3017520"/>
            <a:ext cx="1965960" cy="11887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HITL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26517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al-pr-prepare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22815" y="3017520"/>
            <a:ext cx="1965960" cy="118872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 vorbereiten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3611879"/>
            <a:ext cx="339013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73853" y="3611879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78827" y="3611879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83801" y="3611879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822795" y="2761487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6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C6CE8"/>
                </a:solidFill>
              </a:defRPr>
            </a:pPr>
            <a:r>
              <a:t>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C2833"/>
                </a:solidFill>
              </a:defRPr>
            </a:pPr>
            <a:r>
              <a:t>Die nächsten Folien vertiefen jeden Schritt einzeln.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Wie beginnt der Vorgang?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2/6 – Einstieg &amp; Komplexität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200400" cy="82296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Supportticket / Debug-Fall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57400" y="2514600"/>
            <a:ext cx="0" cy="27432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788920"/>
            <a:ext cx="3200400" cy="82296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Triage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Reproduzieren, Ursache lokalisieren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3611880"/>
            <a:ext cx="0" cy="27432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3886200"/>
            <a:ext cx="3200400" cy="82296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Implementierung (Fix)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Deploy-Run-Verify Cycle erneut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1920240" cy="73152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Neuanforderung /</a:t>
            </a:r>
            <a:br/>
            <a:r>
              <a:t>Change 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2103120"/>
            <a:ext cx="0" cy="22860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263640" y="2331720"/>
            <a:ext cx="2377440" cy="960120"/>
          </a:xfrm>
          <a:prstGeom prst="diamond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Komplexität?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35040" y="2743200"/>
            <a:ext cx="228600" cy="0"/>
          </a:xfrm>
          <a:prstGeom prst="line">
            <a:avLst/>
          </a:prstGeom>
          <a:ln w="28575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7680" y="2377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6CE8"/>
                </a:solidFill>
              </a:defRPr>
            </a:pPr>
            <a:r>
              <a:t>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331720"/>
            <a:ext cx="1874519" cy="82296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Implementation</a:t>
            </a:r>
            <a:br/>
            <a:r>
              <a:t>Specialist (direkt)</a:t>
            </a:r>
          </a:p>
          <a:p>
            <a:pPr algn="ctr">
              <a:defRPr sz="800" b="0">
                <a:solidFill>
                  <a:srgbClr val="FFFFFF"/>
                </a:solidFill>
              </a:defRPr>
            </a:pPr>
            <a:r>
              <a:t>Architektur &amp; spec.create übersprungen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41080" y="2743200"/>
            <a:ext cx="411480" cy="0"/>
          </a:xfrm>
          <a:prstGeom prst="line">
            <a:avLst/>
          </a:prstGeom>
          <a:ln w="28575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0" y="2377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699FF"/>
                </a:solidFill>
              </a:defRPr>
            </a:pPr>
            <a:r>
              <a:t>MEDIUM / 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331720"/>
            <a:ext cx="237744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Architect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200400"/>
            <a:ext cx="237744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spec.create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4069080"/>
            <a:ext cx="2377440" cy="7315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Conductor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241280" y="3063240"/>
            <a:ext cx="0" cy="137160"/>
          </a:xfrm>
          <a:prstGeom prst="line">
            <a:avLst/>
          </a:prstGeom>
          <a:ln w="1905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1280" y="3931920"/>
            <a:ext cx="0" cy="137160"/>
          </a:xfrm>
          <a:prstGeom prst="line">
            <a:avLst/>
          </a:prstGeom>
          <a:ln w="19050">
            <a:solidFill>
              <a:srgbClr val="6699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138160" y="2926080"/>
            <a:ext cx="502920" cy="0"/>
          </a:xfrm>
          <a:prstGeom prst="line">
            <a:avLst/>
          </a:prstGeom>
          <a:ln w="19050">
            <a:solidFill>
              <a:srgbClr val="0033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38160" y="2926080"/>
            <a:ext cx="0" cy="1508760"/>
          </a:xfrm>
          <a:prstGeom prst="line">
            <a:avLst/>
          </a:prstGeom>
          <a:ln w="19050">
            <a:solidFill>
              <a:srgbClr val="003399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38160" y="4434840"/>
            <a:ext cx="914400" cy="0"/>
          </a:xfrm>
          <a:prstGeom prst="line">
            <a:avLst/>
          </a:prstGeom>
          <a:ln w="1905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94960" y="47548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399"/>
                </a:solidFill>
              </a:defRPr>
            </a:pPr>
            <a:r>
              <a:t>MEDIUM: auch direkt</a:t>
            </a:r>
            <a:br/>
            <a:r>
              <a:t>über Conductor möglich</a:t>
            </a:r>
            <a:br/>
            <a:r>
              <a:t>(voller TDD-Zyklus)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Start: ADO Work Item &amp; Spec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req_name = {type}-{id}-{short-name} (Beispiel: bug-36370-posting-error)</a:t>
            </a:r>
          </a:p>
          <a:p>
            <a:r>
              <a:t>ADO-Header (Link zum Work Item) in jedem Plan-Dokument</a:t>
            </a:r>
          </a:p>
          <a:p>
            <a:r>
              <a:t>Azure CLI lädt Titel, Beschreibung, Repro-Steps bzw. Akzeptanzkriterien automatisch (Bug/User Story)</a:t>
            </a:r>
          </a:p>
          <a:p>
            <a:r>
              <a:t>Bei Task/Feature: zusätzlicher Kontext bleibt manueller Copy-Schritt</a:t>
            </a:r>
          </a:p>
          <a:p>
            <a:r>
              <a:t>Ergebnis: spec.md als Vertrag, gegen den die KI arbeitet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3/6 – Start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Deploy-Run-Verify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4/6 – Implementierung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880360"/>
            <a:ext cx="2194560" cy="109728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Publish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6698" y="2880360"/>
            <a:ext cx="2194560" cy="109728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Sync &amp; Install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90436" y="2880360"/>
            <a:ext cx="2194560" cy="10972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Run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74175" y="2880360"/>
            <a:ext cx="2194560" cy="109728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3429000"/>
            <a:ext cx="58917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01258" y="3429000"/>
            <a:ext cx="58917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84996" y="3429000"/>
            <a:ext cx="589179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15687" y="1828800"/>
            <a:ext cx="2560320" cy="77724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Anpassung / Fix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bei Fehler - Loop bis grün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0271455" y="2217420"/>
            <a:ext cx="0" cy="662940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376007" y="2217420"/>
            <a:ext cx="2895448" cy="0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920240" y="2217420"/>
            <a:ext cx="2895447" cy="0"/>
          </a:xfrm>
          <a:prstGeom prst="line">
            <a:avLst/>
          </a:prstGeom>
          <a:ln w="25400">
            <a:solidFill>
              <a:srgbClr val="0000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20240" y="2217420"/>
            <a:ext cx="0" cy="662940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71455" y="3977639"/>
            <a:ext cx="0" cy="640081"/>
          </a:xfrm>
          <a:prstGeom prst="line">
            <a:avLst/>
          </a:prstGeom>
          <a:ln w="2540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894015" y="4663440"/>
            <a:ext cx="4754880" cy="1005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Erfolg: bleibt deployed in ASINST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bereit für manuelles Testen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C2833"/>
                </a:solidFill>
              </a:defRPr>
            </a:pPr>
            <a:r>
              <a:t>OnPrem + HTTPS-Launch-Config: nutzt zusätzlich den Fkh-Transport-Adapter (Invoke-DeployRunVerifyDeployFkh)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HITL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Nach grünem Deploy-Run-Verify Cycle: manuelle Prüfung in ASINST oder Kunden-Sandbox</a:t>
            </a:r>
          </a:p>
          <a:p>
            <a:r>
              <a:t>Befunde in {req}-hitl-validation-issues.md, IDs I-1, I-2, ... mit Status TODO/DONE</a:t>
            </a:r>
          </a:p>
          <a:p>
            <a:r>
              <a:t>KI arbeitet offene Issues ab, Deploy-Run-Verify Cycle läuft je Fix erneut</a:t>
            </a:r>
          </a:p>
          <a:p>
            <a:r>
              <a:t>Mehrere Feedback-Runden ergänzen „## Loop N“ - die Datei wird nie gesplittet</a:t>
            </a:r>
          </a:p>
          <a:p>
            <a:r>
              <a:t>Erfolgreich abgeschlossen → weiter zu PR vorbereiten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5/6 – Verifikation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Übersetzungsprozess (XLIFF)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6/6 – Übersetzung (bedingt)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651760"/>
            <a:ext cx="1965960" cy="118872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7893" y="2651760"/>
            <a:ext cx="1965960" cy="11887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Resolve</a:t>
            </a:r>
            <a:br/>
            <a:r>
              <a:t>(Stage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2867" y="2651760"/>
            <a:ext cx="1965960" cy="11887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Export/Apply</a:t>
            </a:r>
            <a:br/>
            <a:r>
              <a:t>(Stage 0, KI)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7841" y="2651760"/>
            <a:ext cx="1965960" cy="118872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PoEdit</a:t>
            </a:r>
            <a:br/>
            <a:r>
              <a:t>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2815" y="2651760"/>
            <a:ext cx="1965960" cy="118872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Validate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3246120"/>
            <a:ext cx="339013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73853" y="324612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78827" y="324612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83801" y="3246120"/>
            <a:ext cx="339014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42976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C2833"/>
                </a:solidFill>
              </a:defRPr>
            </a:pPr>
            <a:r>
              <a:t>Gestufte Adaptive Waterfall: günstiger, deterministischer Kern (Stage 1) + gezielter KI-Batch nur für offene Units (Stage 0)</a:t>
            </a:r>
            <a:br/>
            <a:r>
              <a:t>Gate: Validate -FailOnIssues -FailOnUnapproved blockiert die Auslieferung bis alles freigegeben 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 vorbereiten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Gate: erst nach grünem Deploy-Run-Verify Cycle + HITL-Sign-off</a:t>
            </a:r>
          </a:p>
          <a:p>
            <a:r>
              <a:t>al-pr-prepare erzeugt: Modul-Referenz (reference.md, EN) + Handbuch.de-CH.md - repo-weit, immer Vollstand</a:t>
            </a:r>
          </a:p>
          <a:p>
            <a:r>
              <a:t>BCQuality-Review: Review-Subagent konsultiert BCQuality vor der A-G-Checkliste</a:t>
            </a:r>
          </a:p>
          <a:p>
            <a:r>
              <a:t>@Dredd optional: unabhängiges, zusätzliches Audit</a:t>
            </a:r>
          </a:p>
          <a:p>
            <a:r>
              <a:t>Bei neuen/geänderten Labels vorher: Übersetzungsworkflow (vorherige Folie)</a:t>
            </a:r>
          </a:p>
          <a:p>
            <a:r>
              <a:t>Ergebnis: PR + aktualisierte Doku - Plan-Ordner für diese Anforderung wird geschlossen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Teilprozess 6/6 – Abschluss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Gesamtprozess – alle Diagramme im 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371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Entwicklungsprozess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Einstieg &amp; Komplexität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399"/>
                </a:solidFill>
              </a:defRPr>
            </a:pPr>
            <a:r>
              <a:t>Deploy-Run-Verify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377439"/>
            <a:ext cx="1188720" cy="4572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A-ALDC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737360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Workflows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3291839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Instructions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108960"/>
            <a:ext cx="1188720" cy="4114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Plans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31720"/>
            <a:ext cx="960120" cy="64008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Spec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331720"/>
            <a:ext cx="960120" cy="64008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Archi-</a:t>
            </a:r>
            <a:br/>
            <a:r>
              <a:t>tektur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69480" y="265176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0" y="2331720"/>
            <a:ext cx="960120" cy="64008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Impl.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1040" y="265176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64040" y="2331720"/>
            <a:ext cx="960120" cy="64008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HITL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72600" y="265176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15600" y="2331720"/>
            <a:ext cx="960120" cy="64008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24160" y="265176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mond 21"/>
          <p:cNvSpPr/>
          <p:nvPr/>
        </p:nvSpPr>
        <p:spPr>
          <a:xfrm>
            <a:off x="2286000" y="4343400"/>
            <a:ext cx="1463040" cy="731520"/>
          </a:xfrm>
          <a:prstGeom prst="diamond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Komplexität?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49240"/>
            <a:ext cx="1737360" cy="5486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LOW → Specialist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5349240"/>
            <a:ext cx="1828800" cy="54864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MEDIUM/HIGH → Conductor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343400"/>
            <a:ext cx="1188720" cy="54864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Publish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343400"/>
            <a:ext cx="1188720" cy="54864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Sync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80" y="461772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869680" y="4343400"/>
            <a:ext cx="1188720" cy="5486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Tests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8240" y="461772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149840" y="4343400"/>
            <a:ext cx="1188720" cy="54864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58400" y="4617720"/>
            <a:ext cx="91440" cy="0"/>
          </a:xfrm>
          <a:prstGeom prst="line">
            <a:avLst/>
          </a:prstGeom>
          <a:ln w="127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936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CC"/>
                </a:solidFill>
              </a:defRPr>
            </a:pPr>
            <a:r>
              <a:t>↻ Loop bis grün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Gesamtprozess im Detail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377440" cy="64008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Supportticket / Debug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52560" y="1280160"/>
            <a:ext cx="2377440" cy="64008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Neuanforderung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1920240"/>
            <a:ext cx="3474720" cy="68580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949440" y="1920240"/>
            <a:ext cx="3291840" cy="68580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iamond 6"/>
          <p:cNvSpPr/>
          <p:nvPr/>
        </p:nvSpPr>
        <p:spPr>
          <a:xfrm>
            <a:off x="4937760" y="2606040"/>
            <a:ext cx="2377440" cy="777240"/>
          </a:xfrm>
          <a:prstGeom prst="diamond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Komplexität?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3383280"/>
            <a:ext cx="0" cy="27432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3657600"/>
            <a:ext cx="1783080" cy="91440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1179" y="3657600"/>
            <a:ext cx="1783080" cy="91440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Architektur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6598" y="3657600"/>
            <a:ext cx="1783080" cy="91440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Implementierung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017" y="3657600"/>
            <a:ext cx="1783080" cy="91440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HITL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436" y="3657600"/>
            <a:ext cx="1783080" cy="91440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Übersetzung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42855" y="3657600"/>
            <a:ext cx="1783080" cy="91440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 vorbereiten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84259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19678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55097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890516" y="411480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791078" y="34290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C6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C6CE8"/>
                </a:solidFill>
              </a:defRPr>
            </a:pPr>
            <a:r>
              <a:t>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34395" y="4572000"/>
            <a:ext cx="0" cy="411480"/>
          </a:xfrm>
          <a:prstGeom prst="line">
            <a:avLst/>
          </a:prstGeom>
          <a:ln w="19050">
            <a:solidFill>
              <a:srgbClr val="3C6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71355" y="5029200"/>
            <a:ext cx="2926080" cy="73152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 + aktualisierte Doku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Drei Beispiele, wie sich A-ALDC in der Praxis einsetzen lässt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Anwendungsszenarien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Szenario: Support-Ticket über Triage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651760"/>
            <a:ext cx="1783080" cy="13716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Support</a:t>
            </a:r>
            <a:br/>
            <a:r>
              <a:t>prüfen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01179" y="2651760"/>
            <a:ext cx="1783080" cy="137160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6598" y="2651760"/>
            <a:ext cx="1783080" cy="137160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AL-Tests</a:t>
            </a:r>
            <a:br/>
            <a:r>
              <a:t>erstellen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Fehler nachvollziehen,</a:t>
            </a:r>
            <a:br/>
            <a:r>
              <a:t>Ist-Zustand messen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017" y="2651760"/>
            <a:ext cx="1783080" cy="137160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Fix</a:t>
            </a:r>
            <a:br/>
            <a:r>
              <a:t>implementieren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07436" y="2651760"/>
            <a:ext cx="1783080" cy="137160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Tests erneut</a:t>
            </a:r>
            <a:br/>
            <a:r>
              <a:t>ausführen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eventuell Deploy-</a:t>
            </a:r>
            <a:br/>
            <a:r>
              <a:t>Run-Verify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42855" y="2651760"/>
            <a:ext cx="1783080" cy="1371600"/>
          </a:xfrm>
          <a:prstGeom prst="roundRect">
            <a:avLst/>
          </a:prstGeom>
          <a:solidFill>
            <a:srgbClr val="000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Review /</a:t>
            </a:r>
            <a:br/>
            <a:r>
              <a:t>Abschluss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84259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19678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55097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90516" y="3337560"/>
            <a:ext cx="152339" cy="0"/>
          </a:xfrm>
          <a:prstGeom prst="line">
            <a:avLst/>
          </a:prstGeom>
          <a:ln w="1905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Szenario: BCQuality + Dredd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Bestehendes Projekt analysieren → @Dredd prüft read-only gegen BCQuality</a:t>
            </a:r>
          </a:p>
          <a:p>
            <a:r>
              <a:t>Schwachstellen identifizieren → Findings mit Zitat aus BCQuality-Wissensbasis</a:t>
            </a:r>
          </a:p>
          <a:p>
            <a:r>
              <a:t>Guidelines bereinigen → Verstösse gegen Security-/Performance-/Style-Regeln beheben</a:t>
            </a:r>
          </a:p>
          <a:p>
            <a:r>
              <a:t>Verbesserungen implementieren → al-developer setzt priorisierte Findings um</a:t>
            </a:r>
          </a:p>
          <a:p>
            <a:r>
              <a:t>Ergebnis: unabhängiges, nachvollziehbares Qualitäts-Audit ohne Schreibzugriff von Dredd selbst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ASCDC Extensibility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Storage-Extensibility: providerneutrale Integration Events für List, Copy, Get mit IsHandled-Pattern</a:t>
            </a:r>
          </a:p>
          <a:p>
            <a:r>
              <a:t>Proxy-Apps ersetzen Storage-Zugriffe ohne Azure-Zugangsdaten oder direkte Blob-Clients</a:t>
            </a:r>
          </a:p>
          <a:p>
            <a:r>
              <a:t>Erweiterbare Container-Verwaltung: neue temporäre WORM-Container-Entry-Tabelle als neutrales Datenformat</a:t>
            </a:r>
          </a:p>
          <a:p>
            <a:r>
              <a:t>Real-Verifikation: Storage-Setup mit echter Datei geprüft, schreibende Aktion standardmässig verborgen</a:t>
            </a:r>
          </a:p>
          <a:p>
            <a:r>
              <a:t>Qualität: 29 relevante WORM-Tests erfolgreich</a:t>
            </a:r>
          </a:p>
          <a:p>
            <a:r>
              <a:t>Zeithorizont: ~16 Stunden (11.–13. September 2026) - Konzeption, Implementierung, Testausbau, Runtime-Verifikation, Abschluss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Eine kuratierte, zitierfähige Wissensbasis für Business Central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BCQuality?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Offizielle, agentenlesbare BC-Wissensbasis (github.com/microsoft/BCQuality)</a:t>
            </a:r>
          </a:p>
          <a:p>
            <a:r>
              <a:t>3 Layer: MS (offizielle Guidelines), Community (ergänzende Patterns), Custom (firmenspezifisch)</a:t>
            </a:r>
          </a:p>
          <a:p>
            <a:r>
              <a:t>Aproda-Fork BCQuality-Aproda befüllt den Custom-Layer</a:t>
            </a:r>
          </a:p>
          <a:p>
            <a:r>
              <a:t>Wird von @Dredd und dem Review-Subagent konsultiert</a:t>
            </a:r>
          </a:p>
          <a:p>
            <a:r>
              <a:t>Citation-/Audit-Layer - kein Ersatz für Instructions &amp; Skills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BCQuality im Zusammenspiel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4206240" cy="3291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Projekt-Repo</a:t>
            </a:r>
            <a:br/>
            <a:r>
              <a:t>(AL, wird kompiliert)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0" y="3474720"/>
            <a:ext cx="2103120" cy="0"/>
          </a:xfrm>
          <a:prstGeom prst="line">
            <a:avLst/>
          </a:prstGeom>
          <a:ln w="28575">
            <a:solidFill>
              <a:srgbClr val="1C2833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4632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C2833"/>
                </a:solidFill>
              </a:defRPr>
            </a:pPr>
            <a:r>
              <a:t>Review-Subagent</a:t>
            </a:r>
            <a:br/>
            <a:r>
              <a:t>konsultiert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828800"/>
            <a:ext cx="4389120" cy="91440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BCQuality (2. Workspace-Root, read-only)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926080"/>
            <a:ext cx="4389120" cy="77724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MS - offizielle Guidelines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3840480"/>
            <a:ext cx="4389120" cy="77724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Community - ergänzende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4754880"/>
            <a:ext cx="4389120" cy="777240"/>
          </a:xfrm>
          <a:prstGeom prst="roundRect">
            <a:avLst/>
          </a:prstGeom>
          <a:solidFill>
            <a:srgbClr val="669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Custom - Aproda-spezifisch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Aproda-Erweiterungen im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Deploy-Run-Verify Cycle - publish → sync → run-tests → review gegen ASINST, Loop bis grün</a:t>
            </a:r>
          </a:p>
          <a:p>
            <a:r>
              <a:t>ADO-Integration - req_name = {type}-{id}-{short-name}, ADO-Link in jedem Plan-Dokument</a:t>
            </a:r>
          </a:p>
          <a:p>
            <a:r>
              <a:t>HITL Validation - strukturiertes Issue-Tracking über mehrere Feedback-Runden</a:t>
            </a:r>
          </a:p>
          <a:p>
            <a:r>
              <a:t>Modul-Dokumentation - reference.md (EN) + Handbuch.de-CH.md, repo-weit aktuell</a:t>
            </a:r>
          </a:p>
          <a:p>
            <a:r>
              <a:t>KI-Übersetzungsworkflow (XLIFF) - Sync → Resolve → Review → Validate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Was als Nächstes am Toolkit selbst geplant 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Ausblick – 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E-001 - Read-only Upstream-Drift-Report für Aproda Sync (High, Proposed)</a:t>
            </a:r>
          </a:p>
          <a:p>
            <a:r>
              <a:t>E-002 - Offizieller Microsoft-Learn-MCP-Endpoint als Pilot (Medium, Proposed)</a:t>
            </a:r>
          </a:p>
          <a:p>
            <a:r>
              <a:t>E-003 - Auto-Cleanup-Befehl nach Implementierungsende (Medium, Proposed)</a:t>
            </a:r>
          </a:p>
          <a:p>
            <a:r>
              <a:t>E-004 - Regelbasierte AL-Objekt-ID-Vorschläge, global pro Repo (Medium, Proposed)</a:t>
            </a:r>
          </a:p>
          <a:p>
            <a:r>
              <a:t>E-005 - Gestufter KI-Übersetzungsworkflow XLIFF (High, In Progress)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Ökosystem: Fkh (Freddy's Kubernetes Helper)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2286000" cy="1005840"/>
          </a:xfrm>
          <a:prstGeom prst="round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VS Code / CLI /</a:t>
            </a:r>
            <a:br/>
            <a:r>
              <a:t>GitHub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76218" y="1554480"/>
            <a:ext cx="2286000" cy="1005840"/>
          </a:xfrm>
          <a:prstGeom prst="roundRect">
            <a:avLst/>
          </a:prstGeom>
          <a:solidFill>
            <a:srgbClr val="00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Azure Function</a:t>
            </a:r>
            <a:br/>
            <a:r>
              <a:t>(Gate)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9476" y="1554480"/>
            <a:ext cx="2286000" cy="100584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Terraform →</a:t>
            </a:r>
            <a:br/>
            <a:r>
              <a:t>AKS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2735" y="1554480"/>
            <a:ext cx="2286000" cy="1005840"/>
          </a:xfrm>
          <a:prstGeom prst="roundRect">
            <a:avLst/>
          </a:prstGeom>
          <a:solidFill>
            <a:srgbClr val="3C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BC-Container</a:t>
            </a:r>
            <a:br/>
            <a:r>
              <a:t>(1–2 Min.)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057400"/>
            <a:ext cx="46725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862218" y="2057400"/>
            <a:ext cx="467258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15476" y="2057400"/>
            <a:ext cx="467259" cy="0"/>
          </a:xfrm>
          <a:prstGeom prst="line">
            <a:avLst/>
          </a:prstGeom>
          <a:ln w="25400">
            <a:solidFill>
              <a:srgbClr val="1C28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30175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C2833"/>
                </a:solidFill>
              </a:defRPr>
            </a:pPr>
            <a:r>
              <a:t>GitHub-authentifizierte Azure Function als Provisioning-Gate, Terraform verwaltet Azure &amp; Kubernetes</a:t>
            </a:r>
          </a:p>
          <a:p>
            <a:pPr>
              <a:spcAft>
                <a:spcPts val="1000"/>
              </a:spcAft>
              <a:defRPr sz="1600">
                <a:solidFill>
                  <a:srgbClr val="1C2833"/>
                </a:solidFill>
              </a:defRPr>
            </a:pPr>
            <a:r>
              <a:t>Container starten in 1–2 Minuten, Autoscaling, keine von Menschen verwalteten Secrets</a:t>
            </a:r>
          </a:p>
          <a:p>
            <a:pPr>
              <a:spcAft>
                <a:spcPts val="1000"/>
              </a:spcAft>
              <a:defRPr sz="1600">
                <a:solidFill>
                  <a:srgbClr val="1C2833"/>
                </a:solidFill>
              </a:defRPr>
            </a:pPr>
            <a:r>
              <a:t>VS Code Extension + CLI: Container, Images und VMs direkt aus dem Editor verwalten</a:t>
            </a:r>
          </a:p>
          <a:p>
            <a:pPr>
              <a:spcAft>
                <a:spcPts val="1000"/>
              </a:spcAft>
              <a:defRPr sz="1600">
                <a:solidFill>
                  <a:srgbClr val="1C2833"/>
                </a:solidFill>
              </a:defRPr>
            </a:pPr>
            <a:r>
              <a:t>Open Source, kostenlos für den Eigenbedarf (MIT-Lizenz mit Commons Clause)</a:t>
            </a:r>
          </a:p>
          <a:p>
            <a:pPr>
              <a:spcAft>
                <a:spcPts val="1000"/>
              </a:spcAft>
              <a:defRPr sz="1600">
                <a:solidFill>
                  <a:srgbClr val="1C2833"/>
                </a:solidFill>
              </a:defRPr>
            </a:pPr>
            <a:r>
              <a:t>Repo: github.com/Freddy-DK/Fkh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Weiterführend: The Engineering Stairway to Heaven</a:t>
            </a:r>
          </a:p>
        </p:txBody>
      </p:sp>
      <p:pic>
        <p:nvPicPr>
          <p:cNvPr id="3" name="Picture 2" descr="stairway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0" y="173736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3C6CE8"/>
                </a:solidFill>
              </a:defRPr>
            </a:pPr>
            <a:r>
              <a:t>6 Stufen: Old-School Engineering → Prompt → Context → Harness → Loop → Graph Engineering</a:t>
            </a:r>
          </a:p>
          <a:p>
            <a:pPr>
              <a:spcAft>
                <a:spcPts val="1400"/>
              </a:spcAft>
              <a:defRPr sz="1500">
                <a:solidFill>
                  <a:srgbClr val="1C2833"/>
                </a:solidFill>
              </a:defRPr>
            </a:pPr>
            <a:r>
              <a:t>A-ALDC deckt bereits mehrere Stufen ab: Context (Skills/Instructions), Harness (Agents/Tools), Loop (Deploy-Run-Verify Cycle), Graph (Conductor + Subagents)</a:t>
            </a:r>
          </a:p>
          <a:p>
            <a:pPr>
              <a:spcAft>
                <a:spcPts val="1400"/>
              </a:spcAft>
              <a:defRPr sz="1500">
                <a:solidFill>
                  <a:srgbClr val="1C2833"/>
                </a:solidFill>
              </a:defRPr>
            </a:pPr>
            <a:r>
              <a:t>Freddy Kristiansen, freddysblog.com, 15.08.2026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Aproda AG">
      <a:dk1>
        <a:sysClr val="windowText" lastClr="000000"/>
      </a:dk1>
      <a:lt1>
        <a:sysClr val="window" lastClr="FFFFFF"/>
      </a:lt1>
      <a:dk2>
        <a:srgbClr val="3C6CE8"/>
      </a:dk2>
      <a:lt2>
        <a:srgbClr val="FFFFFF"/>
      </a:lt2>
      <a:accent1>
        <a:srgbClr val="CCECFF"/>
      </a:accent1>
      <a:accent2>
        <a:srgbClr val="99CCFF"/>
      </a:accent2>
      <a:accent3>
        <a:srgbClr val="6699FF"/>
      </a:accent3>
      <a:accent4>
        <a:srgbClr val="0000CC"/>
      </a:accent4>
      <a:accent5>
        <a:srgbClr val="003399"/>
      </a:accent5>
      <a:accent6>
        <a:srgbClr val="000066"/>
      </a:accent6>
      <a:hlink>
        <a:srgbClr val="004381"/>
      </a:hlink>
      <a:folHlink>
        <a:srgbClr val="A5A5A5"/>
      </a:folHlink>
    </a:clrScheme>
    <a:fontScheme name="alph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15 Dynamics Standardprojekte ERP Handel Präsentation.pptx" id="{A31289B9-CA46-4BA5-A53A-CC9780B42740}" vid="{949A1F0E-CB0E-4CBF-9E5F-850DB38AAEE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7c019f4-1b75-44a8-8999-745bd4dbaf64">3TV6WZJT64PN-403098428-1132</_dlc_DocId>
    <_dlc_DocIdUrl xmlns="17c019f4-1b75-44a8-8999-745bd4dbaf64">
      <Url>https://aproda.sharepoint.com/sites/Officetemplates/_layouts/15/DocIdRedir.aspx?ID=3TV6WZJT64PN-403098428-1132</Url>
      <Description>3TV6WZJT64PN-403098428-1132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5F5141EE90B840A2F1AD115416D046" ma:contentTypeVersion="13" ma:contentTypeDescription="Ein neues Dokument erstellen." ma:contentTypeScope="" ma:versionID="413f4466e2db1404f52b4030a0c4302a">
  <xsd:schema xmlns:xsd="http://www.w3.org/2001/XMLSchema" xmlns:xs="http://www.w3.org/2001/XMLSchema" xmlns:p="http://schemas.microsoft.com/office/2006/metadata/properties" xmlns:ns2="17c019f4-1b75-44a8-8999-745bd4dbaf64" xmlns:ns3="8a12fda9-9813-4d75-b500-f543d69906b5" targetNamespace="http://schemas.microsoft.com/office/2006/metadata/properties" ma:root="true" ma:fieldsID="c087fdb08c0adc3e0dc9321a60f7de03" ns2:_="" ns3:_="">
    <xsd:import namespace="17c019f4-1b75-44a8-8999-745bd4dbaf64"/>
    <xsd:import namespace="8a12fda9-9813-4d75-b500-f543d69906b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c019f4-1b75-44a8-8999-745bd4dbaf6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2fda9-9813-4d75-b500-f543d69906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7FAB79-181F-4A39-B81D-A60578B7C3E4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09CEE728-6563-46C8-954D-458A210FE63C}">
  <ds:schemaRefs>
    <ds:schemaRef ds:uri="http://purl.org/dc/dcmitype/"/>
    <ds:schemaRef ds:uri="8a12fda9-9813-4d75-b500-f543d69906b5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17c019f4-1b75-44a8-8999-745bd4dbaf64"/>
  </ds:schemaRefs>
</ds:datastoreItem>
</file>

<file path=customXml/itemProps3.xml><?xml version="1.0" encoding="utf-8"?>
<ds:datastoreItem xmlns:ds="http://schemas.openxmlformats.org/officeDocument/2006/customXml" ds:itemID="{3B57AD0C-2241-49F5-BC7E-AA28A5E9644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7254374-3B13-4C34-9934-BC2C1C26BF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c019f4-1b75-44a8-8999-745bd4dbaf64"/>
    <ds:schemaRef ds:uri="8a12fda9-9813-4d75-b500-f543d69906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315 Dynamics Standardprojekte ERP Handel Präsentation</Template>
  <TotalTime>0</TotalTime>
  <Words>76</Words>
  <Application>Microsoft Office PowerPoint</Application>
  <PresentationFormat>Breitbild</PresentationFormat>
  <Paragraphs>31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Raleway</vt:lpstr>
      <vt:lpstr>Source Sans Pro Semibold</vt:lpstr>
      <vt:lpstr>Office-Design</vt:lpstr>
      <vt:lpstr>Microsoft Dynamics 365 Business Central</vt:lpstr>
      <vt:lpstr>Business Software von Microsoft</vt:lpstr>
      <vt:lpstr>Was haben wir verstanden</vt:lpstr>
      <vt:lpstr>Vorschlag Aproda für nächste Schritte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Köll</dc:creator>
  <cp:lastModifiedBy>Florian Köll</cp:lastModifiedBy>
  <cp:revision>4</cp:revision>
  <dcterms:created xsi:type="dcterms:W3CDTF">2026-09-14T17:14:18Z</dcterms:created>
  <dcterms:modified xsi:type="dcterms:W3CDTF">2026-09-14T17:39:35Z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0x010100E35F5141EE90B840A2F1AD115416D046</vt:lpwstr>
  </property>
  <property fmtid="{D5CDD505-2E9C-101B-9397-08002B2CF9AE}" pid="3" name="_dlc_DocIdItemGuid">
    <vt:lpwstr>b97d401d-9e07-468e-9f1f-3b50a7c471c2</vt:lpwstr>
  </property>
  <property fmtid="{D5CDD505-2E9C-101B-9397-08002B2CF9AE}" pid="4" name="MediaServiceImageTags">
    <vt:lpwstr/>
  </property>
</Properties>
</file>