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5" r:id="rId33"/>
    <p:sldId id="283" r:id="rId34"/>
    <p:sldId id="284" r:id="rId3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Übergang: 'Das war die Theorie - grosse Teile dieser Prinzipien finden wir in A-ALDC, einem Agentic Engineering Toolkit für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Überblick über die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Bezug zum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Positionierung: Spec-Driven Development +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Kontrast pointiert vortragen.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Hub-and-Spoke: A-ALDC verbindet 5 Bausteine.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 Agent kurz Rolle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Grobüberblick. Jeder Schritt wird auf den folgenden Folien vertieft.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Zwei Einstiegspunkte: Supportfall via Triage, Neuanforderung via Komplexitätsentscheid.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req_name-Muster, ADO-Header, Azure-CLI-Abruf.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OnPrem-Gate: publish → sync/install → run tests → review, Loop bis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Issue-Tracking-Datei, Loop-Sektionen,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Adaptive Waterfall: Sync -&gt; Resolve -&gt; Export/Apply -&gt; PoEdit -&gt;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Gates + Modul-Doku + BCQuality-Review konsolidiert.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Recap: fasst die gezeigten Diagramme zusammen, keine neuen Infos.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 Diagramm, das alle Teilprozesse zu einem Fluss verbindet.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Überleitung: wie A-ALDC in der Praxis eingesetzt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Konkreter Ablauf fuer den Support/Debug-Einstiegspunkt.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Anwendungsbeispiel: bestehendes Projekt auditieren und verbessern.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Reales Beispiel mit konkreten Zahlen (Azure Storage Proxy Function).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Drei Layer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Zweite Workspace-Root, read-only, Review-Konsultation.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Was der Fork zusätzlich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 zum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Aus extension-ideas-and-todos.md.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On-Demand BC-Container </a:t>
            </a:r>
            <a:r>
              <a:rPr dirty="0" err="1"/>
              <a:t>ueber</a:t>
            </a:r>
            <a:r>
              <a:rPr dirty="0"/>
              <a:t> GitHub-</a:t>
            </a:r>
            <a:r>
              <a:rPr dirty="0" err="1"/>
              <a:t>authentifizierte</a:t>
            </a:r>
            <a:r>
              <a:rPr dirty="0"/>
              <a:t> Azure Function + Terraform/AKS.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015F-BB29-C827-F028-2372EADD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7308B-60A3-3732-54CA-99B0A82E3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3685D-534D-BE5E-2520-4A13B78A7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Freddy Kristiansen, freddysblog.com, 15.08.2026.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11184-26D8-AAB5-A4C0-C42F2AF82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207796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Freddy Kristiansen, freddysblog.com, 15.08.2026.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Agentic Engineering Toolkit für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20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6CE8"/>
                </a:solidFill>
              </a:defRPr>
            </a:pPr>
            <a:r>
              <a:t>1.  Von der Theorie zur Praxis: A-ALDC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2.  Architektur &amp; Prozess von A-ALDC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3.  Agents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4.  BCQuality: was &amp; warum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5. 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A-ALDC?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Ersetzt Ad-hoc-KI-Codegenerierung durch kontrollierten Engineering-Prozess</a:t>
            </a:r>
          </a:p>
          <a:p>
            <a:r>
              <a:t>Spec-Driven Development: Spec → Architektur → Tests → Code → Review</a:t>
            </a:r>
          </a:p>
          <a:p>
            <a:r>
              <a:t>TDD-Prinzipien fest im Ablauf verankert</a:t>
            </a:r>
          </a:p>
          <a:p>
            <a:r>
              <a:t>Aproda-Fork erweitert um echte AL-Testausführung, HITL-Tracking, ADO-Integration, Modul-Doku, KI-Übersetzung</a:t>
            </a:r>
          </a:p>
          <a:p>
            <a:r>
              <a:t>Spezialisierte Agent-Rollen je Aufgabe und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Ohne vs. mit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Ohne A-ALDC</a:t>
            </a:r>
          </a:p>
          <a:p>
            <a:r>
              <a:t>Vibe Coding - Ergebnis unvorhersehbar</a:t>
            </a:r>
          </a:p>
          <a:p>
            <a:r>
              <a:t>Tests zuletzt (oder nie)</a:t>
            </a:r>
          </a:p>
          <a:p>
            <a:r>
              <a:t>Reviews: „sieht gut aus“</a:t>
            </a:r>
          </a:p>
          <a:p>
            <a:r>
              <a:t>Kein OnPrem-Gate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Mit A-ALDC</a:t>
            </a:r>
          </a:p>
          <a:p>
            <a:r>
              <a:t>Spec-getrieben - KI arbeitet gegen einen Vertrag</a:t>
            </a:r>
          </a:p>
          <a:p>
            <a:r>
              <a:t>Integriertes Test-Driven-Development-Enforcement</a:t>
            </a:r>
          </a:p>
          <a:p>
            <a:r>
              <a:t>BCQuality-zitierte Prüfungen</a:t>
            </a:r>
          </a:p>
          <a:p>
            <a:r>
              <a:t>Deploy-Run-Verify Cycle: deploy → run → fix → grün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im Überblick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0760" y="1965959"/>
            <a:ext cx="0" cy="1783080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0760" y="3198037"/>
            <a:ext cx="2174115" cy="551002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3749039"/>
            <a:ext cx="1343677" cy="1442543"/>
          </a:xfrm>
          <a:prstGeom prst="line">
            <a:avLst/>
          </a:prstGeom>
          <a:ln w="2540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37082" y="3749039"/>
            <a:ext cx="1343678" cy="1442543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906644" y="3198037"/>
            <a:ext cx="2174116" cy="551002"/>
          </a:xfrm>
          <a:prstGeom prst="line">
            <a:avLst/>
          </a:prstGeom>
          <a:ln w="25400">
            <a:solidFill>
              <a:srgbClr val="0000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3291839"/>
            <a:ext cx="201168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85899"/>
            <a:ext cx="2286000" cy="9601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1875" y="2717977"/>
            <a:ext cx="2286000" cy="9601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437" y="4711522"/>
            <a:ext cx="2286000" cy="9601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4082" y="4711522"/>
            <a:ext cx="2286000" cy="9601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3644" y="2717977"/>
            <a:ext cx="2286000" cy="9601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Kern-Agents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Architect - Lösungsdesign, Datenmodell, Integrationsstrategie (MEDIUM/HIGH)</a:t>
            </a:r>
          </a:p>
          <a:p>
            <a:r>
              <a:t>Conductor - orchestriert Planung → Implementierung → Review (voller TDD-Zyklus)</a:t>
            </a:r>
          </a:p>
          <a:p>
            <a:r>
              <a:t>Implementation Specialist - taktischer Code, direkte Änderungen, Debugging</a:t>
            </a:r>
          </a:p>
          <a:p>
            <a:r>
              <a:t>Triage - Reproduktion, Ursachenanalyse, Fix-Empfehlung bei Bugs</a:t>
            </a:r>
          </a:p>
          <a:p>
            <a:r>
              <a:t>Pre-Sales - PERT-Schätzung, SWOT, Kostenaufstellung</a:t>
            </a:r>
          </a:p>
          <a:p>
            <a:r>
              <a:t>Dredd - unabhängiger, BCQuality-zitierter Audit-Agent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Entwicklungsprozess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1/6 – Überblick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017520"/>
            <a:ext cx="1965960" cy="11887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ADO /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7893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Architect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893" y="3017520"/>
            <a:ext cx="1965960" cy="11887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867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Conductor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2867" y="3017520"/>
            <a:ext cx="1965960" cy="11887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7841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Entwickler / Kunde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7841" y="3017520"/>
            <a:ext cx="1965960" cy="11887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HITL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al-pr-prepare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2815" y="3017520"/>
            <a:ext cx="1965960" cy="11887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3611879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73853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78827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83801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C2833"/>
                </a:solidFill>
              </a:defRPr>
            </a:pPr>
            <a:r>
              <a:t>Die nächsten Folien vertiefen jeden Schritt einzeln.</a:t>
            </a:r>
          </a:p>
        </p:txBody>
      </p:sp>
      <p:cxnSp>
        <p:nvCxnSpPr>
          <p:cNvPr id="19" name="Connector 11">
            <a:extLst>
              <a:ext uri="{FF2B5EF4-FFF2-40B4-BE49-F238E27FC236}">
                <a16:creationId xmlns:a16="http://schemas.microsoft.com/office/drawing/2014/main" id="{182693A2-BEB4-1545-2316-C3BC1F04B59E}"/>
              </a:ext>
            </a:extLst>
          </p:cNvPr>
          <p:cNvCxnSpPr>
            <a:cxnSpLocks/>
          </p:cNvCxnSpPr>
          <p:nvPr/>
        </p:nvCxnSpPr>
        <p:spPr>
          <a:xfrm>
            <a:off x="5622249" y="2514599"/>
            <a:ext cx="997110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2">
            <a:extLst>
              <a:ext uri="{FF2B5EF4-FFF2-40B4-BE49-F238E27FC236}">
                <a16:creationId xmlns:a16="http://schemas.microsoft.com/office/drawing/2014/main" id="{72AA9BAC-ADD6-2AE8-B622-1C03E37C4E7A}"/>
              </a:ext>
            </a:extLst>
          </p:cNvPr>
          <p:cNvCxnSpPr/>
          <p:nvPr/>
        </p:nvCxnSpPr>
        <p:spPr>
          <a:xfrm flipV="1">
            <a:off x="5622249" y="2514599"/>
            <a:ext cx="0" cy="502920"/>
          </a:xfrm>
          <a:prstGeom prst="line">
            <a:avLst/>
          </a:prstGeom>
          <a:ln w="1905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3">
            <a:extLst>
              <a:ext uri="{FF2B5EF4-FFF2-40B4-BE49-F238E27FC236}">
                <a16:creationId xmlns:a16="http://schemas.microsoft.com/office/drawing/2014/main" id="{0638D382-A5E8-4E03-2B61-F8CC808AD5F0}"/>
              </a:ext>
            </a:extLst>
          </p:cNvPr>
          <p:cNvCxnSpPr>
            <a:cxnSpLocks/>
          </p:cNvCxnSpPr>
          <p:nvPr/>
        </p:nvCxnSpPr>
        <p:spPr>
          <a:xfrm>
            <a:off x="6634971" y="2514599"/>
            <a:ext cx="0" cy="502920"/>
          </a:xfrm>
          <a:prstGeom prst="line">
            <a:avLst/>
          </a:prstGeom>
          <a:ln w="1905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14">
            <a:extLst>
              <a:ext uri="{FF2B5EF4-FFF2-40B4-BE49-F238E27FC236}">
                <a16:creationId xmlns:a16="http://schemas.microsoft.com/office/drawing/2014/main" id="{88BA7E7B-A51F-E7CF-244C-DC285759DCCD}"/>
              </a:ext>
            </a:extLst>
          </p:cNvPr>
          <p:cNvSpPr txBox="1"/>
          <p:nvPr/>
        </p:nvSpPr>
        <p:spPr>
          <a:xfrm>
            <a:off x="4423487" y="2121407"/>
            <a:ext cx="3394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0000CC"/>
                </a:solidFill>
              </a:defRPr>
            </a:pPr>
            <a:r>
              <a:rPr dirty="0"/>
              <a:t>Deploy-Run-Verify </a:t>
            </a:r>
            <a:r>
              <a:rPr lang="de-CH" dirty="0"/>
              <a:t>Cycle </a:t>
            </a:r>
            <a:r>
              <a:rPr dirty="0"/>
              <a:t>bis </a:t>
            </a:r>
            <a:r>
              <a:rPr dirty="0" err="1"/>
              <a:t>grün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 beginnt der Vorgang?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2/6 – Einstieg &amp; Komplexität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200400" cy="82296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Supportticket / Debug-Fall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514600"/>
            <a:ext cx="0" cy="27432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788920"/>
            <a:ext cx="3200400" cy="82296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Triage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Reproduzieren, Ursache lokalisieren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3611880"/>
            <a:ext cx="0" cy="27432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3886200"/>
            <a:ext cx="3200400" cy="8229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Implementierung (Fix)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Deploy-Run-Verify Cycle erneut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1920240" cy="73152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Neuanforderung /</a:t>
            </a:r>
            <a:br/>
            <a:r>
              <a:t>Change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2103120"/>
            <a:ext cx="0" cy="22860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263640" y="2331720"/>
            <a:ext cx="2377440" cy="9601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35040" y="2743200"/>
            <a:ext cx="228600" cy="0"/>
          </a:xfrm>
          <a:prstGeom prst="line">
            <a:avLst/>
          </a:prstGeom>
          <a:ln w="28575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6CE8"/>
                </a:solidFill>
              </a:defRPr>
            </a:pPr>
            <a: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331720"/>
            <a:ext cx="1874519" cy="8229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Implementation</a:t>
            </a:r>
            <a:br/>
            <a:r>
              <a:t>Specialist (direkt)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Architektur &amp; spec.create übersprungen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2743200"/>
            <a:ext cx="411480" cy="0"/>
          </a:xfrm>
          <a:prstGeom prst="line">
            <a:avLst/>
          </a:prstGeom>
          <a:ln w="28575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99FF"/>
                </a:solidFill>
              </a:defRPr>
            </a:pPr>
            <a:r>
              <a:t>MEDIUM /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33172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20040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spec.create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06908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Conductor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41280" y="3063240"/>
            <a:ext cx="0" cy="13716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1280" y="3931920"/>
            <a:ext cx="0" cy="13716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138160" y="2926080"/>
            <a:ext cx="502920" cy="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38160" y="2926080"/>
            <a:ext cx="0" cy="150876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4434840"/>
            <a:ext cx="914400" cy="0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4960" y="4754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399"/>
                </a:solidFill>
              </a:defRPr>
            </a:pPr>
            <a:r>
              <a:t>MEDIUM: auch direkt</a:t>
            </a:r>
            <a:br/>
            <a:r>
              <a:t>über Conductor möglich</a:t>
            </a:r>
            <a:br/>
            <a:r>
              <a:t>(voller TDD-Zyklus)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Start: ADO Work Item &amp;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req_name = {type}-{id}-{short-name} (Beispiel: bug-36370-posting-error)</a:t>
            </a:r>
          </a:p>
          <a:p>
            <a:r>
              <a:t>ADO-Header (Link zum Work Item) in jedem Plan-Dokument</a:t>
            </a:r>
          </a:p>
          <a:p>
            <a:r>
              <a:t>Azure CLI lädt Titel, Beschreibung, Repro-Steps bzw. Akzeptanzkriterien automatisch (Bug/User Story)</a:t>
            </a:r>
          </a:p>
          <a:p>
            <a:r>
              <a:t>Bei Task/Feature: zusätzlicher Kontext bleibt manueller Copy-Schritt</a:t>
            </a:r>
          </a:p>
          <a:p>
            <a:r>
              <a:t>Ergebnis: spec.md als Vertrag, gegen den die KI arbeitet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3/6 – 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Deploy-Run-Verify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4/6 – Implementierung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80360"/>
            <a:ext cx="2194560" cy="10972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6698" y="2880360"/>
            <a:ext cx="2194560" cy="10972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 &amp; Install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0436" y="2880360"/>
            <a:ext cx="2194560" cy="10972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74175" y="2880360"/>
            <a:ext cx="2194560" cy="10972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34290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01258" y="34290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84996" y="3429000"/>
            <a:ext cx="58917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15687" y="1828800"/>
            <a:ext cx="2560320" cy="77724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Anpassung / Fix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bei Fehler - Loop bis grün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271455" y="2217420"/>
            <a:ext cx="0" cy="66294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76007" y="2217420"/>
            <a:ext cx="2895448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20240" y="2217420"/>
            <a:ext cx="2895447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20240" y="2217420"/>
            <a:ext cx="0" cy="66294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71455" y="3977639"/>
            <a:ext cx="0" cy="640081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94015" y="4663440"/>
            <a:ext cx="475488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Erfolg: bleibt deployed in ASINST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bereit für manuelles Testen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</a:defRPr>
            </a:pPr>
            <a:r>
              <a:t>OnPrem + HTTPS-Launch-Config: nutzt zusätzlich den Fkh-Transport-Adapter (Invoke-DeployRunVerifyDeployFkh)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Nach grünem Deploy-Run-Verify Cycle: manuelle Prüfung in ASINST oder Kunden-Sandbox</a:t>
            </a:r>
          </a:p>
          <a:p>
            <a:r>
              <a:t>Befunde in {req}-hitl-validation-issues.md, IDs I-1, I-2, ... mit Status TODO/DONE</a:t>
            </a:r>
          </a:p>
          <a:p>
            <a:r>
              <a:t>KI arbeitet offene Issues ab, Deploy-Run-Verify Cycle läuft je Fix erneut</a:t>
            </a:r>
          </a:p>
          <a:p>
            <a:r>
              <a:t>Mehrere Feedback-Runden ergänzen „## Loop N“ - die Datei wird nie gesplittet</a:t>
            </a:r>
          </a:p>
          <a:p>
            <a:r>
              <a:t>Erfolgreich abgeschlossen → weiter zu PR vorbereiten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5/6 – Verifikation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Übersetzungsprozess (XLIFF)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6/6 – Übersetzung (bedingt)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1965960" cy="11887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893" y="2651760"/>
            <a:ext cx="1965960" cy="11887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Resolve</a:t>
            </a:r>
            <a:br/>
            <a:r>
              <a:t>(Stage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2867" y="2651760"/>
            <a:ext cx="1965960" cy="11887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Export/Apply</a:t>
            </a:r>
            <a:br/>
            <a:r>
              <a:t>(Stage 0, KI)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7841" y="2651760"/>
            <a:ext cx="1965960" cy="11887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PoEdit</a:t>
            </a:r>
            <a:br/>
            <a:r>
              <a:t>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2651760"/>
            <a:ext cx="1965960" cy="11887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246120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73853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78827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83801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297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C2833"/>
                </a:solidFill>
              </a:defRPr>
            </a:pPr>
            <a:r>
              <a:t>Gestufte Adaptive Waterfall: günstiger, deterministischer Kern (Stage 1) + gezielter KI-Batch nur für offene Units (Stage 0)</a:t>
            </a:r>
            <a:br/>
            <a:r>
              <a:t>Gate: Validate -FailOnIssues -FailOnUnapproved blockiert die Auslieferung bis alles freigegeben 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vorbereiten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Gate: erst nach grünem Deploy-Run-Verify Cycle + HITL-Sign-off</a:t>
            </a:r>
          </a:p>
          <a:p>
            <a:r>
              <a:t>al-pr-prepare erzeugt: Modul-Referenz (reference.md, EN) + Handbuch.de-CH.md - repo-weit, immer Vollstand</a:t>
            </a:r>
          </a:p>
          <a:p>
            <a:r>
              <a:t>BCQuality-Review: Review-Subagent konsultiert BCQuality vor der A-G-Checkliste</a:t>
            </a:r>
          </a:p>
          <a:p>
            <a:r>
              <a:t>@Dredd optional: unabhängiges, zusätzliches Audit</a:t>
            </a:r>
          </a:p>
          <a:p>
            <a:r>
              <a:t>Bei neuen/geänderten Labels vorher: Übersetzungsworkflow (vorherige Folie)</a:t>
            </a:r>
          </a:p>
          <a:p>
            <a:r>
              <a:t>Ergebnis: PR + aktualisierte Doku - Plan-Ordner für diese Anforderung wird geschlossen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6/6 – Abschluss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Gesamtprozess – alle Diagramme im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Entwicklungsprozess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Einstieg &amp; Komplexität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Deploy-Run-Verify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377439"/>
            <a:ext cx="1188720" cy="4572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291839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1089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960120" cy="6400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331720"/>
            <a:ext cx="960120" cy="6400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Archi-</a:t>
            </a:r>
            <a:br/>
            <a:r>
              <a:t>tektur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2331720"/>
            <a:ext cx="960120" cy="6400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Impl.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2331720"/>
            <a:ext cx="960120" cy="6400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7260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0" y="2331720"/>
            <a:ext cx="960120" cy="64008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2416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2286000" y="4343400"/>
            <a:ext cx="1463040" cy="7315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1737360" cy="5486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LOW → Specialist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349240"/>
            <a:ext cx="1828800" cy="5486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MEDIUM/HIGH → Conductor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43400"/>
            <a:ext cx="1188720" cy="5486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343400"/>
            <a:ext cx="1188720" cy="5486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69680" y="4343400"/>
            <a:ext cx="1188720" cy="5486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49840" y="4343400"/>
            <a:ext cx="1188720" cy="5486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CC"/>
                </a:solidFill>
              </a:defRPr>
            </a:pPr>
            <a:r>
              <a:t>↻ Loop bis grün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Gesamtprozess im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377440" cy="64008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Supportticket / Debug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1280160"/>
            <a:ext cx="2377440" cy="64008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Neuanforderung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920240"/>
            <a:ext cx="3474720" cy="68580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949440" y="1920240"/>
            <a:ext cx="3291840" cy="68580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4937760" y="2606040"/>
            <a:ext cx="2377440" cy="77724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3383280"/>
            <a:ext cx="0" cy="27432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3657600"/>
            <a:ext cx="1783080" cy="9144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1179" y="3657600"/>
            <a:ext cx="1783080" cy="9144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6598" y="3657600"/>
            <a:ext cx="1783080" cy="9144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017" y="3657600"/>
            <a:ext cx="1783080" cy="9144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436" y="3657600"/>
            <a:ext cx="1783080" cy="9144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Übersetzung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42855" y="3657600"/>
            <a:ext cx="1783080" cy="9144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84259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19678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097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90516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91078" y="34290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6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C6CE8"/>
                </a:solidFill>
              </a:defRPr>
            </a:pPr>
            <a:r>
              <a:t>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34395" y="4572000"/>
            <a:ext cx="0" cy="411480"/>
          </a:xfrm>
          <a:prstGeom prst="line">
            <a:avLst/>
          </a:prstGeom>
          <a:ln w="1905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71355" y="5029200"/>
            <a:ext cx="2926080" cy="7315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 + aktualisierte Doku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Drei Beispiele, wie sich A-ALDC in der Praxis einsetzen lässt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Anwendungsszenarien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Szenario: Support-Ticket über Triage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651760"/>
            <a:ext cx="1783080" cy="13716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Support</a:t>
            </a:r>
            <a:br/>
            <a:r>
              <a:t>prüfen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1179" y="2651760"/>
            <a:ext cx="1783080" cy="13716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6598" y="2651760"/>
            <a:ext cx="1783080" cy="13716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AL-Tests</a:t>
            </a:r>
            <a:br/>
            <a:r>
              <a:t>erstellen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Fehler nachvollziehen,</a:t>
            </a:r>
            <a:br/>
            <a:r>
              <a:t>Ist-Zustand messen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017" y="2651760"/>
            <a:ext cx="1783080" cy="13716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Fix</a:t>
            </a:r>
            <a:br/>
            <a:r>
              <a:t>implementieren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436" y="2651760"/>
            <a:ext cx="1783080" cy="13716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Tests erneut</a:t>
            </a:r>
            <a:br/>
            <a:r>
              <a:t>ausführen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eventuell Deploy-</a:t>
            </a:r>
            <a:br/>
            <a:r>
              <a:t>Run-Verify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2855" y="2651760"/>
            <a:ext cx="1783080" cy="13716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Review /</a:t>
            </a:r>
            <a:br/>
            <a:r>
              <a:t>Abschluss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84259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19678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55097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90516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Szenario: BCQuality + Dredd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Bestehendes Projekt analysieren → @Dredd prüft read-only gegen BCQuality</a:t>
            </a:r>
          </a:p>
          <a:p>
            <a:r>
              <a:t>Schwachstellen identifizieren → Findings mit Zitat aus BCQuality-Wissensbasis</a:t>
            </a:r>
          </a:p>
          <a:p>
            <a:r>
              <a:t>Guidelines bereinigen → Verstösse gegen Security-/Performance-/Style-Regeln beheben</a:t>
            </a:r>
          </a:p>
          <a:p>
            <a:r>
              <a:t>Verbesserungen implementieren → al-developer setzt priorisierte Findings um</a:t>
            </a:r>
          </a:p>
          <a:p>
            <a:r>
              <a:t>Ergebnis: unabhängiges, nachvollziehbares Qualitäts-Audit ohne Schreibzugriff von Dredd selbst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ASCDC 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Storage-Extensibility: providerneutrale Integration Events für List, Copy, Get mit IsHandled-Pattern</a:t>
            </a:r>
          </a:p>
          <a:p>
            <a:r>
              <a:t>Proxy-Apps ersetzen Storage-Zugriffe ohne Azure-Zugangsdaten oder direkte Blob-Clients</a:t>
            </a:r>
          </a:p>
          <a:p>
            <a:r>
              <a:t>Erweiterbare Container-Verwaltung: neue temporäre WORM-Container-Entry-Tabelle als neutrales Datenformat</a:t>
            </a:r>
          </a:p>
          <a:p>
            <a:r>
              <a:t>Real-Verifikation: Storage-Setup mit echter Datei geprüft, schreibende Aktion standardmässig verborgen</a:t>
            </a:r>
          </a:p>
          <a:p>
            <a:r>
              <a:t>Qualität: 29 relevante WORM-Tests erfolgreich</a:t>
            </a:r>
          </a:p>
          <a:p>
            <a:r>
              <a:t>Zeithorizont: ~16 Stunden (11.–13. September 2026) - Konzeption, Implementierung, Testausbau, Runtime-Verifikation, Abschluss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zitierfähige Wissensbasis für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BCQuality?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Offizielle, agentenlesbare BC-Wissensbasis (github.com/microsoft/BCQuality)</a:t>
            </a:r>
          </a:p>
          <a:p>
            <a:r>
              <a:t>3 Layer: MS (offizielle Guidelines), Community (ergänzende Patterns), Custom (firmenspezifisch)</a:t>
            </a:r>
          </a:p>
          <a:p>
            <a:r>
              <a:t>Aproda-Fork BCQuality-Aproda befüllt den Custom-Layer</a:t>
            </a:r>
          </a:p>
          <a:p>
            <a:r>
              <a:t>Wird von @Dredd und dem Review-Subagent konsultiert</a:t>
            </a:r>
          </a:p>
          <a:p>
            <a:r>
              <a:t>Citation-/Audit-Layer - kein Ersatz für Instructions &amp; Skills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 im Zusammenspiel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206240" cy="3291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Projekt-Repo</a:t>
            </a:r>
            <a:br/>
            <a:r>
              <a:t>(AL, wird kompiliert)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474720"/>
            <a:ext cx="2103120" cy="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463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Review-Subagent</a:t>
            </a:r>
            <a:br/>
            <a:r>
              <a:t>konsultiert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38912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BCQuality (2. Workspace-Root, read-only)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926080"/>
            <a:ext cx="4389120" cy="7772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MS - offizielle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840480"/>
            <a:ext cx="4389120" cy="7772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Community - ergänzende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754880"/>
            <a:ext cx="4389120" cy="7772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 - Aproda-spezifisch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Aproda-Erweiterungen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Deploy-Run-Verify Cycle - publish → sync → run-tests → review gegen ASINST, Loop bis grün</a:t>
            </a:r>
          </a:p>
          <a:p>
            <a:r>
              <a:t>ADO-Integration - req_name = {type}-{id}-{short-name}, ADO-Link in jedem Plan-Dokument</a:t>
            </a:r>
          </a:p>
          <a:p>
            <a:r>
              <a:t>HITL Validation - strukturiertes Issue-Tracking über mehrere Feedback-Runden</a:t>
            </a:r>
          </a:p>
          <a:p>
            <a:r>
              <a:t>Modul-Dokumentation - reference.md (EN) + Handbuch.de-CH.md, repo-weit aktuell</a:t>
            </a:r>
          </a:p>
          <a:p>
            <a:r>
              <a:t>KI-Übersetzungsworkflow (XLIFF) - Sync → Resolve → Review → Validate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Was als Nächstes am Toolkit selbst geplant 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–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E-001 - Read-only Upstream-Drift-Report für Aproda Sync (High, Proposed)</a:t>
            </a:r>
          </a:p>
          <a:p>
            <a:r>
              <a:t>E-002 - Offizieller Microsoft-Learn-MCP-Endpoint als Pilot (Medium, Proposed)</a:t>
            </a:r>
          </a:p>
          <a:p>
            <a:r>
              <a:t>E-003 - Auto-Cleanup-Befehl nach Implementierungsende (Medium, Proposed)</a:t>
            </a:r>
          </a:p>
          <a:p>
            <a:r>
              <a:t>E-004 - Regelbasierte AL-Objekt-ID-Vorschläge, global pro Repo (Medium, Proposed)</a:t>
            </a:r>
          </a:p>
          <a:p>
            <a:r>
              <a:t>E-005 - Gestufter KI-Übersetzungsworkflow XLIFF (High, In Progress)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Fkh</a:t>
            </a:r>
            <a:r>
              <a:rPr dirty="0"/>
              <a:t> (Freddy's Kubernetes Helper)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2286000" cy="100584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VS Code / CLI /</a:t>
            </a:r>
            <a:br/>
            <a:r>
              <a:t>GitHub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76218" y="1554480"/>
            <a:ext cx="2286000" cy="10058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Azure Function</a:t>
            </a:r>
            <a:br/>
            <a:r>
              <a:t>(Gate)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9476" y="1554480"/>
            <a:ext cx="2286000" cy="10058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Terraform →</a:t>
            </a:r>
            <a:br/>
            <a:r>
              <a:t>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2735" y="1554480"/>
            <a:ext cx="228600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BC-Container</a:t>
            </a:r>
            <a:br/>
            <a:r>
              <a:t>(1–2 Min.)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057400"/>
            <a:ext cx="46725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62218" y="2057400"/>
            <a:ext cx="46725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15476" y="2057400"/>
            <a:ext cx="46725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GitHub-authentifizierte Azure Function als Provisioning-Gate, Terraform verwaltet Azure &amp; Kubernetes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Container starten in 1–2 Minuten, Autoscaling, keine von Menschen verwalteten Secrets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VS Code Extension + CLI: Container, Images und VMs direkt aus dem Editor verwalten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Open Source, kostenlos für den Eigenbedarf (MIT-Lizenz mit Commons Clause)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Repo: github.com/Freddy-DK/Fkh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EF7DB7F-66CE-1407-1C4B-383490235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12192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F0243-F002-BC1E-81DE-48CB45E2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9DE2-F313-F11E-A7C9-041190E0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Engineering </a:t>
            </a:r>
            <a:r>
              <a:rPr dirty="0" err="1"/>
              <a:t>Stairwa</a:t>
            </a:r>
            <a:r>
              <a:rPr lang="de-CH" dirty="0"/>
              <a:t>y</a:t>
            </a:r>
            <a:endParaRPr dirty="0"/>
          </a:p>
        </p:txBody>
      </p:sp>
      <p:pic>
        <p:nvPicPr>
          <p:cNvPr id="3" name="Picture 2" descr="stairway-hero.png">
            <a:extLst>
              <a:ext uri="{FF2B5EF4-FFF2-40B4-BE49-F238E27FC236}">
                <a16:creationId xmlns:a16="http://schemas.microsoft.com/office/drawing/2014/main" id="{30CE2A7A-1876-9916-3186-040701CEA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929" y="1329280"/>
            <a:ext cx="5333822" cy="53338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9476D-7502-79A9-5AA3-EAE242EAA1DC}"/>
              </a:ext>
            </a:extLst>
          </p:cNvPr>
          <p:cNvSpPr txBox="1"/>
          <p:nvPr/>
        </p:nvSpPr>
        <p:spPr>
          <a:xfrm>
            <a:off x="335280" y="1624004"/>
            <a:ext cx="576072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3C6CE8"/>
                </a:solidFill>
              </a:defRPr>
            </a:pPr>
            <a:r>
              <a:rPr dirty="0"/>
              <a:t>6 </a:t>
            </a:r>
            <a:r>
              <a:rPr dirty="0" err="1"/>
              <a:t>Stufen</a:t>
            </a:r>
            <a:r>
              <a:rPr dirty="0"/>
              <a:t>: Old-School Engineering → Prompt → Context → Harness → Loop → Graph Engineering</a:t>
            </a:r>
          </a:p>
          <a:p>
            <a:pPr>
              <a:spcAft>
                <a:spcPts val="1400"/>
              </a:spcAft>
              <a:defRPr sz="1500">
                <a:solidFill>
                  <a:srgbClr val="1C2833"/>
                </a:solidFill>
              </a:defRPr>
            </a:pPr>
            <a:r>
              <a:rPr dirty="0"/>
              <a:t>A-ALDC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Stufen</a:t>
            </a:r>
            <a:r>
              <a:rPr dirty="0"/>
              <a:t> ab: Context (Skills/Instructions), Harness (Agents/Tools), Loop (Deploy-Run-Verify Cycle), Graph (Conductor + Subagents)</a:t>
            </a:r>
          </a:p>
          <a:p>
            <a:pPr>
              <a:spcAft>
                <a:spcPts val="1400"/>
              </a:spcAft>
              <a:defRPr sz="1500">
                <a:solidFill>
                  <a:srgbClr val="1C2833"/>
                </a:solidFill>
              </a:defRPr>
            </a:pPr>
            <a:r>
              <a:rPr dirty="0"/>
              <a:t>Freddy Kristiansen, freddysblog.com, 15.08.2026</a:t>
            </a:r>
          </a:p>
        </p:txBody>
      </p:sp>
    </p:spTree>
    <p:extLst>
      <p:ext uri="{BB962C8B-B14F-4D97-AF65-F5344CB8AC3E}">
        <p14:creationId xmlns:p14="http://schemas.microsoft.com/office/powerpoint/2010/main" val="2853216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376" y="98241"/>
            <a:ext cx="9697278" cy="889644"/>
          </a:xfrm>
        </p:spPr>
        <p:txBody>
          <a:bodyPr/>
          <a:lstStyle/>
          <a:p>
            <a:r>
              <a:rPr dirty="0"/>
              <a:t>The Engineering </a:t>
            </a:r>
            <a:r>
              <a:rPr dirty="0" err="1"/>
              <a:t>Stairwa</a:t>
            </a:r>
            <a:r>
              <a:rPr lang="de-CH" dirty="0"/>
              <a:t>y</a:t>
            </a:r>
            <a:endParaRPr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0CC7D3D-6D00-94B3-E556-053D4152A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6" y="878126"/>
            <a:ext cx="8969811" cy="59798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Props1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1561</Words>
  <Application>Microsoft Office PowerPoint</Application>
  <PresentationFormat>Breitbild</PresentationFormat>
  <Paragraphs>246</Paragraphs>
  <Slides>30</Slides>
  <Notes>30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5" baseType="lpstr">
      <vt:lpstr>Arial</vt:lpstr>
      <vt:lpstr>Calibri</vt:lpstr>
      <vt:lpstr>Raleway</vt:lpstr>
      <vt:lpstr>Source Sans Pro Semibold</vt:lpstr>
      <vt:lpstr>Office-Design</vt:lpstr>
      <vt:lpstr>A-ALDC</vt:lpstr>
      <vt:lpstr>Agenda</vt:lpstr>
      <vt:lpstr>Von der Theorie zur Praxis</vt:lpstr>
      <vt:lpstr>Was ist A-ALDC?</vt:lpstr>
      <vt:lpstr>Ohne vs. mit A-ALDC</vt:lpstr>
      <vt:lpstr>Architektur im Überblick</vt:lpstr>
      <vt:lpstr>Kern-Agents im Überblick</vt:lpstr>
      <vt:lpstr>Der Entwicklungsprozess</vt:lpstr>
      <vt:lpstr>Wie beginnt der Vorgang?</vt:lpstr>
      <vt:lpstr>Start: ADO Work Item &amp; Spec</vt:lpstr>
      <vt:lpstr>Deploy-Run-Verify Cycle</vt:lpstr>
      <vt:lpstr>HITL Validation</vt:lpstr>
      <vt:lpstr>Übersetzungsprozess (XLIFF)</vt:lpstr>
      <vt:lpstr>PR vorbereiten</vt:lpstr>
      <vt:lpstr>Der Gesamtprozess – alle Diagramme im Überblick</vt:lpstr>
      <vt:lpstr>Gesamtprozess im Detail</vt:lpstr>
      <vt:lpstr>Anwendungsszenarien</vt:lpstr>
      <vt:lpstr>Szenario: Support-Ticket über Triage</vt:lpstr>
      <vt:lpstr>Szenario: BCQuality + Dredd</vt:lpstr>
      <vt:lpstr>Case Study: ASCDC Extensibility</vt:lpstr>
      <vt:lpstr>BCQuality</vt:lpstr>
      <vt:lpstr>Was ist BCQuality?</vt:lpstr>
      <vt:lpstr>BCQuality im Zusammenspiel</vt:lpstr>
      <vt:lpstr>Aproda-Erweiterungen im Überblick</vt:lpstr>
      <vt:lpstr>Ausblick</vt:lpstr>
      <vt:lpstr>Ausblick – Nächste Schritte</vt:lpstr>
      <vt:lpstr>Fkh (Freddy's Kubernetes Helper)</vt:lpstr>
      <vt:lpstr>The Engineering Stairway</vt:lpstr>
      <vt:lpstr>The Engineering Stairway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6</cp:revision>
  <dcterms:created xsi:type="dcterms:W3CDTF">2026-09-14T17:14:18Z</dcterms:created>
  <dcterms:modified xsi:type="dcterms:W3CDTF">2026-09-15T20:33:48Z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